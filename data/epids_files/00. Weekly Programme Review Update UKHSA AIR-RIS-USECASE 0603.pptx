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8" r:id="rId5"/>
  </p:sldMasterIdLst>
  <p:notesMasterIdLst>
    <p:notesMasterId r:id="rId15"/>
  </p:notesMasterIdLst>
  <p:sldIdLst>
    <p:sldId id="2147481294" r:id="rId6"/>
    <p:sldId id="2147481293" r:id="rId7"/>
    <p:sldId id="2147481295" r:id="rId8"/>
    <p:sldId id="2147481300" r:id="rId9"/>
    <p:sldId id="2147481299" r:id="rId10"/>
    <p:sldId id="2147481298" r:id="rId11"/>
    <p:sldId id="2147481297" r:id="rId12"/>
    <p:sldId id="2147481296" r:id="rId13"/>
    <p:sldId id="214748129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222611-66A9-4129-82E3-5688A270F3EA}" v="6" dt="2026-03-08T18:48:53.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168" y="-2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ACE98-412F-45BC-9CE2-1ECD2FED9A2A}" type="datetimeFigureOut">
              <a:rPr lang="en-GB" smtClean="0"/>
              <a:t>09/03/2026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29FDA-3930-4C31-9A4C-0ECA485A037C}" type="slidenum">
              <a:rPr lang="en-GB" smtClean="0"/>
              <a:t>‹#›</a:t>
            </a:fld>
            <a:endParaRPr lang="en-GB"/>
          </a:p>
        </p:txBody>
      </p:sp>
    </p:spTree>
    <p:extLst>
      <p:ext uri="{BB962C8B-B14F-4D97-AF65-F5344CB8AC3E}">
        <p14:creationId xmlns:p14="http://schemas.microsoft.com/office/powerpoint/2010/main" val="837881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E644-1B1A-6259-2063-54B340DFC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BE755-5A46-8572-0CA9-A1EE8EACC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B179E-192C-727F-D08F-8F48FC3E59D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3368679-C5FA-9374-7028-228EBB28BC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6020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F4A65-0D2A-9A8D-EB6F-352C5CFC6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236DF-AD3E-DF72-BCA3-E0FC40B0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A7BBE-30C5-FC48-1F80-148BCDAED38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F3645C6-669B-37EF-C2FB-EC2309C46B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9048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1EB-ED14-378A-C1AF-D78736E45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0B3C2-4F20-7E19-58F3-F0B654843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C1080-AB92-9E7E-DB3C-00AC5895AB4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27A9030-C478-B26B-40E5-680EC024E6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1562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0E02E-EC9C-1E7C-3773-06374034E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EE557-DD56-6DB0-AF9B-64C14DC1E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AD4FF-AC9C-3D54-722D-62F7B2FA525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401F9EF-0B59-1A08-DB23-D0F10DA1CF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4585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DEBC9-D382-0DAB-A3DA-FD0765CF3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88465-EC9E-0B46-ED81-CE76737C2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F9E90-7A67-7539-C0D5-8681BFB9B6F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8BFC6E6-13C2-C347-D033-93607CBC2F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6966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3ACD-B0D1-4606-7731-05DE8E867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26EA9-6C37-4755-C8FD-C0A9F96FD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74EE5-114D-9E91-148E-DF27E53772E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B49AF79-16E0-D369-0D78-805ACEA68E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632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CD01-DDBF-26A7-8C63-F9E7D13A4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B2357-1A74-C32A-9105-E6DD31E0F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226B5-FEE8-ABE5-26E1-F0E016797A3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97BF296-110C-C335-F5BA-E2F0225330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349AD-43E2-A142-9B61-FBB06C64E86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0025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Cover">
    <p:spTree>
      <p:nvGrpSpPr>
        <p:cNvPr id="1" name=""/>
        <p:cNvGrpSpPr/>
        <p:nvPr/>
      </p:nvGrpSpPr>
      <p:grpSpPr>
        <a:xfrm>
          <a:off x="0" y="0"/>
          <a:ext cx="0" cy="0"/>
          <a:chOff x="0" y="0"/>
          <a:chExt cx="0" cy="0"/>
        </a:xfrm>
      </p:grpSpPr>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tx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tx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cxnSp>
        <p:nvCxnSpPr>
          <p:cNvPr id="7" name="Straight Connector 6">
            <a:extLst>
              <a:ext uri="{FF2B5EF4-FFF2-40B4-BE49-F238E27FC236}">
                <a16:creationId xmlns:a16="http://schemas.microsoft.com/office/drawing/2014/main" id="{F93BD223-2224-476C-AB5C-300C248C1618}"/>
              </a:ext>
            </a:extLst>
          </p:cNvPr>
          <p:cNvCxnSpPr>
            <a:cxnSpLocks/>
          </p:cNvCxnSpPr>
          <p:nvPr userDrawn="1"/>
        </p:nvCxnSpPr>
        <p:spPr>
          <a:xfrm>
            <a:off x="1332490" y="5709060"/>
            <a:ext cx="8117873"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userDrawn="1"/>
        </p:nvSpPr>
        <p:spPr>
          <a:xfrm>
            <a:off x="461744" y="5605201"/>
            <a:ext cx="1044529" cy="197581"/>
          </a:xfrm>
          <a:prstGeom prst="rect">
            <a:avLst/>
          </a:prstGeom>
          <a:noFill/>
        </p:spPr>
        <p:txBody>
          <a:bodyPr wrap="square" lIns="0" tIns="0" rIns="0" bIns="0" rtlCol="0" anchor="ctr" anchorCtr="0">
            <a:noAutofit/>
          </a:bodyPr>
          <a:lstStyle/>
          <a:p>
            <a:r>
              <a:rPr lang="en-GB" sz="1199">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1332490" y="6019189"/>
            <a:ext cx="3087667" cy="180000"/>
          </a:xfrm>
        </p:spPr>
        <p:txBody>
          <a:bodyPr/>
          <a:lstStyle>
            <a:lvl1pPr marL="0" indent="0">
              <a:buNone/>
              <a:defRPr sz="1199">
                <a:solidFill>
                  <a:schemeClr val="tx2"/>
                </a:solidFill>
              </a:defRPr>
            </a:lvl1pPr>
          </a:lstStyle>
          <a:p>
            <a:pPr lvl="0"/>
            <a:r>
              <a:rPr lang="en-US"/>
              <a:t>Name Surname</a:t>
            </a:r>
            <a:endParaRPr lang="en-GB"/>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1332490" y="6216807"/>
            <a:ext cx="3087667" cy="180000"/>
          </a:xfrm>
        </p:spPr>
        <p:txBody>
          <a:bodyPr/>
          <a:lstStyle>
            <a:lvl1pPr marL="0" indent="0">
              <a:buNone/>
              <a:defRPr sz="1199">
                <a:solidFill>
                  <a:schemeClr val="bg1"/>
                </a:solidFill>
              </a:defRPr>
            </a:lvl1pPr>
          </a:lstStyle>
          <a:p>
            <a:pPr lvl="0"/>
            <a:r>
              <a:rPr lang="en-US"/>
              <a:t>Job Title</a:t>
            </a:r>
            <a:endParaRPr lang="en-GB"/>
          </a:p>
        </p:txBody>
      </p:sp>
      <p:sp>
        <p:nvSpPr>
          <p:cNvPr id="14" name="Picture Placeholder 19">
            <a:extLst>
              <a:ext uri="{FF2B5EF4-FFF2-40B4-BE49-F238E27FC236}">
                <a16:creationId xmlns:a16="http://schemas.microsoft.com/office/drawing/2014/main" id="{29A5E1BC-8F6B-43EF-9FF6-8242E7708BDA}"/>
              </a:ext>
            </a:extLst>
          </p:cNvPr>
          <p:cNvSpPr>
            <a:spLocks noGrp="1"/>
          </p:cNvSpPr>
          <p:nvPr>
            <p:ph type="pic" sz="quarter" idx="16"/>
          </p:nvPr>
        </p:nvSpPr>
        <p:spPr>
          <a:xfrm>
            <a:off x="461743" y="5914642"/>
            <a:ext cx="575700" cy="576000"/>
          </a:xfrm>
          <a:prstGeom prst="ellipse">
            <a:avLst/>
          </a:prstGeom>
        </p:spPr>
        <p:txBody>
          <a:bodyPr anchor="ctr"/>
          <a:lstStyle>
            <a:lvl1pPr marL="0" indent="0" algn="ctr">
              <a:buNone/>
              <a:defRPr sz="900">
                <a:solidFill>
                  <a:schemeClr val="bg1"/>
                </a:solidFill>
              </a:defRPr>
            </a:lvl1pPr>
          </a:lstStyle>
          <a:p>
            <a:endParaRPr lang="en-GB"/>
          </a:p>
        </p:txBody>
      </p:sp>
      <p:grpSp>
        <p:nvGrpSpPr>
          <p:cNvPr id="15" name="Group 4">
            <a:extLst>
              <a:ext uri="{FF2B5EF4-FFF2-40B4-BE49-F238E27FC236}">
                <a16:creationId xmlns:a16="http://schemas.microsoft.com/office/drawing/2014/main" id="{6B891F47-1BBE-4926-81DF-B17907D2F8E1}"/>
              </a:ext>
            </a:extLst>
          </p:cNvPr>
          <p:cNvGrpSpPr>
            <a:grpSpLocks noChangeAspect="1"/>
          </p:cNvGrpSpPr>
          <p:nvPr userDrawn="1"/>
        </p:nvGrpSpPr>
        <p:grpSpPr bwMode="auto">
          <a:xfrm>
            <a:off x="10359392" y="4960938"/>
            <a:ext cx="1224912" cy="1435100"/>
            <a:chOff x="6529" y="3125"/>
            <a:chExt cx="772" cy="904"/>
          </a:xfrm>
        </p:grpSpPr>
        <p:sp>
          <p:nvSpPr>
            <p:cNvPr id="17" name="Freeform 5">
              <a:extLst>
                <a:ext uri="{FF2B5EF4-FFF2-40B4-BE49-F238E27FC236}">
                  <a16:creationId xmlns:a16="http://schemas.microsoft.com/office/drawing/2014/main" id="{0A2A4AEF-C603-4360-9387-8879E71862A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6">
              <a:extLst>
                <a:ext uri="{FF2B5EF4-FFF2-40B4-BE49-F238E27FC236}">
                  <a16:creationId xmlns:a16="http://schemas.microsoft.com/office/drawing/2014/main" id="{54797EE6-BAEA-4DA7-95C2-6B09B77D317C}"/>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715691701"/>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over alterna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F4B0007-DA02-48C7-9137-9386DFC24A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tx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tx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446567805"/>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pproved question wide">
    <p:spTree>
      <p:nvGrpSpPr>
        <p:cNvPr id="1" name=""/>
        <p:cNvGrpSpPr/>
        <p:nvPr/>
      </p:nvGrpSpPr>
      <p:grpSpPr>
        <a:xfrm>
          <a:off x="0" y="0"/>
          <a:ext cx="0" cy="0"/>
          <a:chOff x="0" y="0"/>
          <a:chExt cx="0" cy="0"/>
        </a:xfrm>
      </p:grpSpPr>
      <p:grpSp>
        <p:nvGrpSpPr>
          <p:cNvPr id="235" name="Group 234">
            <a:extLst>
              <a:ext uri="{FF2B5EF4-FFF2-40B4-BE49-F238E27FC236}">
                <a16:creationId xmlns:a16="http://schemas.microsoft.com/office/drawing/2014/main" id="{5342E118-6F1D-4C46-956E-4CCCBCAA7952}"/>
              </a:ext>
            </a:extLst>
          </p:cNvPr>
          <p:cNvGrpSpPr/>
          <p:nvPr userDrawn="1"/>
        </p:nvGrpSpPr>
        <p:grpSpPr>
          <a:xfrm>
            <a:off x="497856" y="5826613"/>
            <a:ext cx="3876004" cy="570195"/>
            <a:chOff x="498115" y="5951018"/>
            <a:chExt cx="3878023" cy="570195"/>
          </a:xfrm>
        </p:grpSpPr>
        <p:sp>
          <p:nvSpPr>
            <p:cNvPr id="168" name="Rectangle 167">
              <a:extLst>
                <a:ext uri="{FF2B5EF4-FFF2-40B4-BE49-F238E27FC236}">
                  <a16:creationId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Rectangle 6">
              <a:extLst>
                <a:ext uri="{FF2B5EF4-FFF2-40B4-BE49-F238E27FC236}">
                  <a16:creationId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Rectangle 7">
              <a:extLst>
                <a:ext uri="{FF2B5EF4-FFF2-40B4-BE49-F238E27FC236}">
                  <a16:creationId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8">
              <a:extLst>
                <a:ext uri="{FF2B5EF4-FFF2-40B4-BE49-F238E27FC236}">
                  <a16:creationId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2" name="Freeform 9">
              <a:extLst>
                <a:ext uri="{FF2B5EF4-FFF2-40B4-BE49-F238E27FC236}">
                  <a16:creationId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3" name="Freeform 10">
              <a:extLst>
                <a:ext uri="{FF2B5EF4-FFF2-40B4-BE49-F238E27FC236}">
                  <a16:creationId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4" name="Freeform 11">
              <a:extLst>
                <a:ext uri="{FF2B5EF4-FFF2-40B4-BE49-F238E27FC236}">
                  <a16:creationId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5" name="Freeform 12">
              <a:extLst>
                <a:ext uri="{FF2B5EF4-FFF2-40B4-BE49-F238E27FC236}">
                  <a16:creationId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6" name="Freeform 13">
              <a:extLst>
                <a:ext uri="{FF2B5EF4-FFF2-40B4-BE49-F238E27FC236}">
                  <a16:creationId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7" name="Freeform 14">
              <a:extLst>
                <a:ext uri="{FF2B5EF4-FFF2-40B4-BE49-F238E27FC236}">
                  <a16:creationId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8" name="Freeform 15">
              <a:extLst>
                <a:ext uri="{FF2B5EF4-FFF2-40B4-BE49-F238E27FC236}">
                  <a16:creationId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9" name="Freeform 16">
              <a:extLst>
                <a:ext uri="{FF2B5EF4-FFF2-40B4-BE49-F238E27FC236}">
                  <a16:creationId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0" name="Freeform 17">
              <a:extLst>
                <a:ext uri="{FF2B5EF4-FFF2-40B4-BE49-F238E27FC236}">
                  <a16:creationId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1" name="Freeform 18">
              <a:extLst>
                <a:ext uri="{FF2B5EF4-FFF2-40B4-BE49-F238E27FC236}">
                  <a16:creationId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2" name="Freeform 19">
              <a:extLst>
                <a:ext uri="{FF2B5EF4-FFF2-40B4-BE49-F238E27FC236}">
                  <a16:creationId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3" name="Freeform 20">
              <a:extLst>
                <a:ext uri="{FF2B5EF4-FFF2-40B4-BE49-F238E27FC236}">
                  <a16:creationId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4" name="Freeform 21">
              <a:extLst>
                <a:ext uri="{FF2B5EF4-FFF2-40B4-BE49-F238E27FC236}">
                  <a16:creationId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5" name="Freeform 22">
              <a:extLst>
                <a:ext uri="{FF2B5EF4-FFF2-40B4-BE49-F238E27FC236}">
                  <a16:creationId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6" name="Freeform 23">
              <a:extLst>
                <a:ext uri="{FF2B5EF4-FFF2-40B4-BE49-F238E27FC236}">
                  <a16:creationId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7" name="Freeform 24">
              <a:extLst>
                <a:ext uri="{FF2B5EF4-FFF2-40B4-BE49-F238E27FC236}">
                  <a16:creationId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8" name="Freeform 25">
              <a:extLst>
                <a:ext uri="{FF2B5EF4-FFF2-40B4-BE49-F238E27FC236}">
                  <a16:creationId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9" name="Freeform 26">
              <a:extLst>
                <a:ext uri="{FF2B5EF4-FFF2-40B4-BE49-F238E27FC236}">
                  <a16:creationId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0" name="Freeform 27">
              <a:extLst>
                <a:ext uri="{FF2B5EF4-FFF2-40B4-BE49-F238E27FC236}">
                  <a16:creationId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28">
              <a:extLst>
                <a:ext uri="{FF2B5EF4-FFF2-40B4-BE49-F238E27FC236}">
                  <a16:creationId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29">
              <a:extLst>
                <a:ext uri="{FF2B5EF4-FFF2-40B4-BE49-F238E27FC236}">
                  <a16:creationId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30">
              <a:extLst>
                <a:ext uri="{FF2B5EF4-FFF2-40B4-BE49-F238E27FC236}">
                  <a16:creationId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31">
              <a:extLst>
                <a:ext uri="{FF2B5EF4-FFF2-40B4-BE49-F238E27FC236}">
                  <a16:creationId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32">
              <a:extLst>
                <a:ext uri="{FF2B5EF4-FFF2-40B4-BE49-F238E27FC236}">
                  <a16:creationId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33">
              <a:extLst>
                <a:ext uri="{FF2B5EF4-FFF2-40B4-BE49-F238E27FC236}">
                  <a16:creationId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34">
              <a:extLst>
                <a:ext uri="{FF2B5EF4-FFF2-40B4-BE49-F238E27FC236}">
                  <a16:creationId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35">
              <a:extLst>
                <a:ext uri="{FF2B5EF4-FFF2-40B4-BE49-F238E27FC236}">
                  <a16:creationId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36">
              <a:extLst>
                <a:ext uri="{FF2B5EF4-FFF2-40B4-BE49-F238E27FC236}">
                  <a16:creationId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37">
              <a:extLst>
                <a:ext uri="{FF2B5EF4-FFF2-40B4-BE49-F238E27FC236}">
                  <a16:creationId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38">
              <a:extLst>
                <a:ext uri="{FF2B5EF4-FFF2-40B4-BE49-F238E27FC236}">
                  <a16:creationId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39">
              <a:extLst>
                <a:ext uri="{FF2B5EF4-FFF2-40B4-BE49-F238E27FC236}">
                  <a16:creationId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40">
              <a:extLst>
                <a:ext uri="{FF2B5EF4-FFF2-40B4-BE49-F238E27FC236}">
                  <a16:creationId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41">
              <a:extLst>
                <a:ext uri="{FF2B5EF4-FFF2-40B4-BE49-F238E27FC236}">
                  <a16:creationId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42">
              <a:extLst>
                <a:ext uri="{FF2B5EF4-FFF2-40B4-BE49-F238E27FC236}">
                  <a16:creationId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43">
              <a:extLst>
                <a:ext uri="{FF2B5EF4-FFF2-40B4-BE49-F238E27FC236}">
                  <a16:creationId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44">
              <a:extLst>
                <a:ext uri="{FF2B5EF4-FFF2-40B4-BE49-F238E27FC236}">
                  <a16:creationId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45">
              <a:extLst>
                <a:ext uri="{FF2B5EF4-FFF2-40B4-BE49-F238E27FC236}">
                  <a16:creationId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46">
              <a:extLst>
                <a:ext uri="{FF2B5EF4-FFF2-40B4-BE49-F238E27FC236}">
                  <a16:creationId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47">
              <a:extLst>
                <a:ext uri="{FF2B5EF4-FFF2-40B4-BE49-F238E27FC236}">
                  <a16:creationId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48">
              <a:extLst>
                <a:ext uri="{FF2B5EF4-FFF2-40B4-BE49-F238E27FC236}">
                  <a16:creationId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49">
              <a:extLst>
                <a:ext uri="{FF2B5EF4-FFF2-40B4-BE49-F238E27FC236}">
                  <a16:creationId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50">
              <a:extLst>
                <a:ext uri="{FF2B5EF4-FFF2-40B4-BE49-F238E27FC236}">
                  <a16:creationId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51">
              <a:extLst>
                <a:ext uri="{FF2B5EF4-FFF2-40B4-BE49-F238E27FC236}">
                  <a16:creationId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52">
              <a:extLst>
                <a:ext uri="{FF2B5EF4-FFF2-40B4-BE49-F238E27FC236}">
                  <a16:creationId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53">
              <a:extLst>
                <a:ext uri="{FF2B5EF4-FFF2-40B4-BE49-F238E27FC236}">
                  <a16:creationId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54">
              <a:extLst>
                <a:ext uri="{FF2B5EF4-FFF2-40B4-BE49-F238E27FC236}">
                  <a16:creationId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55">
              <a:extLst>
                <a:ext uri="{FF2B5EF4-FFF2-40B4-BE49-F238E27FC236}">
                  <a16:creationId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56">
              <a:extLst>
                <a:ext uri="{FF2B5EF4-FFF2-40B4-BE49-F238E27FC236}">
                  <a16:creationId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57">
              <a:extLst>
                <a:ext uri="{FF2B5EF4-FFF2-40B4-BE49-F238E27FC236}">
                  <a16:creationId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58">
              <a:extLst>
                <a:ext uri="{FF2B5EF4-FFF2-40B4-BE49-F238E27FC236}">
                  <a16:creationId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59">
              <a:extLst>
                <a:ext uri="{FF2B5EF4-FFF2-40B4-BE49-F238E27FC236}">
                  <a16:creationId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60">
              <a:extLst>
                <a:ext uri="{FF2B5EF4-FFF2-40B4-BE49-F238E27FC236}">
                  <a16:creationId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61">
              <a:extLst>
                <a:ext uri="{FF2B5EF4-FFF2-40B4-BE49-F238E27FC236}">
                  <a16:creationId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62">
              <a:extLst>
                <a:ext uri="{FF2B5EF4-FFF2-40B4-BE49-F238E27FC236}">
                  <a16:creationId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63">
              <a:extLst>
                <a:ext uri="{FF2B5EF4-FFF2-40B4-BE49-F238E27FC236}">
                  <a16:creationId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64">
              <a:extLst>
                <a:ext uri="{FF2B5EF4-FFF2-40B4-BE49-F238E27FC236}">
                  <a16:creationId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65">
              <a:extLst>
                <a:ext uri="{FF2B5EF4-FFF2-40B4-BE49-F238E27FC236}">
                  <a16:creationId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66">
              <a:extLst>
                <a:ext uri="{FF2B5EF4-FFF2-40B4-BE49-F238E27FC236}">
                  <a16:creationId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67">
              <a:extLst>
                <a:ext uri="{FF2B5EF4-FFF2-40B4-BE49-F238E27FC236}">
                  <a16:creationId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68">
              <a:extLst>
                <a:ext uri="{FF2B5EF4-FFF2-40B4-BE49-F238E27FC236}">
                  <a16:creationId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69">
              <a:extLst>
                <a:ext uri="{FF2B5EF4-FFF2-40B4-BE49-F238E27FC236}">
                  <a16:creationId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70">
              <a:extLst>
                <a:ext uri="{FF2B5EF4-FFF2-40B4-BE49-F238E27FC236}">
                  <a16:creationId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18" name="Title 1"/>
          <p:cNvSpPr>
            <a:spLocks noGrp="1"/>
          </p:cNvSpPr>
          <p:nvPr userDrawn="1">
            <p:ph type="ctrTitle"/>
          </p:nvPr>
        </p:nvSpPr>
        <p:spPr>
          <a:xfrm>
            <a:off x="944388" y="2158329"/>
            <a:ext cx="4781392" cy="860400"/>
          </a:xfrm>
          <a:prstGeom prst="rect">
            <a:avLst/>
          </a:prstGeo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userDrawn="1">
            <p:ph type="subTitle" idx="1"/>
          </p:nvPr>
        </p:nvSpPr>
        <p:spPr>
          <a:xfrm>
            <a:off x="944580" y="3200329"/>
            <a:ext cx="480552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sp>
        <p:nvSpPr>
          <p:cNvPr id="3" name="Freeform: Shape 2">
            <a:extLst>
              <a:ext uri="{FF2B5EF4-FFF2-40B4-BE49-F238E27FC236}">
                <a16:creationId xmlns:a16="http://schemas.microsoft.com/office/drawing/2014/main" id="{44A731D0-020D-4D8E-955D-2354AF0FE452}"/>
              </a:ext>
            </a:extLst>
          </p:cNvPr>
          <p:cNvSpPr/>
          <p:nvPr userDrawn="1"/>
        </p:nvSpPr>
        <p:spPr>
          <a:xfrm>
            <a:off x="489112" y="723658"/>
            <a:ext cx="5677988"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sz="1799"/>
          </a:p>
        </p:txBody>
      </p:sp>
      <p:sp>
        <p:nvSpPr>
          <p:cNvPr id="4" name="Freeform: Shape 3">
            <a:extLst>
              <a:ext uri="{FF2B5EF4-FFF2-40B4-BE49-F238E27FC236}">
                <a16:creationId xmlns:a16="http://schemas.microsoft.com/office/drawing/2014/main" id="{15324C54-B75E-4AC0-90C2-FA558C7716F7}"/>
              </a:ext>
            </a:extLst>
          </p:cNvPr>
          <p:cNvSpPr/>
          <p:nvPr/>
        </p:nvSpPr>
        <p:spPr>
          <a:xfrm>
            <a:off x="489112"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5" name="Freeform: Shape 4">
            <a:extLst>
              <a:ext uri="{FF2B5EF4-FFF2-40B4-BE49-F238E27FC236}">
                <a16:creationId xmlns:a16="http://schemas.microsoft.com/office/drawing/2014/main" id="{CAA95478-C099-485F-AD95-A617656C6C7C}"/>
              </a:ext>
            </a:extLst>
          </p:cNvPr>
          <p:cNvSpPr/>
          <p:nvPr/>
        </p:nvSpPr>
        <p:spPr>
          <a:xfrm>
            <a:off x="774294"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6" name="Freeform: Shape 5">
            <a:extLst>
              <a:ext uri="{FF2B5EF4-FFF2-40B4-BE49-F238E27FC236}">
                <a16:creationId xmlns:a16="http://schemas.microsoft.com/office/drawing/2014/main" id="{D65680A1-86D1-44C2-AA38-0DF5735F1F26}"/>
              </a:ext>
            </a:extLst>
          </p:cNvPr>
          <p:cNvSpPr/>
          <p:nvPr/>
        </p:nvSpPr>
        <p:spPr>
          <a:xfrm>
            <a:off x="1059359"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grpSp>
        <p:nvGrpSpPr>
          <p:cNvPr id="104" name="Group 4">
            <a:extLst>
              <a:ext uri="{FF2B5EF4-FFF2-40B4-BE49-F238E27FC236}">
                <a16:creationId xmlns:a16="http://schemas.microsoft.com/office/drawing/2014/main" id="{89402076-F24D-44C5-B8A7-1127F9C4B9B7}"/>
              </a:ext>
            </a:extLst>
          </p:cNvPr>
          <p:cNvGrpSpPr>
            <a:grpSpLocks noChangeAspect="1"/>
          </p:cNvGrpSpPr>
          <p:nvPr userDrawn="1"/>
        </p:nvGrpSpPr>
        <p:grpSpPr bwMode="auto">
          <a:xfrm>
            <a:off x="10359392" y="4960938"/>
            <a:ext cx="1224912" cy="1435100"/>
            <a:chOff x="6529" y="3125"/>
            <a:chExt cx="772" cy="904"/>
          </a:xfrm>
        </p:grpSpPr>
        <p:sp>
          <p:nvSpPr>
            <p:cNvPr id="105" name="Freeform 5">
              <a:extLst>
                <a:ext uri="{FF2B5EF4-FFF2-40B4-BE49-F238E27FC236}">
                  <a16:creationId xmlns:a16="http://schemas.microsoft.com/office/drawing/2014/main" id="{A239DDBF-0740-4B20-9CF3-A05C2A0BF592}"/>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6">
              <a:extLst>
                <a:ext uri="{FF2B5EF4-FFF2-40B4-BE49-F238E27FC236}">
                  <a16:creationId xmlns:a16="http://schemas.microsoft.com/office/drawing/2014/main" id="{380EECCA-3396-425E-AB04-F11ABB1B5092}"/>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816064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pproved question tall">
    <p:spTree>
      <p:nvGrpSpPr>
        <p:cNvPr id="1" name=""/>
        <p:cNvGrpSpPr/>
        <p:nvPr/>
      </p:nvGrpSpPr>
      <p:grpSpPr>
        <a:xfrm>
          <a:off x="0" y="0"/>
          <a:ext cx="0" cy="0"/>
          <a:chOff x="0" y="0"/>
          <a:chExt cx="0" cy="0"/>
        </a:xfrm>
      </p:grpSpPr>
      <p:pic>
        <p:nvPicPr>
          <p:cNvPr id="75" name="Picture 74">
            <a:extLst>
              <a:ext uri="{FF2B5EF4-FFF2-40B4-BE49-F238E27FC236}">
                <a16:creationId xmlns:a16="http://schemas.microsoft.com/office/drawing/2014/main" id="{32889845-07EE-48FB-A972-F8ECF1EF871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0644" b="5020"/>
          <a:stretch/>
        </p:blipFill>
        <p:spPr>
          <a:xfrm>
            <a:off x="0" y="0"/>
            <a:ext cx="12192000" cy="6858000"/>
          </a:xfrm>
          <a:prstGeom prst="rect">
            <a:avLst/>
          </a:prstGeom>
        </p:spPr>
      </p:pic>
      <p:pic>
        <p:nvPicPr>
          <p:cNvPr id="85" name="Graphic 84">
            <a:extLst>
              <a:ext uri="{FF2B5EF4-FFF2-40B4-BE49-F238E27FC236}">
                <a16:creationId xmlns:a16="http://schemas.microsoft.com/office/drawing/2014/main" id="{819BCB30-E1AA-4383-BEF0-0BE30C6425D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9111" y="869577"/>
            <a:ext cx="4845500" cy="3933825"/>
          </a:xfrm>
          <a:prstGeom prst="rect">
            <a:avLst/>
          </a:prstGeom>
        </p:spPr>
      </p:pic>
      <p:grpSp>
        <p:nvGrpSpPr>
          <p:cNvPr id="186" name="Group 185">
            <a:extLst>
              <a:ext uri="{FF2B5EF4-FFF2-40B4-BE49-F238E27FC236}">
                <a16:creationId xmlns:a16="http://schemas.microsoft.com/office/drawing/2014/main" id="{9CDE954B-B280-441B-9B2D-3DC58AAE3926}"/>
              </a:ext>
            </a:extLst>
          </p:cNvPr>
          <p:cNvGrpSpPr/>
          <p:nvPr userDrawn="1"/>
        </p:nvGrpSpPr>
        <p:grpSpPr>
          <a:xfrm>
            <a:off x="497856" y="5826613"/>
            <a:ext cx="3876004" cy="570195"/>
            <a:chOff x="498115" y="5951018"/>
            <a:chExt cx="3878023" cy="570195"/>
          </a:xfrm>
        </p:grpSpPr>
        <p:sp>
          <p:nvSpPr>
            <p:cNvPr id="187" name="Rectangle 186">
              <a:extLst>
                <a:ext uri="{FF2B5EF4-FFF2-40B4-BE49-F238E27FC236}">
                  <a16:creationId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Rectangle 6">
              <a:extLst>
                <a:ext uri="{FF2B5EF4-FFF2-40B4-BE49-F238E27FC236}">
                  <a16:creationId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Rectangle 7">
              <a:extLst>
                <a:ext uri="{FF2B5EF4-FFF2-40B4-BE49-F238E27FC236}">
                  <a16:creationId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8">
              <a:extLst>
                <a:ext uri="{FF2B5EF4-FFF2-40B4-BE49-F238E27FC236}">
                  <a16:creationId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9">
              <a:extLst>
                <a:ext uri="{FF2B5EF4-FFF2-40B4-BE49-F238E27FC236}">
                  <a16:creationId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10">
              <a:extLst>
                <a:ext uri="{FF2B5EF4-FFF2-40B4-BE49-F238E27FC236}">
                  <a16:creationId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11">
              <a:extLst>
                <a:ext uri="{FF2B5EF4-FFF2-40B4-BE49-F238E27FC236}">
                  <a16:creationId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12">
              <a:extLst>
                <a:ext uri="{FF2B5EF4-FFF2-40B4-BE49-F238E27FC236}">
                  <a16:creationId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13">
              <a:extLst>
                <a:ext uri="{FF2B5EF4-FFF2-40B4-BE49-F238E27FC236}">
                  <a16:creationId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14">
              <a:extLst>
                <a:ext uri="{FF2B5EF4-FFF2-40B4-BE49-F238E27FC236}">
                  <a16:creationId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15">
              <a:extLst>
                <a:ext uri="{FF2B5EF4-FFF2-40B4-BE49-F238E27FC236}">
                  <a16:creationId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16">
              <a:extLst>
                <a:ext uri="{FF2B5EF4-FFF2-40B4-BE49-F238E27FC236}">
                  <a16:creationId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17">
              <a:extLst>
                <a:ext uri="{FF2B5EF4-FFF2-40B4-BE49-F238E27FC236}">
                  <a16:creationId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18">
              <a:extLst>
                <a:ext uri="{FF2B5EF4-FFF2-40B4-BE49-F238E27FC236}">
                  <a16:creationId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19">
              <a:extLst>
                <a:ext uri="{FF2B5EF4-FFF2-40B4-BE49-F238E27FC236}">
                  <a16:creationId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20">
              <a:extLst>
                <a:ext uri="{FF2B5EF4-FFF2-40B4-BE49-F238E27FC236}">
                  <a16:creationId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21">
              <a:extLst>
                <a:ext uri="{FF2B5EF4-FFF2-40B4-BE49-F238E27FC236}">
                  <a16:creationId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22">
              <a:extLst>
                <a:ext uri="{FF2B5EF4-FFF2-40B4-BE49-F238E27FC236}">
                  <a16:creationId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23">
              <a:extLst>
                <a:ext uri="{FF2B5EF4-FFF2-40B4-BE49-F238E27FC236}">
                  <a16:creationId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24">
              <a:extLst>
                <a:ext uri="{FF2B5EF4-FFF2-40B4-BE49-F238E27FC236}">
                  <a16:creationId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25">
              <a:extLst>
                <a:ext uri="{FF2B5EF4-FFF2-40B4-BE49-F238E27FC236}">
                  <a16:creationId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26">
              <a:extLst>
                <a:ext uri="{FF2B5EF4-FFF2-40B4-BE49-F238E27FC236}">
                  <a16:creationId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27">
              <a:extLst>
                <a:ext uri="{FF2B5EF4-FFF2-40B4-BE49-F238E27FC236}">
                  <a16:creationId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28">
              <a:extLst>
                <a:ext uri="{FF2B5EF4-FFF2-40B4-BE49-F238E27FC236}">
                  <a16:creationId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29">
              <a:extLst>
                <a:ext uri="{FF2B5EF4-FFF2-40B4-BE49-F238E27FC236}">
                  <a16:creationId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30">
              <a:extLst>
                <a:ext uri="{FF2B5EF4-FFF2-40B4-BE49-F238E27FC236}">
                  <a16:creationId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31">
              <a:extLst>
                <a:ext uri="{FF2B5EF4-FFF2-40B4-BE49-F238E27FC236}">
                  <a16:creationId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32">
              <a:extLst>
                <a:ext uri="{FF2B5EF4-FFF2-40B4-BE49-F238E27FC236}">
                  <a16:creationId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33">
              <a:extLst>
                <a:ext uri="{FF2B5EF4-FFF2-40B4-BE49-F238E27FC236}">
                  <a16:creationId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34">
              <a:extLst>
                <a:ext uri="{FF2B5EF4-FFF2-40B4-BE49-F238E27FC236}">
                  <a16:creationId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35">
              <a:extLst>
                <a:ext uri="{FF2B5EF4-FFF2-40B4-BE49-F238E27FC236}">
                  <a16:creationId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36">
              <a:extLst>
                <a:ext uri="{FF2B5EF4-FFF2-40B4-BE49-F238E27FC236}">
                  <a16:creationId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37">
              <a:extLst>
                <a:ext uri="{FF2B5EF4-FFF2-40B4-BE49-F238E27FC236}">
                  <a16:creationId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38">
              <a:extLst>
                <a:ext uri="{FF2B5EF4-FFF2-40B4-BE49-F238E27FC236}">
                  <a16:creationId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39">
              <a:extLst>
                <a:ext uri="{FF2B5EF4-FFF2-40B4-BE49-F238E27FC236}">
                  <a16:creationId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40">
              <a:extLst>
                <a:ext uri="{FF2B5EF4-FFF2-40B4-BE49-F238E27FC236}">
                  <a16:creationId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41">
              <a:extLst>
                <a:ext uri="{FF2B5EF4-FFF2-40B4-BE49-F238E27FC236}">
                  <a16:creationId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42">
              <a:extLst>
                <a:ext uri="{FF2B5EF4-FFF2-40B4-BE49-F238E27FC236}">
                  <a16:creationId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43">
              <a:extLst>
                <a:ext uri="{FF2B5EF4-FFF2-40B4-BE49-F238E27FC236}">
                  <a16:creationId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44">
              <a:extLst>
                <a:ext uri="{FF2B5EF4-FFF2-40B4-BE49-F238E27FC236}">
                  <a16:creationId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45">
              <a:extLst>
                <a:ext uri="{FF2B5EF4-FFF2-40B4-BE49-F238E27FC236}">
                  <a16:creationId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46">
              <a:extLst>
                <a:ext uri="{FF2B5EF4-FFF2-40B4-BE49-F238E27FC236}">
                  <a16:creationId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47">
              <a:extLst>
                <a:ext uri="{FF2B5EF4-FFF2-40B4-BE49-F238E27FC236}">
                  <a16:creationId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48">
              <a:extLst>
                <a:ext uri="{FF2B5EF4-FFF2-40B4-BE49-F238E27FC236}">
                  <a16:creationId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49">
              <a:extLst>
                <a:ext uri="{FF2B5EF4-FFF2-40B4-BE49-F238E27FC236}">
                  <a16:creationId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50">
              <a:extLst>
                <a:ext uri="{FF2B5EF4-FFF2-40B4-BE49-F238E27FC236}">
                  <a16:creationId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51">
              <a:extLst>
                <a:ext uri="{FF2B5EF4-FFF2-40B4-BE49-F238E27FC236}">
                  <a16:creationId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4" name="Freeform 52">
              <a:extLst>
                <a:ext uri="{FF2B5EF4-FFF2-40B4-BE49-F238E27FC236}">
                  <a16:creationId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5" name="Freeform 53">
              <a:extLst>
                <a:ext uri="{FF2B5EF4-FFF2-40B4-BE49-F238E27FC236}">
                  <a16:creationId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6" name="Freeform 54">
              <a:extLst>
                <a:ext uri="{FF2B5EF4-FFF2-40B4-BE49-F238E27FC236}">
                  <a16:creationId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7" name="Freeform 55">
              <a:extLst>
                <a:ext uri="{FF2B5EF4-FFF2-40B4-BE49-F238E27FC236}">
                  <a16:creationId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8" name="Freeform 56">
              <a:extLst>
                <a:ext uri="{FF2B5EF4-FFF2-40B4-BE49-F238E27FC236}">
                  <a16:creationId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9" name="Freeform 57">
              <a:extLst>
                <a:ext uri="{FF2B5EF4-FFF2-40B4-BE49-F238E27FC236}">
                  <a16:creationId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0" name="Freeform 58">
              <a:extLst>
                <a:ext uri="{FF2B5EF4-FFF2-40B4-BE49-F238E27FC236}">
                  <a16:creationId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1" name="Freeform 59">
              <a:extLst>
                <a:ext uri="{FF2B5EF4-FFF2-40B4-BE49-F238E27FC236}">
                  <a16:creationId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2" name="Freeform 60">
              <a:extLst>
                <a:ext uri="{FF2B5EF4-FFF2-40B4-BE49-F238E27FC236}">
                  <a16:creationId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3" name="Freeform 61">
              <a:extLst>
                <a:ext uri="{FF2B5EF4-FFF2-40B4-BE49-F238E27FC236}">
                  <a16:creationId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4" name="Freeform 62">
              <a:extLst>
                <a:ext uri="{FF2B5EF4-FFF2-40B4-BE49-F238E27FC236}">
                  <a16:creationId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5" name="Freeform 63">
              <a:extLst>
                <a:ext uri="{FF2B5EF4-FFF2-40B4-BE49-F238E27FC236}">
                  <a16:creationId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6" name="Freeform 64">
              <a:extLst>
                <a:ext uri="{FF2B5EF4-FFF2-40B4-BE49-F238E27FC236}">
                  <a16:creationId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7" name="Freeform 65">
              <a:extLst>
                <a:ext uri="{FF2B5EF4-FFF2-40B4-BE49-F238E27FC236}">
                  <a16:creationId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8" name="Freeform 66">
              <a:extLst>
                <a:ext uri="{FF2B5EF4-FFF2-40B4-BE49-F238E27FC236}">
                  <a16:creationId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9" name="Freeform 67">
              <a:extLst>
                <a:ext uri="{FF2B5EF4-FFF2-40B4-BE49-F238E27FC236}">
                  <a16:creationId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0" name="Freeform 68">
              <a:extLst>
                <a:ext uri="{FF2B5EF4-FFF2-40B4-BE49-F238E27FC236}">
                  <a16:creationId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1" name="Freeform 69">
              <a:extLst>
                <a:ext uri="{FF2B5EF4-FFF2-40B4-BE49-F238E27FC236}">
                  <a16:creationId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2" name="Freeform 70">
              <a:extLst>
                <a:ext uri="{FF2B5EF4-FFF2-40B4-BE49-F238E27FC236}">
                  <a16:creationId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263" name="Title 1">
            <a:extLst>
              <a:ext uri="{FF2B5EF4-FFF2-40B4-BE49-F238E27FC236}">
                <a16:creationId xmlns:a16="http://schemas.microsoft.com/office/drawing/2014/main" id="{3F36D6CC-3534-47CC-AECE-83EDA4639FB5}"/>
              </a:ext>
            </a:extLst>
          </p:cNvPr>
          <p:cNvSpPr>
            <a:spLocks noGrp="1"/>
          </p:cNvSpPr>
          <p:nvPr>
            <p:ph type="ctrTitle"/>
          </p:nvPr>
        </p:nvSpPr>
        <p:spPr>
          <a:xfrm>
            <a:off x="944388" y="2158329"/>
            <a:ext cx="3998354" cy="860400"/>
          </a:xfrm>
          <a:prstGeom prst="rect">
            <a:avLst/>
          </a:prstGeo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64" name="Subtitle 2">
            <a:extLst>
              <a:ext uri="{FF2B5EF4-FFF2-40B4-BE49-F238E27FC236}">
                <a16:creationId xmlns:a16="http://schemas.microsoft.com/office/drawing/2014/main" id="{C26FB38E-4E99-4AFB-8C8C-F03F7A963D9C}"/>
              </a:ext>
            </a:extLst>
          </p:cNvPr>
          <p:cNvSpPr>
            <a:spLocks noGrp="1"/>
          </p:cNvSpPr>
          <p:nvPr>
            <p:ph type="subTitle" idx="1"/>
          </p:nvPr>
        </p:nvSpPr>
        <p:spPr>
          <a:xfrm>
            <a:off x="944580" y="3200329"/>
            <a:ext cx="401853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82" name="Group 4">
            <a:extLst>
              <a:ext uri="{FF2B5EF4-FFF2-40B4-BE49-F238E27FC236}">
                <a16:creationId xmlns:a16="http://schemas.microsoft.com/office/drawing/2014/main" id="{A63454B3-EB4E-450A-98AA-6B5943D89732}"/>
              </a:ext>
            </a:extLst>
          </p:cNvPr>
          <p:cNvGrpSpPr>
            <a:grpSpLocks noChangeAspect="1"/>
          </p:cNvGrpSpPr>
          <p:nvPr userDrawn="1"/>
        </p:nvGrpSpPr>
        <p:grpSpPr bwMode="auto">
          <a:xfrm>
            <a:off x="10359392" y="4960938"/>
            <a:ext cx="1224912" cy="1435100"/>
            <a:chOff x="6529" y="3125"/>
            <a:chExt cx="772" cy="904"/>
          </a:xfrm>
        </p:grpSpPr>
        <p:sp>
          <p:nvSpPr>
            <p:cNvPr id="83" name="Freeform 5">
              <a:extLst>
                <a:ext uri="{FF2B5EF4-FFF2-40B4-BE49-F238E27FC236}">
                  <a16:creationId xmlns:a16="http://schemas.microsoft.com/office/drawing/2014/main" id="{C4ED221A-C963-42C0-91ED-C597F6BDAF9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6">
              <a:extLst>
                <a:ext uri="{FF2B5EF4-FFF2-40B4-BE49-F238E27FC236}">
                  <a16:creationId xmlns:a16="http://schemas.microsoft.com/office/drawing/2014/main" id="{7956D1CB-5F24-4766-80AE-D7551538344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710197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0" y="1137921"/>
            <a:ext cx="10972800" cy="4834617"/>
          </a:xfrm>
        </p:spPr>
        <p:txBody>
          <a:bodyPr/>
          <a:lstStyle>
            <a:lvl1pPr marL="356438" marR="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sz="1999">
                <a:solidFill>
                  <a:schemeClr val="bg1"/>
                </a:solidFill>
              </a:defRPr>
            </a:lvl1pPr>
            <a:lvl2pPr marL="712875" marR="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sz="1799">
                <a:solidFill>
                  <a:schemeClr val="bg1"/>
                </a:solidFill>
              </a:defRPr>
            </a:lvl2pPr>
            <a:lvl3pPr marL="1069313" marR="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sz="1599">
                <a:solidFill>
                  <a:schemeClr val="bg1"/>
                </a:solidFill>
              </a:defRPr>
            </a:lvl3pPr>
            <a:lvl4pPr marL="1425751" marR="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sz="1399">
                <a:solidFill>
                  <a:schemeClr val="bg1"/>
                </a:solidFill>
              </a:defRPr>
            </a:lvl4pPr>
            <a:lvl5pPr marL="1782188" marR="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sz="1199">
                <a:solidFill>
                  <a:schemeClr val="bg1"/>
                </a:solidFill>
              </a:defRPr>
            </a:lvl5pPr>
          </a:lstStyle>
          <a:p>
            <a:pPr marL="356438" marR="0" lvl="0"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r>
              <a:rPr kumimoji="0" lang="en-US" sz="1999" b="0" i="0" u="none" strike="noStrike" kern="1200" cap="none" spc="0" normalizeH="0" baseline="0" noProof="0">
                <a:ln>
                  <a:noFill/>
                </a:ln>
                <a:solidFill>
                  <a:prstClr val="white"/>
                </a:solidFill>
                <a:effectLst/>
                <a:uLnTx/>
                <a:uFillTx/>
                <a:latin typeface="Arial"/>
                <a:ea typeface="+mn-ea"/>
                <a:cs typeface="+mn-cs"/>
              </a:rPr>
              <a:t>Click to edit Master text styles</a:t>
            </a:r>
          </a:p>
          <a:p>
            <a:pPr marL="712875" marR="0" lvl="1"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r>
              <a:rPr kumimoji="0" lang="en-US" sz="1799" b="0" i="0" u="none" strike="noStrike" kern="1200" cap="none" spc="0" normalizeH="0" baseline="0" noProof="0">
                <a:ln>
                  <a:noFill/>
                </a:ln>
                <a:solidFill>
                  <a:prstClr val="white"/>
                </a:solidFill>
                <a:effectLst/>
                <a:uLnTx/>
                <a:uFillTx/>
                <a:latin typeface="Arial"/>
                <a:ea typeface="+mn-ea"/>
                <a:cs typeface="+mn-cs"/>
              </a:rPr>
              <a:t>Second level</a:t>
            </a:r>
          </a:p>
          <a:p>
            <a:pPr marL="1069313" marR="0" lvl="2"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r>
              <a:rPr kumimoji="0" lang="en-US" sz="1599" b="0" i="0" u="none" strike="noStrike" kern="1200" cap="none" spc="0" normalizeH="0" baseline="0" noProof="0">
                <a:ln>
                  <a:noFill/>
                </a:ln>
                <a:solidFill>
                  <a:prstClr val="white"/>
                </a:solidFill>
                <a:effectLst/>
                <a:uLnTx/>
                <a:uFillTx/>
                <a:latin typeface="Arial"/>
                <a:ea typeface="+mn-ea"/>
                <a:cs typeface="+mn-cs"/>
              </a:rPr>
              <a:t>Third level</a:t>
            </a:r>
          </a:p>
          <a:p>
            <a:pPr marL="1425751" marR="0" lvl="3"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r>
              <a:rPr kumimoji="0" lang="en-US" sz="1399" b="0" i="0" u="none" strike="noStrike" kern="1200" cap="none" spc="0" normalizeH="0" baseline="0" noProof="0">
                <a:ln>
                  <a:noFill/>
                </a:ln>
                <a:solidFill>
                  <a:prstClr val="white"/>
                </a:solidFill>
                <a:effectLst/>
                <a:uLnTx/>
                <a:uFillTx/>
                <a:latin typeface="Arial"/>
                <a:ea typeface="+mn-ea"/>
                <a:cs typeface="+mn-cs"/>
              </a:rPr>
              <a:t>Fourth level</a:t>
            </a:r>
          </a:p>
          <a:p>
            <a:pPr marL="1782188" marR="0" lvl="4" indent="-356438" algn="l" defTabSz="913943" rtl="0" eaLnBrk="1" fontAlgn="auto" latinLnBrk="0" hangingPunct="1">
              <a:lnSpc>
                <a:spcPct val="100000"/>
              </a:lnSpc>
              <a:spcBef>
                <a:spcPct val="20000"/>
              </a:spcBef>
              <a:spcAft>
                <a:spcPts val="0"/>
              </a:spcAft>
              <a:buClr>
                <a:srgbClr val="FFE600"/>
              </a:buClr>
              <a:buSzPct val="70000"/>
              <a:buFont typeface="Arial" pitchFamily="34" charset="0"/>
              <a:buChar char="►"/>
              <a:tabLst/>
              <a:defRPr/>
            </a:pPr>
            <a:r>
              <a:rPr kumimoji="0" lang="en-US" sz="1199" b="0" i="0" u="none" strike="noStrike" kern="1200" cap="none" spc="0" normalizeH="0" baseline="0" noProof="0">
                <a:ln>
                  <a:noFill/>
                </a:ln>
                <a:solidFill>
                  <a:prstClr val="white"/>
                </a:solidFill>
                <a:effectLst/>
                <a:uLnTx/>
                <a:uFillTx/>
                <a:latin typeface="Arial"/>
                <a:ea typeface="+mn-ea"/>
                <a:cs typeface="+mn-cs"/>
              </a:rPr>
              <a:t>Fifth level</a:t>
            </a:r>
            <a:endParaRPr kumimoji="0" lang="en-GB" sz="1199" b="0" i="0" u="none" strike="noStrike" kern="1200" cap="none" spc="0" normalizeH="0" baseline="0" noProof="0">
              <a:ln>
                <a:noFill/>
              </a:ln>
              <a:solidFill>
                <a:prstClr val="white"/>
              </a:solidFill>
              <a:effectLst/>
              <a:uLnTx/>
              <a:uFillTx/>
              <a:latin typeface="Arial"/>
              <a:ea typeface="+mn-ea"/>
              <a:cs typeface="+mn-cs"/>
            </a:endParaRPr>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6" name="Slide Number Placeholder 5">
            <a:extLst>
              <a:ext uri="{FF2B5EF4-FFF2-40B4-BE49-F238E27FC236}">
                <a16:creationId xmlns:a16="http://schemas.microsoft.com/office/drawing/2014/main" id="{B3C35AEC-478D-4BBF-9883-4CE09EB36AB9}"/>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558444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399">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Slide Number Placeholder 4">
            <a:extLst>
              <a:ext uri="{FF2B5EF4-FFF2-40B4-BE49-F238E27FC236}">
                <a16:creationId xmlns:a16="http://schemas.microsoft.com/office/drawing/2014/main" id="{2ABF873B-E40B-4AF7-8D2F-967775EB8EA6}"/>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504732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8194852" y="1"/>
            <a:ext cx="3997149" cy="6156104"/>
          </a:xfr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609601" y="2311401"/>
            <a:ext cx="3578253" cy="384470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4327190" y="2311402"/>
            <a:ext cx="3578253" cy="1254759"/>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4327190" y="4236721"/>
            <a:ext cx="3578253" cy="1944160"/>
          </a:xfr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7" name="Slide Number Placeholder 6">
            <a:extLst>
              <a:ext uri="{FF2B5EF4-FFF2-40B4-BE49-F238E27FC236}">
                <a16:creationId xmlns:a16="http://schemas.microsoft.com/office/drawing/2014/main" id="{D159C267-49E7-46A8-B353-C5EB81154AB5}"/>
              </a:ext>
            </a:extLst>
          </p:cNvPr>
          <p:cNvSpPr>
            <a:spLocks noGrp="1"/>
          </p:cNvSpPr>
          <p:nvPr>
            <p:ph type="sldNum" sz="quarter" idx="16"/>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322291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2383219" cy="6857999"/>
          </a:xfr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5724102" y="1137921"/>
            <a:ext cx="2802382" cy="501818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8815241" y="1137922"/>
            <a:ext cx="2767159" cy="2796151"/>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7" name="Slide Number Placeholder 6">
            <a:extLst>
              <a:ext uri="{FF2B5EF4-FFF2-40B4-BE49-F238E27FC236}">
                <a16:creationId xmlns:a16="http://schemas.microsoft.com/office/drawing/2014/main" id="{97D562B9-5194-4705-ABBD-89576E2CC7A3}"/>
              </a:ext>
            </a:extLst>
          </p:cNvPr>
          <p:cNvSpPr>
            <a:spLocks noGrp="1"/>
          </p:cNvSpPr>
          <p:nvPr>
            <p:ph type="sldNum" sz="quarter" idx="15"/>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18113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p:spPr>
        <p:txBody>
          <a:bodyPr/>
          <a:lstStyle>
            <a:lvl1pPr marL="0" indent="0">
              <a:spcBef>
                <a:spcPts val="0"/>
              </a:spcBef>
              <a:buNone/>
              <a:defRPr>
                <a:solidFill>
                  <a:schemeClr val="bg1"/>
                </a:solidFill>
              </a:defRPr>
            </a:lvl1pPr>
            <a:lvl2pPr marL="0" indent="0">
              <a:spcBef>
                <a:spcPts val="0"/>
              </a:spcBef>
              <a:buNone/>
              <a:defRPr sz="1799">
                <a:solidFill>
                  <a:schemeClr val="bg1"/>
                </a:solidFill>
              </a:defRPr>
            </a:lvl2pPr>
            <a:lvl3pPr marL="0" indent="0">
              <a:spcBef>
                <a:spcPts val="0"/>
              </a:spcBef>
              <a:buNone/>
              <a:defRPr sz="1599">
                <a:solidFill>
                  <a:schemeClr val="bg1"/>
                </a:solidFill>
              </a:defRPr>
            </a:lvl3pPr>
            <a:lvl4pPr marL="0" indent="0">
              <a:spcBef>
                <a:spcPts val="0"/>
              </a:spcBef>
              <a:buNone/>
              <a:defRPr sz="1399">
                <a:solidFill>
                  <a:schemeClr val="bg1"/>
                </a:solidFill>
              </a:defRPr>
            </a:lvl4pPr>
            <a:lvl5pPr marL="0" indent="0">
              <a:spcBef>
                <a:spcPts val="0"/>
              </a:spcBef>
              <a:buNone/>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Line 10">
            <a:extLst>
              <a:ext uri="{FF2B5EF4-FFF2-40B4-BE49-F238E27FC236}">
                <a16:creationId xmlns:a16="http://schemas.microsoft.com/office/drawing/2014/main" id="{CF130104-FAF2-4309-9701-573F3774313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6" name="Slide Number Placeholder 5">
            <a:extLst>
              <a:ext uri="{FF2B5EF4-FFF2-40B4-BE49-F238E27FC236}">
                <a16:creationId xmlns:a16="http://schemas.microsoft.com/office/drawing/2014/main" id="{DE4422C8-68BE-4650-89F1-3BECCFF9B514}"/>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874023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p:spPr>
        <p:txBody>
          <a:bodyPr vert="horz" lIns="0" tIns="0" rIns="0" bIns="0" rtlCol="0" anchor="ctr" anchorCtr="0">
            <a:noAutofit/>
          </a:bodyPr>
          <a:lstStyle>
            <a:lvl1pPr marL="0" indent="0">
              <a:buNone/>
              <a:defRPr kumimoji="0" lang="en-IN" sz="3598" b="0" i="0" u="none" strike="noStrike" cap="none" spc="0" normalizeH="0" baseline="0" dirty="0">
                <a:ln>
                  <a:noFill/>
                </a:ln>
                <a:solidFill>
                  <a:srgbClr val="FFFFFF"/>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
        <p:nvSpPr>
          <p:cNvPr id="4" name="Slide Number Placeholder 3">
            <a:extLst>
              <a:ext uri="{FF2B5EF4-FFF2-40B4-BE49-F238E27FC236}">
                <a16:creationId xmlns:a16="http://schemas.microsoft.com/office/drawing/2014/main" id="{E499AB0A-887B-46B8-BA72-781970F002C7}"/>
              </a:ext>
            </a:extLst>
          </p:cNvPr>
          <p:cNvSpPr>
            <a:spLocks noGrp="1"/>
          </p:cNvSpPr>
          <p:nvPr>
            <p:ph type="sldNum" sz="quarter" idx="13"/>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4041892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6223938" y="0"/>
            <a:ext cx="5968062" cy="6858000"/>
          </a:xfrm>
        </p:spPr>
        <p:txBody>
          <a:bodyPr/>
          <a:lstStyle/>
          <a:p>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369513" y="2578743"/>
            <a:ext cx="4535597" cy="1055708"/>
          </a:xfr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369513" y="3840384"/>
            <a:ext cx="4535597" cy="1055708"/>
          </a:xfrm>
        </p:spPr>
        <p:txBody>
          <a:bodyPr/>
          <a:lstStyle>
            <a:lvl1pPr marL="0" indent="0">
              <a:buNone/>
              <a:defRPr sz="1599"/>
            </a:lvl1pPr>
          </a:lstStyle>
          <a:p>
            <a:pPr lvl="0"/>
            <a:r>
              <a:rPr lang="en-IN"/>
              <a:t>text</a:t>
            </a:r>
          </a:p>
        </p:txBody>
      </p:sp>
      <p:sp>
        <p:nvSpPr>
          <p:cNvPr id="4" name="Slide Number Placeholder 3">
            <a:extLst>
              <a:ext uri="{FF2B5EF4-FFF2-40B4-BE49-F238E27FC236}">
                <a16:creationId xmlns:a16="http://schemas.microsoft.com/office/drawing/2014/main" id="{E82C1B82-1A85-4CFD-98C3-C21698A96B67}"/>
              </a:ext>
            </a:extLst>
          </p:cNvPr>
          <p:cNvSpPr>
            <a:spLocks noGrp="1"/>
          </p:cNvSpPr>
          <p:nvPr>
            <p:ph type="sldNum" sz="quarter" idx="15"/>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143054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609600" y="1137921"/>
            <a:ext cx="4954924" cy="4267457"/>
          </a:xfrm>
        </p:spPr>
        <p:txBody>
          <a:bodyPr/>
          <a:lstStyle/>
          <a:p>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6119821" y="1137921"/>
            <a:ext cx="5462580" cy="373807"/>
          </a:xfr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6119821" y="1635009"/>
            <a:ext cx="5462580" cy="1611554"/>
          </a:xfr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6" name="Slide Number Placeholder 5">
            <a:extLst>
              <a:ext uri="{FF2B5EF4-FFF2-40B4-BE49-F238E27FC236}">
                <a16:creationId xmlns:a16="http://schemas.microsoft.com/office/drawing/2014/main" id="{5716ABDB-CF45-4001-9487-F3BA3DD8DACD}"/>
              </a:ext>
            </a:extLst>
          </p:cNvPr>
          <p:cNvSpPr>
            <a:spLocks noGrp="1"/>
          </p:cNvSpPr>
          <p:nvPr>
            <p:ph type="sldNum" sz="quarter" idx="21"/>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593676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ndard slide_Quotes">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7E89B92-9E6D-4E4B-A5F6-7BC8B1612D1D}"/>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532666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1" y="1137920"/>
            <a:ext cx="8234455" cy="4834800"/>
          </a:xfrm>
        </p:spPr>
        <p:txBody>
          <a:bodyPr/>
          <a:lstStyle>
            <a:lvl1pPr marL="0" indent="0">
              <a:buNone/>
              <a:defRPr>
                <a:solidFill>
                  <a:schemeClr val="bg1"/>
                </a:solidFill>
              </a:defRPr>
            </a:lvl1pPr>
            <a:lvl2pPr marL="356438">
              <a:defRPr>
                <a:solidFill>
                  <a:schemeClr val="bg1"/>
                </a:solidFill>
              </a:defRPr>
            </a:lvl2pPr>
            <a:lvl3pPr marL="712875">
              <a:defRPr>
                <a:solidFill>
                  <a:schemeClr val="bg1"/>
                </a:solidFill>
              </a:defRPr>
            </a:lvl3pPr>
            <a:lvl4pPr marL="1069313">
              <a:defRPr>
                <a:solidFill>
                  <a:schemeClr val="bg1"/>
                </a:solidFill>
              </a:defRPr>
            </a:lvl4pPr>
            <a:lvl5pPr marL="1425751">
              <a:defRPr sz="11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Line 10">
            <a:extLst>
              <a:ext uri="{FF2B5EF4-FFF2-40B4-BE49-F238E27FC236}">
                <a16:creationId xmlns:a16="http://schemas.microsoft.com/office/drawing/2014/main" id="{8D4CA674-C969-4C5C-9EA4-6D41FE961DE2}"/>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6" name="Slide Number Placeholder 5">
            <a:extLst>
              <a:ext uri="{FF2B5EF4-FFF2-40B4-BE49-F238E27FC236}">
                <a16:creationId xmlns:a16="http://schemas.microsoft.com/office/drawing/2014/main" id="{1B5C8157-0191-4E69-819F-DB443768675C}"/>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780486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6" name="Line 10">
            <a:extLst>
              <a:ext uri="{FF2B5EF4-FFF2-40B4-BE49-F238E27FC236}">
                <a16:creationId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Slide Number Placeholder 4">
            <a:extLst>
              <a:ext uri="{FF2B5EF4-FFF2-40B4-BE49-F238E27FC236}">
                <a16:creationId xmlns:a16="http://schemas.microsoft.com/office/drawing/2014/main" id="{01A95690-F0A7-4101-82DB-B17CE6B7A487}"/>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931192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sz="half" idx="1"/>
          </p:nvPr>
        </p:nvSpPr>
        <p:spPr>
          <a:xfrm>
            <a:off x="609601" y="1137919"/>
            <a:ext cx="5384800" cy="4834800"/>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1" y="1137919"/>
            <a:ext cx="5384800" cy="4834800"/>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Line 10">
            <a:extLst>
              <a:ext uri="{FF2B5EF4-FFF2-40B4-BE49-F238E27FC236}">
                <a16:creationId xmlns:a16="http://schemas.microsoft.com/office/drawing/2014/main" id="{9B070B28-7AAC-47E5-9EB5-96B8B8B88057}"/>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7" name="Slide Number Placeholder 6">
            <a:extLst>
              <a:ext uri="{FF2B5EF4-FFF2-40B4-BE49-F238E27FC236}">
                <a16:creationId xmlns:a16="http://schemas.microsoft.com/office/drawing/2014/main" id="{E76E3B4B-D68B-4AFA-A20D-2ECE69120F7E}"/>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8685374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7" name="Slide Number Placeholder 6">
            <a:extLst>
              <a:ext uri="{FF2B5EF4-FFF2-40B4-BE49-F238E27FC236}">
                <a16:creationId xmlns:a16="http://schemas.microsoft.com/office/drawing/2014/main" id="{B94FBF9A-EC9A-41E4-A24C-ECB5DC15CCD7}"/>
              </a:ext>
            </a:extLst>
          </p:cNvPr>
          <p:cNvSpPr>
            <a:spLocks noGrp="1"/>
          </p:cNvSpPr>
          <p:nvPr>
            <p:ph type="sldNum" sz="quarter" idx="16"/>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0565168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344F6A-D6D0-4CE3-8495-873C004D38DC}"/>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5096262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cused data">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ADEB71-FD7D-4974-99DD-0F48E0466750}"/>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929230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A32B5C-3285-477F-B755-A6F2F0F4D3A2}"/>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1508342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C9AD96-7B7E-4E05-90E8-1F98943B0720}"/>
              </a:ext>
            </a:extLst>
          </p:cNvPr>
          <p:cNvSpPr>
            <a:spLocks noGrp="1"/>
          </p:cNvSpPr>
          <p:nvPr>
            <p:ph type="sldNum" sz="quarter" idx="12"/>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388560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54270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
        <p:nvSpPr>
          <p:cNvPr id="5" name="Slide Number Placeholder 4">
            <a:extLst>
              <a:ext uri="{FF2B5EF4-FFF2-40B4-BE49-F238E27FC236}">
                <a16:creationId xmlns:a16="http://schemas.microsoft.com/office/drawing/2014/main" id="{0CC05763-C066-4818-A1DF-64ED4D64BE2E}"/>
              </a:ext>
            </a:extLst>
          </p:cNvPr>
          <p:cNvSpPr>
            <a:spLocks noGrp="1"/>
          </p:cNvSpPr>
          <p:nvPr>
            <p:ph type="sldNum" sz="quarter" idx="13"/>
          </p:nvPr>
        </p:nvSpPr>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22460074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129049-E3D5-4C0A-BB1F-72BEDB1FB5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4"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743344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50" y="0"/>
            <a:ext cx="1218565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14289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Final legal text">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83BDE2E-2BCF-4140-945E-7D5610CDE4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49" y="0"/>
            <a:ext cx="12185658"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153382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4039060822"/>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2_Cover">
    <p:spTree>
      <p:nvGrpSpPr>
        <p:cNvPr id="1" name=""/>
        <p:cNvGrpSpPr/>
        <p:nvPr/>
      </p:nvGrpSpPr>
      <p:grpSpPr>
        <a:xfrm>
          <a:off x="0" y="0"/>
          <a:ext cx="0" cy="0"/>
          <a:chOff x="0" y="0"/>
          <a:chExt cx="0" cy="0"/>
        </a:xfrm>
      </p:grpSpPr>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cxnSp>
        <p:nvCxnSpPr>
          <p:cNvPr id="7" name="Straight Connector 6">
            <a:extLst>
              <a:ext uri="{FF2B5EF4-FFF2-40B4-BE49-F238E27FC236}">
                <a16:creationId xmlns:a16="http://schemas.microsoft.com/office/drawing/2014/main" id="{F93BD223-2224-476C-AB5C-300C248C1618}"/>
              </a:ext>
            </a:extLst>
          </p:cNvPr>
          <p:cNvCxnSpPr>
            <a:cxnSpLocks/>
          </p:cNvCxnSpPr>
          <p:nvPr userDrawn="1"/>
        </p:nvCxnSpPr>
        <p:spPr>
          <a:xfrm>
            <a:off x="1332490" y="5709060"/>
            <a:ext cx="8117873" cy="0"/>
          </a:xfrm>
          <a:prstGeom prst="line">
            <a:avLst/>
          </a:prstGeom>
          <a:ln>
            <a:solidFill>
              <a:srgbClr val="82829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51B4C43-E5F8-400E-A971-58A3766B1BF0}"/>
              </a:ext>
            </a:extLst>
          </p:cNvPr>
          <p:cNvSpPr txBox="1"/>
          <p:nvPr userDrawn="1"/>
        </p:nvSpPr>
        <p:spPr>
          <a:xfrm>
            <a:off x="461744" y="5605201"/>
            <a:ext cx="1044529" cy="197581"/>
          </a:xfrm>
          <a:prstGeom prst="rect">
            <a:avLst/>
          </a:prstGeom>
          <a:noFill/>
        </p:spPr>
        <p:txBody>
          <a:bodyPr wrap="square" lIns="0" tIns="0" rIns="0" bIns="0" rtlCol="0" anchor="ctr" anchorCtr="0">
            <a:noAutofit/>
          </a:bodyPr>
          <a:lstStyle/>
          <a:p>
            <a:r>
              <a:rPr lang="en-GB" sz="1199">
                <a:solidFill>
                  <a:srgbClr val="828290"/>
                </a:solidFill>
                <a:latin typeface="EYInterstate Light" panose="02000506000000020004" pitchFamily="2" charset="0"/>
              </a:rPr>
              <a:t>Written by</a:t>
            </a:r>
          </a:p>
        </p:txBody>
      </p:sp>
      <p:sp>
        <p:nvSpPr>
          <p:cNvPr id="10" name="Text Placeholder 16">
            <a:extLst>
              <a:ext uri="{FF2B5EF4-FFF2-40B4-BE49-F238E27FC236}">
                <a16:creationId xmlns:a16="http://schemas.microsoft.com/office/drawing/2014/main" id="{A9465B6B-DFD4-4E0C-9ACE-E88CA2220464}"/>
              </a:ext>
            </a:extLst>
          </p:cNvPr>
          <p:cNvSpPr>
            <a:spLocks noGrp="1"/>
          </p:cNvSpPr>
          <p:nvPr>
            <p:ph type="body" sz="quarter" idx="14" hasCustomPrompt="1"/>
          </p:nvPr>
        </p:nvSpPr>
        <p:spPr>
          <a:xfrm>
            <a:off x="1332490" y="6019189"/>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3" name="Text Placeholder 16">
            <a:extLst>
              <a:ext uri="{FF2B5EF4-FFF2-40B4-BE49-F238E27FC236}">
                <a16:creationId xmlns:a16="http://schemas.microsoft.com/office/drawing/2014/main" id="{A1F2ED22-5637-4AB8-ABD8-3693A6EA55FD}"/>
              </a:ext>
            </a:extLst>
          </p:cNvPr>
          <p:cNvSpPr>
            <a:spLocks noGrp="1"/>
          </p:cNvSpPr>
          <p:nvPr>
            <p:ph type="body" sz="quarter" idx="15" hasCustomPrompt="1"/>
          </p:nvPr>
        </p:nvSpPr>
        <p:spPr>
          <a:xfrm>
            <a:off x="1332490" y="6216807"/>
            <a:ext cx="3087667" cy="180000"/>
          </a:xfrm>
        </p:spPr>
        <p:txBody>
          <a:bodyPr/>
          <a:lstStyle>
            <a:lvl1pPr marL="0" indent="0">
              <a:buNone/>
              <a:defRPr sz="1199">
                <a:solidFill>
                  <a:schemeClr val="bg1"/>
                </a:solidFill>
              </a:defRPr>
            </a:lvl1pPr>
          </a:lstStyle>
          <a:p>
            <a:pPr lvl="0"/>
            <a:r>
              <a:rPr lang="en-US"/>
              <a:t>Job Title</a:t>
            </a:r>
            <a:endParaRPr lang="en-GB"/>
          </a:p>
        </p:txBody>
      </p:sp>
      <p:sp>
        <p:nvSpPr>
          <p:cNvPr id="14" name="Picture Placeholder 19">
            <a:extLst>
              <a:ext uri="{FF2B5EF4-FFF2-40B4-BE49-F238E27FC236}">
                <a16:creationId xmlns:a16="http://schemas.microsoft.com/office/drawing/2014/main" id="{29A5E1BC-8F6B-43EF-9FF6-8242E7708BDA}"/>
              </a:ext>
            </a:extLst>
          </p:cNvPr>
          <p:cNvSpPr>
            <a:spLocks noGrp="1"/>
          </p:cNvSpPr>
          <p:nvPr>
            <p:ph type="pic" sz="quarter" idx="16"/>
          </p:nvPr>
        </p:nvSpPr>
        <p:spPr>
          <a:xfrm>
            <a:off x="461743" y="5914642"/>
            <a:ext cx="575700" cy="576000"/>
          </a:xfrm>
          <a:prstGeom prst="ellipse">
            <a:avLst/>
          </a:prstGeom>
        </p:spPr>
        <p:txBody>
          <a:bodyPr anchor="ctr"/>
          <a:lstStyle>
            <a:lvl1pPr marL="0" indent="0" algn="ctr">
              <a:buNone/>
              <a:defRPr sz="900">
                <a:solidFill>
                  <a:schemeClr val="bg1"/>
                </a:solidFill>
              </a:defRPr>
            </a:lvl1pPr>
          </a:lstStyle>
          <a:p>
            <a:endParaRPr lang="en-GB"/>
          </a:p>
        </p:txBody>
      </p:sp>
      <p:grpSp>
        <p:nvGrpSpPr>
          <p:cNvPr id="2" name="Group 4">
            <a:extLst>
              <a:ext uri="{FF2B5EF4-FFF2-40B4-BE49-F238E27FC236}">
                <a16:creationId xmlns:a16="http://schemas.microsoft.com/office/drawing/2014/main" id="{63F02F42-4916-4588-807F-4BB7367EB0EC}"/>
              </a:ext>
            </a:extLst>
          </p:cNvPr>
          <p:cNvGrpSpPr>
            <a:grpSpLocks noChangeAspect="1"/>
          </p:cNvGrpSpPr>
          <p:nvPr userDrawn="1"/>
        </p:nvGrpSpPr>
        <p:grpSpPr bwMode="auto">
          <a:xfrm>
            <a:off x="10359392" y="4960938"/>
            <a:ext cx="1224912" cy="1435100"/>
            <a:chOff x="6529" y="3125"/>
            <a:chExt cx="772" cy="904"/>
          </a:xfrm>
        </p:grpSpPr>
        <p:sp>
          <p:nvSpPr>
            <p:cNvPr id="4" name="Freeform 5">
              <a:extLst>
                <a:ext uri="{FF2B5EF4-FFF2-40B4-BE49-F238E27FC236}">
                  <a16:creationId xmlns:a16="http://schemas.microsoft.com/office/drawing/2014/main" id="{0BD928C5-1C7D-4599-A7E9-8AB1B188C6AA}"/>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 name="Freeform 6">
              <a:extLst>
                <a:ext uri="{FF2B5EF4-FFF2-40B4-BE49-F238E27FC236}">
                  <a16:creationId xmlns:a16="http://schemas.microsoft.com/office/drawing/2014/main" id="{37C281E8-2924-471F-A849-26C37A059B4E}"/>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371320026"/>
      </p:ext>
    </p:extLst>
  </p:cSld>
  <p:clrMapOvr>
    <a:masterClrMapping/>
  </p:clrMapOvr>
  <p:extLst>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Approved question tall">
    <p:spTree>
      <p:nvGrpSpPr>
        <p:cNvPr id="1" name=""/>
        <p:cNvGrpSpPr/>
        <p:nvPr/>
      </p:nvGrpSpPr>
      <p:grpSpPr>
        <a:xfrm>
          <a:off x="0" y="0"/>
          <a:ext cx="0" cy="0"/>
          <a:chOff x="0" y="0"/>
          <a:chExt cx="0" cy="0"/>
        </a:xfrm>
      </p:grpSpPr>
      <p:grpSp>
        <p:nvGrpSpPr>
          <p:cNvPr id="186" name="Group 185">
            <a:extLst>
              <a:ext uri="{FF2B5EF4-FFF2-40B4-BE49-F238E27FC236}">
                <a16:creationId xmlns:a16="http://schemas.microsoft.com/office/drawing/2014/main" id="{9CDE954B-B280-441B-9B2D-3DC58AAE3926}"/>
              </a:ext>
            </a:extLst>
          </p:cNvPr>
          <p:cNvGrpSpPr/>
          <p:nvPr userDrawn="1"/>
        </p:nvGrpSpPr>
        <p:grpSpPr>
          <a:xfrm>
            <a:off x="497856" y="5826613"/>
            <a:ext cx="3876004" cy="570195"/>
            <a:chOff x="498115" y="5951018"/>
            <a:chExt cx="3878023" cy="570195"/>
          </a:xfrm>
        </p:grpSpPr>
        <p:sp>
          <p:nvSpPr>
            <p:cNvPr id="187" name="Rectangle 186">
              <a:extLst>
                <a:ext uri="{FF2B5EF4-FFF2-40B4-BE49-F238E27FC236}">
                  <a16:creationId xmlns:a16="http://schemas.microsoft.com/office/drawing/2014/main" id="{93D8FAC8-9530-49D4-8284-D35D1B1509D3}"/>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Rectangle 6">
              <a:extLst>
                <a:ext uri="{FF2B5EF4-FFF2-40B4-BE49-F238E27FC236}">
                  <a16:creationId xmlns:a16="http://schemas.microsoft.com/office/drawing/2014/main" id="{FD924F44-93C1-4254-B594-53DB14FD995E}"/>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Rectangle 7">
              <a:extLst>
                <a:ext uri="{FF2B5EF4-FFF2-40B4-BE49-F238E27FC236}">
                  <a16:creationId xmlns:a16="http://schemas.microsoft.com/office/drawing/2014/main" id="{2A2DA425-7935-45A1-B63F-2D14CF8D5F9C}"/>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8">
              <a:extLst>
                <a:ext uri="{FF2B5EF4-FFF2-40B4-BE49-F238E27FC236}">
                  <a16:creationId xmlns:a16="http://schemas.microsoft.com/office/drawing/2014/main" id="{91EFF75E-13E7-4E35-B108-D9FD5E9C802C}"/>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9">
              <a:extLst>
                <a:ext uri="{FF2B5EF4-FFF2-40B4-BE49-F238E27FC236}">
                  <a16:creationId xmlns:a16="http://schemas.microsoft.com/office/drawing/2014/main" id="{4411951F-E009-4FE7-B2EC-47771CA8E178}"/>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10">
              <a:extLst>
                <a:ext uri="{FF2B5EF4-FFF2-40B4-BE49-F238E27FC236}">
                  <a16:creationId xmlns:a16="http://schemas.microsoft.com/office/drawing/2014/main" id="{B28EE49C-5F5A-49C6-AEB8-6D12DDF344ED}"/>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11">
              <a:extLst>
                <a:ext uri="{FF2B5EF4-FFF2-40B4-BE49-F238E27FC236}">
                  <a16:creationId xmlns:a16="http://schemas.microsoft.com/office/drawing/2014/main" id="{6E2B7D76-D660-491F-8B04-169C6F138B0A}"/>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12">
              <a:extLst>
                <a:ext uri="{FF2B5EF4-FFF2-40B4-BE49-F238E27FC236}">
                  <a16:creationId xmlns:a16="http://schemas.microsoft.com/office/drawing/2014/main" id="{41BE51DE-402B-48B5-99C8-D8BB9A32DF35}"/>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13">
              <a:extLst>
                <a:ext uri="{FF2B5EF4-FFF2-40B4-BE49-F238E27FC236}">
                  <a16:creationId xmlns:a16="http://schemas.microsoft.com/office/drawing/2014/main" id="{8D5E878B-8859-44FA-A69D-DCE630AAB0D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14">
              <a:extLst>
                <a:ext uri="{FF2B5EF4-FFF2-40B4-BE49-F238E27FC236}">
                  <a16:creationId xmlns:a16="http://schemas.microsoft.com/office/drawing/2014/main" id="{08D55808-ECDC-4E9B-84ED-7301E9E716C2}"/>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15">
              <a:extLst>
                <a:ext uri="{FF2B5EF4-FFF2-40B4-BE49-F238E27FC236}">
                  <a16:creationId xmlns:a16="http://schemas.microsoft.com/office/drawing/2014/main" id="{3436B310-313E-4A53-A70D-CA0D0D97FE7A}"/>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16">
              <a:extLst>
                <a:ext uri="{FF2B5EF4-FFF2-40B4-BE49-F238E27FC236}">
                  <a16:creationId xmlns:a16="http://schemas.microsoft.com/office/drawing/2014/main" id="{F3CE55A9-AE55-4169-A58D-8171D9916EC9}"/>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17">
              <a:extLst>
                <a:ext uri="{FF2B5EF4-FFF2-40B4-BE49-F238E27FC236}">
                  <a16:creationId xmlns:a16="http://schemas.microsoft.com/office/drawing/2014/main" id="{FA01BC48-4605-46FC-A7AC-192C7DBCA046}"/>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18">
              <a:extLst>
                <a:ext uri="{FF2B5EF4-FFF2-40B4-BE49-F238E27FC236}">
                  <a16:creationId xmlns:a16="http://schemas.microsoft.com/office/drawing/2014/main" id="{870190F3-472B-4296-B88D-D6904B9F3085}"/>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19">
              <a:extLst>
                <a:ext uri="{FF2B5EF4-FFF2-40B4-BE49-F238E27FC236}">
                  <a16:creationId xmlns:a16="http://schemas.microsoft.com/office/drawing/2014/main" id="{6CEA0F2B-4AAB-4A16-B7F1-CFCB0C0DCEE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20">
              <a:extLst>
                <a:ext uri="{FF2B5EF4-FFF2-40B4-BE49-F238E27FC236}">
                  <a16:creationId xmlns:a16="http://schemas.microsoft.com/office/drawing/2014/main" id="{CD64F657-7EE7-4AF2-ADE4-160C87E64D6B}"/>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21">
              <a:extLst>
                <a:ext uri="{FF2B5EF4-FFF2-40B4-BE49-F238E27FC236}">
                  <a16:creationId xmlns:a16="http://schemas.microsoft.com/office/drawing/2014/main" id="{FA80A690-9084-4519-8D88-A01963C02369}"/>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22">
              <a:extLst>
                <a:ext uri="{FF2B5EF4-FFF2-40B4-BE49-F238E27FC236}">
                  <a16:creationId xmlns:a16="http://schemas.microsoft.com/office/drawing/2014/main" id="{E847401D-2482-482A-AC12-D2E83C13546D}"/>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23">
              <a:extLst>
                <a:ext uri="{FF2B5EF4-FFF2-40B4-BE49-F238E27FC236}">
                  <a16:creationId xmlns:a16="http://schemas.microsoft.com/office/drawing/2014/main" id="{86054F72-4509-4465-B9A8-8DAE3EFD35B0}"/>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24">
              <a:extLst>
                <a:ext uri="{FF2B5EF4-FFF2-40B4-BE49-F238E27FC236}">
                  <a16:creationId xmlns:a16="http://schemas.microsoft.com/office/drawing/2014/main" id="{813850E4-4B62-4FDA-ABD6-F5A5AA5E7C28}"/>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25">
              <a:extLst>
                <a:ext uri="{FF2B5EF4-FFF2-40B4-BE49-F238E27FC236}">
                  <a16:creationId xmlns:a16="http://schemas.microsoft.com/office/drawing/2014/main" id="{1B4F0124-2FAE-4D54-9ECC-E88A8031BBD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26">
              <a:extLst>
                <a:ext uri="{FF2B5EF4-FFF2-40B4-BE49-F238E27FC236}">
                  <a16:creationId xmlns:a16="http://schemas.microsoft.com/office/drawing/2014/main" id="{2A730E5F-DF9C-488E-B4E0-EE9F501529EE}"/>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27">
              <a:extLst>
                <a:ext uri="{FF2B5EF4-FFF2-40B4-BE49-F238E27FC236}">
                  <a16:creationId xmlns:a16="http://schemas.microsoft.com/office/drawing/2014/main" id="{39861D7E-D8DA-436F-9E2F-5C08A8BFB4D5}"/>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28">
              <a:extLst>
                <a:ext uri="{FF2B5EF4-FFF2-40B4-BE49-F238E27FC236}">
                  <a16:creationId xmlns:a16="http://schemas.microsoft.com/office/drawing/2014/main" id="{8B038F9F-6A9C-4E57-A659-0090AF470598}"/>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29">
              <a:extLst>
                <a:ext uri="{FF2B5EF4-FFF2-40B4-BE49-F238E27FC236}">
                  <a16:creationId xmlns:a16="http://schemas.microsoft.com/office/drawing/2014/main" id="{15E4EB7D-754D-4053-9A23-596C7CFDA987}"/>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30">
              <a:extLst>
                <a:ext uri="{FF2B5EF4-FFF2-40B4-BE49-F238E27FC236}">
                  <a16:creationId xmlns:a16="http://schemas.microsoft.com/office/drawing/2014/main" id="{28E147CB-2B8F-497B-B00B-C25E679DC5EB}"/>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31">
              <a:extLst>
                <a:ext uri="{FF2B5EF4-FFF2-40B4-BE49-F238E27FC236}">
                  <a16:creationId xmlns:a16="http://schemas.microsoft.com/office/drawing/2014/main" id="{E68BC676-C787-429D-B59B-1A5CE062F78A}"/>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32">
              <a:extLst>
                <a:ext uri="{FF2B5EF4-FFF2-40B4-BE49-F238E27FC236}">
                  <a16:creationId xmlns:a16="http://schemas.microsoft.com/office/drawing/2014/main" id="{71266960-73CB-44B9-9A97-810858989148}"/>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33">
              <a:extLst>
                <a:ext uri="{FF2B5EF4-FFF2-40B4-BE49-F238E27FC236}">
                  <a16:creationId xmlns:a16="http://schemas.microsoft.com/office/drawing/2014/main" id="{3FF3AC5A-B742-4B29-8E04-03A71D82B9A6}"/>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34">
              <a:extLst>
                <a:ext uri="{FF2B5EF4-FFF2-40B4-BE49-F238E27FC236}">
                  <a16:creationId xmlns:a16="http://schemas.microsoft.com/office/drawing/2014/main" id="{0C912743-E24B-4E48-8196-5FBD1ECEE9AD}"/>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35">
              <a:extLst>
                <a:ext uri="{FF2B5EF4-FFF2-40B4-BE49-F238E27FC236}">
                  <a16:creationId xmlns:a16="http://schemas.microsoft.com/office/drawing/2014/main" id="{6E2F01F4-1410-4FE1-B043-EA97A1541F32}"/>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36">
              <a:extLst>
                <a:ext uri="{FF2B5EF4-FFF2-40B4-BE49-F238E27FC236}">
                  <a16:creationId xmlns:a16="http://schemas.microsoft.com/office/drawing/2014/main" id="{58ACFF1C-49F0-414E-B9E3-DE4E9FFAA38A}"/>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37">
              <a:extLst>
                <a:ext uri="{FF2B5EF4-FFF2-40B4-BE49-F238E27FC236}">
                  <a16:creationId xmlns:a16="http://schemas.microsoft.com/office/drawing/2014/main" id="{DACBD04B-22FF-4A4F-8B29-A2F31A05423A}"/>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38">
              <a:extLst>
                <a:ext uri="{FF2B5EF4-FFF2-40B4-BE49-F238E27FC236}">
                  <a16:creationId xmlns:a16="http://schemas.microsoft.com/office/drawing/2014/main" id="{A13F6E37-C22B-4FD3-ADFE-9C53ECB44692}"/>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39">
              <a:extLst>
                <a:ext uri="{FF2B5EF4-FFF2-40B4-BE49-F238E27FC236}">
                  <a16:creationId xmlns:a16="http://schemas.microsoft.com/office/drawing/2014/main" id="{76256F1D-405A-49F9-8592-A899623F2DB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40">
              <a:extLst>
                <a:ext uri="{FF2B5EF4-FFF2-40B4-BE49-F238E27FC236}">
                  <a16:creationId xmlns:a16="http://schemas.microsoft.com/office/drawing/2014/main" id="{2F9CAE14-DB05-4B70-867F-3F6164BDB74F}"/>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41">
              <a:extLst>
                <a:ext uri="{FF2B5EF4-FFF2-40B4-BE49-F238E27FC236}">
                  <a16:creationId xmlns:a16="http://schemas.microsoft.com/office/drawing/2014/main" id="{30C7B10F-7027-41F9-BEE2-F1575CB690D6}"/>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42">
              <a:extLst>
                <a:ext uri="{FF2B5EF4-FFF2-40B4-BE49-F238E27FC236}">
                  <a16:creationId xmlns:a16="http://schemas.microsoft.com/office/drawing/2014/main" id="{16B384B2-A2D9-4CB4-AF87-AF1004852B5B}"/>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43">
              <a:extLst>
                <a:ext uri="{FF2B5EF4-FFF2-40B4-BE49-F238E27FC236}">
                  <a16:creationId xmlns:a16="http://schemas.microsoft.com/office/drawing/2014/main" id="{DC309D60-84B9-4652-BEF1-F71EFAD3A402}"/>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44">
              <a:extLst>
                <a:ext uri="{FF2B5EF4-FFF2-40B4-BE49-F238E27FC236}">
                  <a16:creationId xmlns:a16="http://schemas.microsoft.com/office/drawing/2014/main" id="{A4440044-5486-483F-B652-7EE3849461B3}"/>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45">
              <a:extLst>
                <a:ext uri="{FF2B5EF4-FFF2-40B4-BE49-F238E27FC236}">
                  <a16:creationId xmlns:a16="http://schemas.microsoft.com/office/drawing/2014/main" id="{446771E9-EA09-4256-8955-FE392C07AFC4}"/>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46">
              <a:extLst>
                <a:ext uri="{FF2B5EF4-FFF2-40B4-BE49-F238E27FC236}">
                  <a16:creationId xmlns:a16="http://schemas.microsoft.com/office/drawing/2014/main" id="{FE985025-CAA5-44F2-9174-87CD1D8BA182}"/>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47">
              <a:extLst>
                <a:ext uri="{FF2B5EF4-FFF2-40B4-BE49-F238E27FC236}">
                  <a16:creationId xmlns:a16="http://schemas.microsoft.com/office/drawing/2014/main" id="{1105FBBE-AD06-4F22-94D8-E2E98185FAA9}"/>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48">
              <a:extLst>
                <a:ext uri="{FF2B5EF4-FFF2-40B4-BE49-F238E27FC236}">
                  <a16:creationId xmlns:a16="http://schemas.microsoft.com/office/drawing/2014/main" id="{8141824A-6AD4-4B53-B837-71461DD538CC}"/>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49">
              <a:extLst>
                <a:ext uri="{FF2B5EF4-FFF2-40B4-BE49-F238E27FC236}">
                  <a16:creationId xmlns:a16="http://schemas.microsoft.com/office/drawing/2014/main" id="{1CEF1D95-CD6C-417A-9539-CB4DBAA5E07D}"/>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50">
              <a:extLst>
                <a:ext uri="{FF2B5EF4-FFF2-40B4-BE49-F238E27FC236}">
                  <a16:creationId xmlns:a16="http://schemas.microsoft.com/office/drawing/2014/main" id="{BF6CB5D3-9648-4D73-AB7C-5374814E5BA2}"/>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51">
              <a:extLst>
                <a:ext uri="{FF2B5EF4-FFF2-40B4-BE49-F238E27FC236}">
                  <a16:creationId xmlns:a16="http://schemas.microsoft.com/office/drawing/2014/main" id="{55F0E322-3AEE-482E-8E59-9FB04FACA931}"/>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4" name="Freeform 52">
              <a:extLst>
                <a:ext uri="{FF2B5EF4-FFF2-40B4-BE49-F238E27FC236}">
                  <a16:creationId xmlns:a16="http://schemas.microsoft.com/office/drawing/2014/main" id="{0D3C59AD-7CCF-4166-9D21-3C3484889312}"/>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5" name="Freeform 53">
              <a:extLst>
                <a:ext uri="{FF2B5EF4-FFF2-40B4-BE49-F238E27FC236}">
                  <a16:creationId xmlns:a16="http://schemas.microsoft.com/office/drawing/2014/main" id="{9C9DA4CE-7B4D-42AE-9264-92B7D7757DD8}"/>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6" name="Freeform 54">
              <a:extLst>
                <a:ext uri="{FF2B5EF4-FFF2-40B4-BE49-F238E27FC236}">
                  <a16:creationId xmlns:a16="http://schemas.microsoft.com/office/drawing/2014/main" id="{DBCBD0D2-5C9C-4B12-8CF8-9CA320825ED7}"/>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7" name="Freeform 55">
              <a:extLst>
                <a:ext uri="{FF2B5EF4-FFF2-40B4-BE49-F238E27FC236}">
                  <a16:creationId xmlns:a16="http://schemas.microsoft.com/office/drawing/2014/main" id="{CDCFBD31-7961-4587-876E-1FAFC4E74AB8}"/>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8" name="Freeform 56">
              <a:extLst>
                <a:ext uri="{FF2B5EF4-FFF2-40B4-BE49-F238E27FC236}">
                  <a16:creationId xmlns:a16="http://schemas.microsoft.com/office/drawing/2014/main" id="{52482C08-723A-4738-9787-3516B3C1714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9" name="Freeform 57">
              <a:extLst>
                <a:ext uri="{FF2B5EF4-FFF2-40B4-BE49-F238E27FC236}">
                  <a16:creationId xmlns:a16="http://schemas.microsoft.com/office/drawing/2014/main" id="{5B72A8F0-33E3-42CD-88C2-C35BEC0E9833}"/>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0" name="Freeform 58">
              <a:extLst>
                <a:ext uri="{FF2B5EF4-FFF2-40B4-BE49-F238E27FC236}">
                  <a16:creationId xmlns:a16="http://schemas.microsoft.com/office/drawing/2014/main" id="{73FC54A2-6588-499B-968A-79F4CA9CF5F3}"/>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1" name="Freeform 59">
              <a:extLst>
                <a:ext uri="{FF2B5EF4-FFF2-40B4-BE49-F238E27FC236}">
                  <a16:creationId xmlns:a16="http://schemas.microsoft.com/office/drawing/2014/main" id="{1E6AB002-C130-4648-A18E-BA496FF1756C}"/>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2" name="Freeform 60">
              <a:extLst>
                <a:ext uri="{FF2B5EF4-FFF2-40B4-BE49-F238E27FC236}">
                  <a16:creationId xmlns:a16="http://schemas.microsoft.com/office/drawing/2014/main" id="{B0044278-9F7F-4596-96D2-ACFBE0DEC0B1}"/>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3" name="Freeform 61">
              <a:extLst>
                <a:ext uri="{FF2B5EF4-FFF2-40B4-BE49-F238E27FC236}">
                  <a16:creationId xmlns:a16="http://schemas.microsoft.com/office/drawing/2014/main" id="{79F75E0D-27A7-44C1-BF19-495F4768F995}"/>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4" name="Freeform 62">
              <a:extLst>
                <a:ext uri="{FF2B5EF4-FFF2-40B4-BE49-F238E27FC236}">
                  <a16:creationId xmlns:a16="http://schemas.microsoft.com/office/drawing/2014/main" id="{E5B9E395-C74C-4D98-8911-EE2C765D8BEB}"/>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5" name="Freeform 63">
              <a:extLst>
                <a:ext uri="{FF2B5EF4-FFF2-40B4-BE49-F238E27FC236}">
                  <a16:creationId xmlns:a16="http://schemas.microsoft.com/office/drawing/2014/main" id="{53BB8418-388C-4142-9A80-8BF00A87F7B0}"/>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6" name="Freeform 64">
              <a:extLst>
                <a:ext uri="{FF2B5EF4-FFF2-40B4-BE49-F238E27FC236}">
                  <a16:creationId xmlns:a16="http://schemas.microsoft.com/office/drawing/2014/main" id="{0256DB41-B3C1-4FEB-B394-9762C00E7F70}"/>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7" name="Freeform 65">
              <a:extLst>
                <a:ext uri="{FF2B5EF4-FFF2-40B4-BE49-F238E27FC236}">
                  <a16:creationId xmlns:a16="http://schemas.microsoft.com/office/drawing/2014/main" id="{F2BC9C1F-3F30-47A6-B503-20FB179B7F3A}"/>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8" name="Freeform 66">
              <a:extLst>
                <a:ext uri="{FF2B5EF4-FFF2-40B4-BE49-F238E27FC236}">
                  <a16:creationId xmlns:a16="http://schemas.microsoft.com/office/drawing/2014/main" id="{F2E1921C-CA0E-4886-93CA-956A6497CF03}"/>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49" name="Freeform 67">
              <a:extLst>
                <a:ext uri="{FF2B5EF4-FFF2-40B4-BE49-F238E27FC236}">
                  <a16:creationId xmlns:a16="http://schemas.microsoft.com/office/drawing/2014/main" id="{33147323-CD74-4B45-8B3D-9FC2D6ABC4D5}"/>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0" name="Freeform 68">
              <a:extLst>
                <a:ext uri="{FF2B5EF4-FFF2-40B4-BE49-F238E27FC236}">
                  <a16:creationId xmlns:a16="http://schemas.microsoft.com/office/drawing/2014/main" id="{646502BE-8655-4E99-B8D3-19E6C1D2B9F4}"/>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1" name="Freeform 69">
              <a:extLst>
                <a:ext uri="{FF2B5EF4-FFF2-40B4-BE49-F238E27FC236}">
                  <a16:creationId xmlns:a16="http://schemas.microsoft.com/office/drawing/2014/main" id="{7B89F1B5-6B06-45D2-838B-039A44EFFD1B}"/>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52" name="Freeform 70">
              <a:extLst>
                <a:ext uri="{FF2B5EF4-FFF2-40B4-BE49-F238E27FC236}">
                  <a16:creationId xmlns:a16="http://schemas.microsoft.com/office/drawing/2014/main" id="{07A005EC-C937-4146-8D02-C00C5931EBC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263" name="Title 1">
            <a:extLst>
              <a:ext uri="{FF2B5EF4-FFF2-40B4-BE49-F238E27FC236}">
                <a16:creationId xmlns:a16="http://schemas.microsoft.com/office/drawing/2014/main" id="{3F36D6CC-3534-47CC-AECE-83EDA4639FB5}"/>
              </a:ext>
            </a:extLst>
          </p:cNvPr>
          <p:cNvSpPr>
            <a:spLocks noGrp="1"/>
          </p:cNvSpPr>
          <p:nvPr>
            <p:ph type="ctrTitle"/>
          </p:nvPr>
        </p:nvSpPr>
        <p:spPr>
          <a:xfrm>
            <a:off x="944388" y="2158329"/>
            <a:ext cx="3998354" cy="860400"/>
          </a:xfrm>
          <a:prstGeom prst="rect">
            <a:avLst/>
          </a:prstGeo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264" name="Subtitle 2">
            <a:extLst>
              <a:ext uri="{FF2B5EF4-FFF2-40B4-BE49-F238E27FC236}">
                <a16:creationId xmlns:a16="http://schemas.microsoft.com/office/drawing/2014/main" id="{C26FB38E-4E99-4AFB-8C8C-F03F7A963D9C}"/>
              </a:ext>
            </a:extLst>
          </p:cNvPr>
          <p:cNvSpPr>
            <a:spLocks noGrp="1"/>
          </p:cNvSpPr>
          <p:nvPr>
            <p:ph type="subTitle" idx="1"/>
          </p:nvPr>
        </p:nvSpPr>
        <p:spPr>
          <a:xfrm>
            <a:off x="944580" y="3200329"/>
            <a:ext cx="401853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77" name="Group 76">
            <a:extLst>
              <a:ext uri="{FF2B5EF4-FFF2-40B4-BE49-F238E27FC236}">
                <a16:creationId xmlns:a16="http://schemas.microsoft.com/office/drawing/2014/main" id="{AE95BC52-A56D-4358-A294-750179EBB698}"/>
              </a:ext>
            </a:extLst>
          </p:cNvPr>
          <p:cNvGrpSpPr/>
          <p:nvPr userDrawn="1"/>
        </p:nvGrpSpPr>
        <p:grpSpPr>
          <a:xfrm>
            <a:off x="489112" y="876059"/>
            <a:ext cx="4852768" cy="3374475"/>
            <a:chOff x="6855933" y="899048"/>
            <a:chExt cx="4855295" cy="3374475"/>
          </a:xfrm>
          <a:solidFill>
            <a:schemeClr val="tx2"/>
          </a:solidFill>
        </p:grpSpPr>
        <p:sp>
          <p:nvSpPr>
            <p:cNvPr id="78" name="Freeform: Shape 77">
              <a:extLst>
                <a:ext uri="{FF2B5EF4-FFF2-40B4-BE49-F238E27FC236}">
                  <a16:creationId xmlns:a16="http://schemas.microsoft.com/office/drawing/2014/main" id="{ECBD2AD5-9A79-4CFE-A808-769ADC8898F3}"/>
                </a:ext>
              </a:extLst>
            </p:cNvPr>
            <p:cNvSpPr/>
            <p:nvPr/>
          </p:nvSpPr>
          <p:spPr>
            <a:xfrm>
              <a:off x="6855933" y="899048"/>
              <a:ext cx="4855295" cy="3374475"/>
            </a:xfrm>
            <a:custGeom>
              <a:avLst/>
              <a:gdLst>
                <a:gd name="connsiteX0" fmla="*/ 6731 w 4855294"/>
                <a:gd name="connsiteY0" fmla="*/ 863542 h 3374474"/>
                <a:gd name="connsiteX1" fmla="*/ 6731 w 4855294"/>
                <a:gd name="connsiteY1" fmla="*/ 3095901 h 3374474"/>
                <a:gd name="connsiteX2" fmla="*/ 145659 w 4855294"/>
                <a:gd name="connsiteY2" fmla="*/ 3095901 h 3374474"/>
                <a:gd name="connsiteX3" fmla="*/ 145659 w 4855294"/>
                <a:gd name="connsiteY3" fmla="*/ 988380 h 3374474"/>
                <a:gd name="connsiteX4" fmla="*/ 4715918 w 4855294"/>
                <a:gd name="connsiteY4" fmla="*/ 179673 h 3374474"/>
                <a:gd name="connsiteX5" fmla="*/ 4715918 w 4855294"/>
                <a:gd name="connsiteY5" fmla="*/ 3234829 h 3374474"/>
                <a:gd name="connsiteX6" fmla="*/ 840208 w 4855294"/>
                <a:gd name="connsiteY6" fmla="*/ 3234829 h 3374474"/>
                <a:gd name="connsiteX7" fmla="*/ 840208 w 4855294"/>
                <a:gd name="connsiteY7" fmla="*/ 3373757 h 3374474"/>
                <a:gd name="connsiteX8" fmla="*/ 4854846 w 4855294"/>
                <a:gd name="connsiteY8" fmla="*/ 3373757 h 3374474"/>
                <a:gd name="connsiteX9" fmla="*/ 4854846 w 4855294"/>
                <a:gd name="connsiteY9" fmla="*/ 6731 h 3374474"/>
                <a:gd name="connsiteX10" fmla="*/ 6731 w 4855294"/>
                <a:gd name="connsiteY10" fmla="*/ 863542 h 3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294" h="3374474">
                  <a:moveTo>
                    <a:pt x="6731" y="863542"/>
                  </a:moveTo>
                  <a:lnTo>
                    <a:pt x="6731" y="3095901"/>
                  </a:lnTo>
                  <a:lnTo>
                    <a:pt x="145659" y="3095901"/>
                  </a:lnTo>
                  <a:lnTo>
                    <a:pt x="145659" y="988380"/>
                  </a:lnTo>
                  <a:lnTo>
                    <a:pt x="4715918" y="179673"/>
                  </a:lnTo>
                  <a:lnTo>
                    <a:pt x="4715918" y="3234829"/>
                  </a:lnTo>
                  <a:lnTo>
                    <a:pt x="840208" y="3234829"/>
                  </a:lnTo>
                  <a:lnTo>
                    <a:pt x="840208" y="3373757"/>
                  </a:lnTo>
                  <a:lnTo>
                    <a:pt x="4854846" y="3373757"/>
                  </a:lnTo>
                  <a:lnTo>
                    <a:pt x="4854846" y="6731"/>
                  </a:lnTo>
                  <a:lnTo>
                    <a:pt x="6731" y="863542"/>
                  </a:lnTo>
                  <a:close/>
                </a:path>
              </a:pathLst>
            </a:custGeom>
            <a:grpFill/>
            <a:ln w="9525" cap="flat">
              <a:noFill/>
              <a:prstDash val="solid"/>
              <a:miter/>
            </a:ln>
          </p:spPr>
          <p:txBody>
            <a:bodyPr rtlCol="0" anchor="ctr"/>
            <a:lstStyle/>
            <a:p>
              <a:endParaRPr lang="en-IN" sz="1799"/>
            </a:p>
          </p:txBody>
        </p:sp>
        <p:sp>
          <p:nvSpPr>
            <p:cNvPr id="79" name="Freeform: Shape 78">
              <a:extLst>
                <a:ext uri="{FF2B5EF4-FFF2-40B4-BE49-F238E27FC236}">
                  <a16:creationId xmlns:a16="http://schemas.microsoft.com/office/drawing/2014/main" id="{9EE673CB-A779-4F64-B72D-93428DD2B26D}"/>
                </a:ext>
              </a:extLst>
            </p:cNvPr>
            <p:cNvSpPr/>
            <p:nvPr/>
          </p:nvSpPr>
          <p:spPr>
            <a:xfrm>
              <a:off x="6855933"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sp>
          <p:nvSpPr>
            <p:cNvPr id="80" name="Freeform: Shape 79">
              <a:extLst>
                <a:ext uri="{FF2B5EF4-FFF2-40B4-BE49-F238E27FC236}">
                  <a16:creationId xmlns:a16="http://schemas.microsoft.com/office/drawing/2014/main" id="{88144C98-507D-403B-8819-FBBF64A82FA3}"/>
                </a:ext>
              </a:extLst>
            </p:cNvPr>
            <p:cNvSpPr/>
            <p:nvPr/>
          </p:nvSpPr>
          <p:spPr>
            <a:xfrm>
              <a:off x="7133789"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sp>
          <p:nvSpPr>
            <p:cNvPr id="81" name="Freeform: Shape 80">
              <a:extLst>
                <a:ext uri="{FF2B5EF4-FFF2-40B4-BE49-F238E27FC236}">
                  <a16:creationId xmlns:a16="http://schemas.microsoft.com/office/drawing/2014/main" id="{21919CB3-2430-4DA6-BF41-59A1EF9C03CB}"/>
                </a:ext>
              </a:extLst>
            </p:cNvPr>
            <p:cNvSpPr/>
            <p:nvPr/>
          </p:nvSpPr>
          <p:spPr>
            <a:xfrm>
              <a:off x="7411555" y="4127146"/>
              <a:ext cx="143595" cy="143595"/>
            </a:xfrm>
            <a:custGeom>
              <a:avLst/>
              <a:gdLst>
                <a:gd name="connsiteX0" fmla="*/ 6731 w 143594"/>
                <a:gd name="connsiteY0" fmla="*/ 6731 h 143594"/>
                <a:gd name="connsiteX1" fmla="*/ 145659 w 143594"/>
                <a:gd name="connsiteY1" fmla="*/ 6731 h 143594"/>
                <a:gd name="connsiteX2" fmla="*/ 145659 w 143594"/>
                <a:gd name="connsiteY2" fmla="*/ 145659 h 143594"/>
                <a:gd name="connsiteX3" fmla="*/ 6731 w 143594"/>
                <a:gd name="connsiteY3" fmla="*/ 145659 h 143594"/>
              </a:gdLst>
              <a:ahLst/>
              <a:cxnLst>
                <a:cxn ang="0">
                  <a:pos x="connsiteX0" y="connsiteY0"/>
                </a:cxn>
                <a:cxn ang="0">
                  <a:pos x="connsiteX1" y="connsiteY1"/>
                </a:cxn>
                <a:cxn ang="0">
                  <a:pos x="connsiteX2" y="connsiteY2"/>
                </a:cxn>
                <a:cxn ang="0">
                  <a:pos x="connsiteX3" y="connsiteY3"/>
                </a:cxn>
              </a:cxnLst>
              <a:rect l="l" t="t" r="r" b="b"/>
              <a:pathLst>
                <a:path w="143594" h="143594">
                  <a:moveTo>
                    <a:pt x="6731" y="6731"/>
                  </a:moveTo>
                  <a:lnTo>
                    <a:pt x="145659" y="6731"/>
                  </a:lnTo>
                  <a:lnTo>
                    <a:pt x="145659" y="145659"/>
                  </a:lnTo>
                  <a:lnTo>
                    <a:pt x="6731" y="145659"/>
                  </a:lnTo>
                  <a:close/>
                </a:path>
              </a:pathLst>
            </a:custGeom>
            <a:grpFill/>
            <a:ln w="9525" cap="flat">
              <a:noFill/>
              <a:prstDash val="solid"/>
              <a:miter/>
            </a:ln>
          </p:spPr>
          <p:txBody>
            <a:bodyPr rtlCol="0" anchor="ctr"/>
            <a:lstStyle/>
            <a:p>
              <a:endParaRPr lang="en-IN" sz="1799"/>
            </a:p>
          </p:txBody>
        </p:sp>
      </p:grpSp>
      <p:grpSp>
        <p:nvGrpSpPr>
          <p:cNvPr id="82" name="Group 4">
            <a:extLst>
              <a:ext uri="{FF2B5EF4-FFF2-40B4-BE49-F238E27FC236}">
                <a16:creationId xmlns:a16="http://schemas.microsoft.com/office/drawing/2014/main" id="{C5FADEE5-07C4-41A9-88D6-C6D2ED1362B8}"/>
              </a:ext>
            </a:extLst>
          </p:cNvPr>
          <p:cNvGrpSpPr>
            <a:grpSpLocks noChangeAspect="1"/>
          </p:cNvGrpSpPr>
          <p:nvPr userDrawn="1"/>
        </p:nvGrpSpPr>
        <p:grpSpPr bwMode="auto">
          <a:xfrm>
            <a:off x="10359392" y="4960938"/>
            <a:ext cx="1224912" cy="1435100"/>
            <a:chOff x="6529" y="3125"/>
            <a:chExt cx="772" cy="904"/>
          </a:xfrm>
        </p:grpSpPr>
        <p:sp>
          <p:nvSpPr>
            <p:cNvPr id="83" name="Freeform 5">
              <a:extLst>
                <a:ext uri="{FF2B5EF4-FFF2-40B4-BE49-F238E27FC236}">
                  <a16:creationId xmlns:a16="http://schemas.microsoft.com/office/drawing/2014/main" id="{5A2C465B-7D43-431D-A35E-50762E7696F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6">
              <a:extLst>
                <a:ext uri="{FF2B5EF4-FFF2-40B4-BE49-F238E27FC236}">
                  <a16:creationId xmlns:a16="http://schemas.microsoft.com/office/drawing/2014/main" id="{AC35E6C1-71A8-4C9D-A1A5-682B0BD0A03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22002088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1_Approved question wide">
    <p:spTree>
      <p:nvGrpSpPr>
        <p:cNvPr id="1" name=""/>
        <p:cNvGrpSpPr/>
        <p:nvPr/>
      </p:nvGrpSpPr>
      <p:grpSpPr>
        <a:xfrm>
          <a:off x="0" y="0"/>
          <a:ext cx="0" cy="0"/>
          <a:chOff x="0" y="0"/>
          <a:chExt cx="0" cy="0"/>
        </a:xfrm>
      </p:grpSpPr>
      <p:grpSp>
        <p:nvGrpSpPr>
          <p:cNvPr id="235" name="Group 234">
            <a:extLst>
              <a:ext uri="{FF2B5EF4-FFF2-40B4-BE49-F238E27FC236}">
                <a16:creationId xmlns:a16="http://schemas.microsoft.com/office/drawing/2014/main" id="{5342E118-6F1D-4C46-956E-4CCCBCAA7952}"/>
              </a:ext>
            </a:extLst>
          </p:cNvPr>
          <p:cNvGrpSpPr/>
          <p:nvPr userDrawn="1"/>
        </p:nvGrpSpPr>
        <p:grpSpPr>
          <a:xfrm>
            <a:off x="497856" y="5826613"/>
            <a:ext cx="3876004" cy="570195"/>
            <a:chOff x="498115" y="5951018"/>
            <a:chExt cx="3878023" cy="570195"/>
          </a:xfrm>
        </p:grpSpPr>
        <p:sp>
          <p:nvSpPr>
            <p:cNvPr id="168" name="Rectangle 167">
              <a:extLst>
                <a:ext uri="{FF2B5EF4-FFF2-40B4-BE49-F238E27FC236}">
                  <a16:creationId xmlns:a16="http://schemas.microsoft.com/office/drawing/2014/main" id="{A22049CA-64AE-409F-988D-A7317F8AD136}"/>
                </a:ext>
              </a:extLst>
            </p:cNvPr>
            <p:cNvSpPr>
              <a:spLocks noChangeArrowheads="1"/>
            </p:cNvSpPr>
            <p:nvPr userDrawn="1"/>
          </p:nvSpPr>
          <p:spPr bwMode="auto">
            <a:xfrm>
              <a:off x="498115"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Rectangle 6">
              <a:extLst>
                <a:ext uri="{FF2B5EF4-FFF2-40B4-BE49-F238E27FC236}">
                  <a16:creationId xmlns:a16="http://schemas.microsoft.com/office/drawing/2014/main" id="{E37A0A05-0A78-44A7-8873-0A1A20C87175}"/>
                </a:ext>
              </a:extLst>
            </p:cNvPr>
            <p:cNvSpPr>
              <a:spLocks noChangeArrowheads="1"/>
            </p:cNvSpPr>
            <p:nvPr userDrawn="1"/>
          </p:nvSpPr>
          <p:spPr bwMode="auto">
            <a:xfrm>
              <a:off x="69341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Rectangle 7">
              <a:extLst>
                <a:ext uri="{FF2B5EF4-FFF2-40B4-BE49-F238E27FC236}">
                  <a16:creationId xmlns:a16="http://schemas.microsoft.com/office/drawing/2014/main" id="{0DEA0CBE-8527-4287-BF98-DA48947875F5}"/>
                </a:ext>
              </a:extLst>
            </p:cNvPr>
            <p:cNvSpPr>
              <a:spLocks noChangeArrowheads="1"/>
            </p:cNvSpPr>
            <p:nvPr userDrawn="1"/>
          </p:nvSpPr>
          <p:spPr bwMode="auto">
            <a:xfrm>
              <a:off x="890451" y="5951018"/>
              <a:ext cx="99392" cy="9764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8">
              <a:extLst>
                <a:ext uri="{FF2B5EF4-FFF2-40B4-BE49-F238E27FC236}">
                  <a16:creationId xmlns:a16="http://schemas.microsoft.com/office/drawing/2014/main" id="{444058C6-612A-446E-8F68-0E5CC4CFF366}"/>
                </a:ext>
              </a:extLst>
            </p:cNvPr>
            <p:cNvSpPr>
              <a:spLocks/>
            </p:cNvSpPr>
            <p:nvPr userDrawn="1"/>
          </p:nvSpPr>
          <p:spPr bwMode="auto">
            <a:xfrm>
              <a:off x="498115" y="6181188"/>
              <a:ext cx="94161" cy="130778"/>
            </a:xfrm>
            <a:custGeom>
              <a:avLst/>
              <a:gdLst>
                <a:gd name="T0" fmla="*/ 32 w 54"/>
                <a:gd name="T1" fmla="*/ 11 h 75"/>
                <a:gd name="T2" fmla="*/ 32 w 54"/>
                <a:gd name="T3" fmla="*/ 75 h 75"/>
                <a:gd name="T4" fmla="*/ 22 w 54"/>
                <a:gd name="T5" fmla="*/ 75 h 75"/>
                <a:gd name="T6" fmla="*/ 22 w 54"/>
                <a:gd name="T7" fmla="*/ 11 h 75"/>
                <a:gd name="T8" fmla="*/ 0 w 54"/>
                <a:gd name="T9" fmla="*/ 11 h 75"/>
                <a:gd name="T10" fmla="*/ 0 w 54"/>
                <a:gd name="T11" fmla="*/ 0 h 75"/>
                <a:gd name="T12" fmla="*/ 54 w 54"/>
                <a:gd name="T13" fmla="*/ 0 h 75"/>
                <a:gd name="T14" fmla="*/ 54 w 54"/>
                <a:gd name="T15" fmla="*/ 11 h 75"/>
                <a:gd name="T16" fmla="*/ 32 w 54"/>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1"/>
                  </a:moveTo>
                  <a:lnTo>
                    <a:pt x="32" y="75"/>
                  </a:lnTo>
                  <a:lnTo>
                    <a:pt x="22" y="75"/>
                  </a:lnTo>
                  <a:lnTo>
                    <a:pt x="22" y="11"/>
                  </a:lnTo>
                  <a:lnTo>
                    <a:pt x="0" y="11"/>
                  </a:lnTo>
                  <a:lnTo>
                    <a:pt x="0" y="0"/>
                  </a:lnTo>
                  <a:lnTo>
                    <a:pt x="54" y="0"/>
                  </a:lnTo>
                  <a:lnTo>
                    <a:pt x="54" y="11"/>
                  </a:lnTo>
                  <a:lnTo>
                    <a:pt x="32"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2" name="Freeform 9">
              <a:extLst>
                <a:ext uri="{FF2B5EF4-FFF2-40B4-BE49-F238E27FC236}">
                  <a16:creationId xmlns:a16="http://schemas.microsoft.com/office/drawing/2014/main" id="{1011EC31-E0C3-404F-93B3-EFD3DADC11CB}"/>
                </a:ext>
              </a:extLst>
            </p:cNvPr>
            <p:cNvSpPr>
              <a:spLocks/>
            </p:cNvSpPr>
            <p:nvPr userDrawn="1"/>
          </p:nvSpPr>
          <p:spPr bwMode="auto">
            <a:xfrm>
              <a:off x="609713" y="6174213"/>
              <a:ext cx="78468"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3" name="Freeform 10">
              <a:extLst>
                <a:ext uri="{FF2B5EF4-FFF2-40B4-BE49-F238E27FC236}">
                  <a16:creationId xmlns:a16="http://schemas.microsoft.com/office/drawing/2014/main" id="{3C9D076B-D88C-4089-8D58-9A31CFCDB02A}"/>
                </a:ext>
              </a:extLst>
            </p:cNvPr>
            <p:cNvSpPr>
              <a:spLocks noEditPoints="1"/>
            </p:cNvSpPr>
            <p:nvPr userDrawn="1"/>
          </p:nvSpPr>
          <p:spPr bwMode="auto">
            <a:xfrm>
              <a:off x="705618" y="6212575"/>
              <a:ext cx="85443"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4" name="Freeform 11">
              <a:extLst>
                <a:ext uri="{FF2B5EF4-FFF2-40B4-BE49-F238E27FC236}">
                  <a16:creationId xmlns:a16="http://schemas.microsoft.com/office/drawing/2014/main" id="{29DB43AC-B765-4ECB-B483-562473BD4A38}"/>
                </a:ext>
              </a:extLst>
            </p:cNvPr>
            <p:cNvSpPr>
              <a:spLocks noEditPoints="1"/>
            </p:cNvSpPr>
            <p:nvPr userDrawn="1"/>
          </p:nvSpPr>
          <p:spPr bwMode="auto">
            <a:xfrm>
              <a:off x="857320" y="6174213"/>
              <a:ext cx="83698" cy="139497"/>
            </a:xfrm>
            <a:custGeom>
              <a:avLst/>
              <a:gdLst>
                <a:gd name="T0" fmla="*/ 33 w 33"/>
                <a:gd name="T1" fmla="*/ 35 h 55"/>
                <a:gd name="T2" fmla="*/ 31 w 33"/>
                <a:gd name="T3" fmla="*/ 44 h 55"/>
                <a:gd name="T4" fmla="*/ 28 w 33"/>
                <a:gd name="T5" fmla="*/ 50 h 55"/>
                <a:gd name="T6" fmla="*/ 23 w 33"/>
                <a:gd name="T7" fmla="*/ 53 h 55"/>
                <a:gd name="T8" fmla="*/ 17 w 33"/>
                <a:gd name="T9" fmla="*/ 55 h 55"/>
                <a:gd name="T10" fmla="*/ 12 w 33"/>
                <a:gd name="T11" fmla="*/ 53 h 55"/>
                <a:gd name="T12" fmla="*/ 8 w 33"/>
                <a:gd name="T13" fmla="*/ 50 h 55"/>
                <a:gd name="T14" fmla="*/ 8 w 33"/>
                <a:gd name="T15" fmla="*/ 54 h 55"/>
                <a:gd name="T16" fmla="*/ 0 w 33"/>
                <a:gd name="T17" fmla="*/ 54 h 55"/>
                <a:gd name="T18" fmla="*/ 0 w 33"/>
                <a:gd name="T19" fmla="*/ 4 h 55"/>
                <a:gd name="T20" fmla="*/ 8 w 33"/>
                <a:gd name="T21" fmla="*/ 0 h 55"/>
                <a:gd name="T22" fmla="*/ 8 w 33"/>
                <a:gd name="T23" fmla="*/ 19 h 55"/>
                <a:gd name="T24" fmla="*/ 10 w 33"/>
                <a:gd name="T25" fmla="*/ 17 h 55"/>
                <a:gd name="T26" fmla="*/ 12 w 33"/>
                <a:gd name="T27" fmla="*/ 16 h 55"/>
                <a:gd name="T28" fmla="*/ 14 w 33"/>
                <a:gd name="T29" fmla="*/ 15 h 55"/>
                <a:gd name="T30" fmla="*/ 18 w 33"/>
                <a:gd name="T31" fmla="*/ 15 h 55"/>
                <a:gd name="T32" fmla="*/ 24 w 33"/>
                <a:gd name="T33" fmla="*/ 16 h 55"/>
                <a:gd name="T34" fmla="*/ 28 w 33"/>
                <a:gd name="T35" fmla="*/ 19 h 55"/>
                <a:gd name="T36" fmla="*/ 31 w 33"/>
                <a:gd name="T37" fmla="*/ 26 h 55"/>
                <a:gd name="T38" fmla="*/ 33 w 33"/>
                <a:gd name="T39" fmla="*/ 35 h 55"/>
                <a:gd name="T40" fmla="*/ 25 w 33"/>
                <a:gd name="T41" fmla="*/ 35 h 55"/>
                <a:gd name="T42" fmla="*/ 23 w 33"/>
                <a:gd name="T43" fmla="*/ 25 h 55"/>
                <a:gd name="T44" fmla="*/ 16 w 33"/>
                <a:gd name="T45" fmla="*/ 22 h 55"/>
                <a:gd name="T46" fmla="*/ 14 w 33"/>
                <a:gd name="T47" fmla="*/ 22 h 55"/>
                <a:gd name="T48" fmla="*/ 11 w 33"/>
                <a:gd name="T49" fmla="*/ 23 h 55"/>
                <a:gd name="T50" fmla="*/ 9 w 33"/>
                <a:gd name="T51" fmla="*/ 25 h 55"/>
                <a:gd name="T52" fmla="*/ 8 w 33"/>
                <a:gd name="T53" fmla="*/ 26 h 55"/>
                <a:gd name="T54" fmla="*/ 8 w 33"/>
                <a:gd name="T55" fmla="*/ 43 h 55"/>
                <a:gd name="T56" fmla="*/ 9 w 33"/>
                <a:gd name="T57" fmla="*/ 44 h 55"/>
                <a:gd name="T58" fmla="*/ 11 w 33"/>
                <a:gd name="T59" fmla="*/ 46 h 55"/>
                <a:gd name="T60" fmla="*/ 14 w 33"/>
                <a:gd name="T61" fmla="*/ 47 h 55"/>
                <a:gd name="T62" fmla="*/ 17 w 33"/>
                <a:gd name="T63" fmla="*/ 48 h 55"/>
                <a:gd name="T64" fmla="*/ 23 w 33"/>
                <a:gd name="T65" fmla="*/ 45 h 55"/>
                <a:gd name="T66" fmla="*/ 25 w 33"/>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5">
                  <a:moveTo>
                    <a:pt x="33" y="35"/>
                  </a:moveTo>
                  <a:cubicBezTo>
                    <a:pt x="33" y="38"/>
                    <a:pt x="32" y="41"/>
                    <a:pt x="31" y="44"/>
                  </a:cubicBezTo>
                  <a:cubicBezTo>
                    <a:pt x="30" y="46"/>
                    <a:pt x="29" y="48"/>
                    <a:pt x="28" y="50"/>
                  </a:cubicBezTo>
                  <a:cubicBezTo>
                    <a:pt x="27" y="51"/>
                    <a:pt x="25" y="53"/>
                    <a:pt x="23" y="53"/>
                  </a:cubicBezTo>
                  <a:cubicBezTo>
                    <a:pt x="21" y="54"/>
                    <a:pt x="19" y="55"/>
                    <a:pt x="17" y="55"/>
                  </a:cubicBezTo>
                  <a:cubicBezTo>
                    <a:pt x="16" y="55"/>
                    <a:pt x="14" y="54"/>
                    <a:pt x="12" y="53"/>
                  </a:cubicBezTo>
                  <a:cubicBezTo>
                    <a:pt x="10" y="52"/>
                    <a:pt x="9" y="51"/>
                    <a:pt x="8" y="50"/>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9" y="18"/>
                    <a:pt x="9" y="18"/>
                    <a:pt x="10" y="17"/>
                  </a:cubicBezTo>
                  <a:cubicBezTo>
                    <a:pt x="11" y="17"/>
                    <a:pt x="11" y="16"/>
                    <a:pt x="12" y="16"/>
                  </a:cubicBezTo>
                  <a:cubicBezTo>
                    <a:pt x="13" y="16"/>
                    <a:pt x="13" y="15"/>
                    <a:pt x="14" y="15"/>
                  </a:cubicBezTo>
                  <a:cubicBezTo>
                    <a:pt x="15" y="15"/>
                    <a:pt x="16" y="15"/>
                    <a:pt x="18" y="15"/>
                  </a:cubicBezTo>
                  <a:cubicBezTo>
                    <a:pt x="20" y="15"/>
                    <a:pt x="22" y="15"/>
                    <a:pt x="24" y="16"/>
                  </a:cubicBezTo>
                  <a:cubicBezTo>
                    <a:pt x="25" y="16"/>
                    <a:pt x="27" y="18"/>
                    <a:pt x="28" y="19"/>
                  </a:cubicBezTo>
                  <a:cubicBezTo>
                    <a:pt x="30" y="21"/>
                    <a:pt x="31" y="23"/>
                    <a:pt x="31" y="26"/>
                  </a:cubicBezTo>
                  <a:cubicBezTo>
                    <a:pt x="32" y="28"/>
                    <a:pt x="33" y="32"/>
                    <a:pt x="33" y="35"/>
                  </a:cubicBezTo>
                  <a:close/>
                  <a:moveTo>
                    <a:pt x="25" y="35"/>
                  </a:moveTo>
                  <a:cubicBezTo>
                    <a:pt x="25" y="31"/>
                    <a:pt x="24" y="27"/>
                    <a:pt x="23" y="25"/>
                  </a:cubicBezTo>
                  <a:cubicBezTo>
                    <a:pt x="21" y="23"/>
                    <a:pt x="19" y="22"/>
                    <a:pt x="16" y="22"/>
                  </a:cubicBezTo>
                  <a:cubicBezTo>
                    <a:pt x="15" y="22"/>
                    <a:pt x="15" y="22"/>
                    <a:pt x="14" y="22"/>
                  </a:cubicBezTo>
                  <a:cubicBezTo>
                    <a:pt x="13" y="22"/>
                    <a:pt x="12" y="23"/>
                    <a:pt x="11" y="23"/>
                  </a:cubicBezTo>
                  <a:cubicBezTo>
                    <a:pt x="11" y="23"/>
                    <a:pt x="10" y="24"/>
                    <a:pt x="9" y="25"/>
                  </a:cubicBezTo>
                  <a:cubicBezTo>
                    <a:pt x="9" y="25"/>
                    <a:pt x="8" y="26"/>
                    <a:pt x="8" y="26"/>
                  </a:cubicBezTo>
                  <a:cubicBezTo>
                    <a:pt x="8" y="43"/>
                    <a:pt x="8" y="43"/>
                    <a:pt x="8" y="43"/>
                  </a:cubicBezTo>
                  <a:cubicBezTo>
                    <a:pt x="8" y="43"/>
                    <a:pt x="9" y="44"/>
                    <a:pt x="9" y="44"/>
                  </a:cubicBezTo>
                  <a:cubicBezTo>
                    <a:pt x="10" y="45"/>
                    <a:pt x="11" y="45"/>
                    <a:pt x="11" y="46"/>
                  </a:cubicBezTo>
                  <a:cubicBezTo>
                    <a:pt x="12" y="46"/>
                    <a:pt x="13" y="47"/>
                    <a:pt x="14" y="47"/>
                  </a:cubicBezTo>
                  <a:cubicBezTo>
                    <a:pt x="15" y="47"/>
                    <a:pt x="16" y="48"/>
                    <a:pt x="17"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5" name="Freeform 12">
              <a:extLst>
                <a:ext uri="{FF2B5EF4-FFF2-40B4-BE49-F238E27FC236}">
                  <a16:creationId xmlns:a16="http://schemas.microsoft.com/office/drawing/2014/main" id="{AF1DE1B8-EA4B-4A98-A97D-BA5EEA42B197}"/>
                </a:ext>
              </a:extLst>
            </p:cNvPr>
            <p:cNvSpPr>
              <a:spLocks noEditPoints="1"/>
            </p:cNvSpPr>
            <p:nvPr userDrawn="1"/>
          </p:nvSpPr>
          <p:spPr bwMode="auto">
            <a:xfrm>
              <a:off x="956713"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1" y="32"/>
                    <a:pt x="21" y="32"/>
                  </a:cubicBezTo>
                  <a:cubicBezTo>
                    <a:pt x="22" y="32"/>
                    <a:pt x="22"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8"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6" name="Freeform 13">
              <a:extLst>
                <a:ext uri="{FF2B5EF4-FFF2-40B4-BE49-F238E27FC236}">
                  <a16:creationId xmlns:a16="http://schemas.microsoft.com/office/drawing/2014/main" id="{F8F60B79-7AF5-4C5E-A5EF-126F117D591C}"/>
                </a:ext>
              </a:extLst>
            </p:cNvPr>
            <p:cNvSpPr>
              <a:spLocks/>
            </p:cNvSpPr>
            <p:nvPr userDrawn="1"/>
          </p:nvSpPr>
          <p:spPr bwMode="auto">
            <a:xfrm>
              <a:off x="1050873" y="6174213"/>
              <a:ext cx="55799" cy="139497"/>
            </a:xfrm>
            <a:custGeom>
              <a:avLst/>
              <a:gdLst>
                <a:gd name="T0" fmla="*/ 21 w 22"/>
                <a:gd name="T1" fmla="*/ 53 h 55"/>
                <a:gd name="T2" fmla="*/ 18 w 22"/>
                <a:gd name="T3" fmla="*/ 54 h 55"/>
                <a:gd name="T4" fmla="*/ 14 w 22"/>
                <a:gd name="T5" fmla="*/ 55 h 55"/>
                <a:gd name="T6" fmla="*/ 11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2" y="54"/>
                    <a:pt x="11" y="54"/>
                  </a:cubicBezTo>
                  <a:cubicBezTo>
                    <a:pt x="10" y="54"/>
                    <a:pt x="9" y="53"/>
                    <a:pt x="8" y="52"/>
                  </a:cubicBezTo>
                  <a:cubicBezTo>
                    <a:pt x="7" y="51"/>
                    <a:pt x="6" y="50"/>
                    <a:pt x="6" y="49"/>
                  </a:cubicBezTo>
                  <a:cubicBezTo>
                    <a:pt x="6"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2"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7" name="Freeform 14">
              <a:extLst>
                <a:ext uri="{FF2B5EF4-FFF2-40B4-BE49-F238E27FC236}">
                  <a16:creationId xmlns:a16="http://schemas.microsoft.com/office/drawing/2014/main" id="{0A0438AD-9937-4C25-AB9E-7F8C8CCA23F7}"/>
                </a:ext>
              </a:extLst>
            </p:cNvPr>
            <p:cNvSpPr>
              <a:spLocks/>
            </p:cNvSpPr>
            <p:nvPr userDrawn="1"/>
          </p:nvSpPr>
          <p:spPr bwMode="auto">
            <a:xfrm>
              <a:off x="111887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8" name="Freeform 15">
              <a:extLst>
                <a:ext uri="{FF2B5EF4-FFF2-40B4-BE49-F238E27FC236}">
                  <a16:creationId xmlns:a16="http://schemas.microsoft.com/office/drawing/2014/main" id="{6FDE2726-7032-4BE4-A420-0ECF49A32A8B}"/>
                </a:ext>
              </a:extLst>
            </p:cNvPr>
            <p:cNvSpPr>
              <a:spLocks noEditPoints="1"/>
            </p:cNvSpPr>
            <p:nvPr userDrawn="1"/>
          </p:nvSpPr>
          <p:spPr bwMode="auto">
            <a:xfrm>
              <a:off x="1190370" y="6212575"/>
              <a:ext cx="83698" cy="101135"/>
            </a:xfrm>
            <a:custGeom>
              <a:avLst/>
              <a:gdLst>
                <a:gd name="T0" fmla="*/ 33 w 33"/>
                <a:gd name="T1" fmla="*/ 19 h 40"/>
                <a:gd name="T2" fmla="*/ 33 w 33"/>
                <a:gd name="T3" fmla="*/ 21 h 40"/>
                <a:gd name="T4" fmla="*/ 32 w 33"/>
                <a:gd name="T5" fmla="*/ 22 h 40"/>
                <a:gd name="T6" fmla="*/ 7 w 33"/>
                <a:gd name="T7" fmla="*/ 22 h 40"/>
                <a:gd name="T8" fmla="*/ 8 w 33"/>
                <a:gd name="T9" fmla="*/ 27 h 40"/>
                <a:gd name="T10" fmla="*/ 10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29 w 33"/>
                <a:gd name="T25" fmla="*/ 35 h 40"/>
                <a:gd name="T26" fmla="*/ 27 w 33"/>
                <a:gd name="T27" fmla="*/ 37 h 40"/>
                <a:gd name="T28" fmla="*/ 24 w 33"/>
                <a:gd name="T29" fmla="*/ 38 h 40"/>
                <a:gd name="T30" fmla="*/ 20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6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2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2" y="21"/>
                    <a:pt x="32" y="22"/>
                    <a:pt x="32" y="22"/>
                  </a:cubicBezTo>
                  <a:cubicBezTo>
                    <a:pt x="7" y="22"/>
                    <a:pt x="7" y="22"/>
                    <a:pt x="7" y="22"/>
                  </a:cubicBezTo>
                  <a:cubicBezTo>
                    <a:pt x="7" y="24"/>
                    <a:pt x="8" y="26"/>
                    <a:pt x="8" y="27"/>
                  </a:cubicBezTo>
                  <a:cubicBezTo>
                    <a:pt x="9" y="28"/>
                    <a:pt x="10" y="29"/>
                    <a:pt x="10" y="30"/>
                  </a:cubicBezTo>
                  <a:cubicBezTo>
                    <a:pt x="11" y="31"/>
                    <a:pt x="12" y="32"/>
                    <a:pt x="13" y="32"/>
                  </a:cubicBezTo>
                  <a:cubicBezTo>
                    <a:pt x="14" y="33"/>
                    <a:pt x="16" y="33"/>
                    <a:pt x="17" y="33"/>
                  </a:cubicBezTo>
                  <a:cubicBezTo>
                    <a:pt x="18" y="33"/>
                    <a:pt x="18" y="33"/>
                    <a:pt x="19" y="33"/>
                  </a:cubicBezTo>
                  <a:cubicBezTo>
                    <a:pt x="20" y="32"/>
                    <a:pt x="20" y="32"/>
                    <a:pt x="21" y="32"/>
                  </a:cubicBezTo>
                  <a:cubicBezTo>
                    <a:pt x="22" y="32"/>
                    <a:pt x="22" y="31"/>
                    <a:pt x="23" y="31"/>
                  </a:cubicBezTo>
                  <a:cubicBezTo>
                    <a:pt x="23" y="31"/>
                    <a:pt x="24" y="30"/>
                    <a:pt x="25" y="30"/>
                  </a:cubicBezTo>
                  <a:cubicBezTo>
                    <a:pt x="29" y="35"/>
                    <a:pt x="29" y="35"/>
                    <a:pt x="29" y="35"/>
                  </a:cubicBezTo>
                  <a:cubicBezTo>
                    <a:pt x="29" y="35"/>
                    <a:pt x="28" y="36"/>
                    <a:pt x="27" y="37"/>
                  </a:cubicBezTo>
                  <a:cubicBezTo>
                    <a:pt x="26" y="37"/>
                    <a:pt x="25" y="38"/>
                    <a:pt x="24" y="38"/>
                  </a:cubicBezTo>
                  <a:cubicBezTo>
                    <a:pt x="23" y="39"/>
                    <a:pt x="22" y="39"/>
                    <a:pt x="20"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6"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3" y="10"/>
                    <a:pt x="23" y="9"/>
                  </a:cubicBezTo>
                  <a:cubicBezTo>
                    <a:pt x="22" y="8"/>
                    <a:pt x="21" y="8"/>
                    <a:pt x="20" y="7"/>
                  </a:cubicBezTo>
                  <a:cubicBezTo>
                    <a:pt x="19" y="7"/>
                    <a:pt x="17" y="6"/>
                    <a:pt x="16" y="6"/>
                  </a:cubicBezTo>
                  <a:cubicBezTo>
                    <a:pt x="15" y="6"/>
                    <a:pt x="13" y="7"/>
                    <a:pt x="12" y="7"/>
                  </a:cubicBezTo>
                  <a:cubicBezTo>
                    <a:pt x="11"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79" name="Freeform 16">
              <a:extLst>
                <a:ext uri="{FF2B5EF4-FFF2-40B4-BE49-F238E27FC236}">
                  <a16:creationId xmlns:a16="http://schemas.microsoft.com/office/drawing/2014/main" id="{50C22C21-F8DB-486D-9042-765D68AE3A7C}"/>
                </a:ext>
              </a:extLst>
            </p:cNvPr>
            <p:cNvSpPr>
              <a:spLocks/>
            </p:cNvSpPr>
            <p:nvPr userDrawn="1"/>
          </p:nvSpPr>
          <p:spPr bwMode="auto">
            <a:xfrm>
              <a:off x="1294993" y="6212575"/>
              <a:ext cx="55799" cy="99391"/>
            </a:xfrm>
            <a:custGeom>
              <a:avLst/>
              <a:gdLst>
                <a:gd name="T0" fmla="*/ 20 w 22"/>
                <a:gd name="T1" fmla="*/ 8 h 39"/>
                <a:gd name="T2" fmla="*/ 18 w 22"/>
                <a:gd name="T3" fmla="*/ 7 h 39"/>
                <a:gd name="T4" fmla="*/ 15 w 22"/>
                <a:gd name="T5" fmla="*/ 7 h 39"/>
                <a:gd name="T6" fmla="*/ 9 w 22"/>
                <a:gd name="T7" fmla="*/ 9 h 39"/>
                <a:gd name="T8" fmla="*/ 7 w 22"/>
                <a:gd name="T9" fmla="*/ 17 h 39"/>
                <a:gd name="T10" fmla="*/ 7 w 22"/>
                <a:gd name="T11" fmla="*/ 39 h 39"/>
                <a:gd name="T12" fmla="*/ 0 w 22"/>
                <a:gd name="T13" fmla="*/ 39 h 39"/>
                <a:gd name="T14" fmla="*/ 0 w 22"/>
                <a:gd name="T15" fmla="*/ 0 h 39"/>
                <a:gd name="T16" fmla="*/ 7 w 22"/>
                <a:gd name="T17" fmla="*/ 0 h 39"/>
                <a:gd name="T18" fmla="*/ 7 w 22"/>
                <a:gd name="T19" fmla="*/ 4 h 39"/>
                <a:gd name="T20" fmla="*/ 9 w 22"/>
                <a:gd name="T21" fmla="*/ 2 h 39"/>
                <a:gd name="T22" fmla="*/ 11 w 22"/>
                <a:gd name="T23" fmla="*/ 1 h 39"/>
                <a:gd name="T24" fmla="*/ 13 w 22"/>
                <a:gd name="T25" fmla="*/ 0 h 39"/>
                <a:gd name="T26" fmla="*/ 16 w 22"/>
                <a:gd name="T27" fmla="*/ 0 h 39"/>
                <a:gd name="T28" fmla="*/ 20 w 22"/>
                <a:gd name="T29" fmla="*/ 0 h 39"/>
                <a:gd name="T30" fmla="*/ 22 w 22"/>
                <a:gd name="T31" fmla="*/ 1 h 39"/>
                <a:gd name="T32" fmla="*/ 20 w 22"/>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8"/>
                  </a:moveTo>
                  <a:cubicBezTo>
                    <a:pt x="20" y="8"/>
                    <a:pt x="19" y="8"/>
                    <a:pt x="18" y="7"/>
                  </a:cubicBezTo>
                  <a:cubicBezTo>
                    <a:pt x="17" y="7"/>
                    <a:pt x="16" y="7"/>
                    <a:pt x="15" y="7"/>
                  </a:cubicBezTo>
                  <a:cubicBezTo>
                    <a:pt x="12" y="7"/>
                    <a:pt x="10" y="8"/>
                    <a:pt x="9" y="9"/>
                  </a:cubicBezTo>
                  <a:cubicBezTo>
                    <a:pt x="8" y="11"/>
                    <a:pt x="7" y="14"/>
                    <a:pt x="7" y="17"/>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9" y="2"/>
                    <a:pt x="10" y="1"/>
                    <a:pt x="11" y="1"/>
                  </a:cubicBezTo>
                  <a:cubicBezTo>
                    <a:pt x="11" y="0"/>
                    <a:pt x="12" y="0"/>
                    <a:pt x="13" y="0"/>
                  </a:cubicBezTo>
                  <a:cubicBezTo>
                    <a:pt x="14" y="0"/>
                    <a:pt x="15" y="0"/>
                    <a:pt x="16" y="0"/>
                  </a:cubicBezTo>
                  <a:cubicBezTo>
                    <a:pt x="17" y="0"/>
                    <a:pt x="19" y="0"/>
                    <a:pt x="20" y="0"/>
                  </a:cubicBezTo>
                  <a:cubicBezTo>
                    <a:pt x="21" y="0"/>
                    <a:pt x="22" y="1"/>
                    <a:pt x="22" y="1"/>
                  </a:cubicBezTo>
                  <a:lnTo>
                    <a:pt x="20"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0" name="Freeform 17">
              <a:extLst>
                <a:ext uri="{FF2B5EF4-FFF2-40B4-BE49-F238E27FC236}">
                  <a16:creationId xmlns:a16="http://schemas.microsoft.com/office/drawing/2014/main" id="{7F763F72-BB8F-482C-9FDA-40EDD6EE5FF8}"/>
                </a:ext>
              </a:extLst>
            </p:cNvPr>
            <p:cNvSpPr>
              <a:spLocks/>
            </p:cNvSpPr>
            <p:nvPr userDrawn="1"/>
          </p:nvSpPr>
          <p:spPr bwMode="auto">
            <a:xfrm>
              <a:off x="140659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3 w 22"/>
                <a:gd name="T25" fmla="*/ 0 h 55"/>
                <a:gd name="T26" fmla="*/ 13 w 22"/>
                <a:gd name="T27" fmla="*/ 15 h 55"/>
                <a:gd name="T28" fmla="*/ 22 w 22"/>
                <a:gd name="T29" fmla="*/ 15 h 55"/>
                <a:gd name="T30" fmla="*/ 22 w 22"/>
                <a:gd name="T31" fmla="*/ 22 h 55"/>
                <a:gd name="T32" fmla="*/ 13 w 22"/>
                <a:gd name="T33" fmla="*/ 22 h 55"/>
                <a:gd name="T34" fmla="*/ 13 w 22"/>
                <a:gd name="T35" fmla="*/ 43 h 55"/>
                <a:gd name="T36" fmla="*/ 13 w 22"/>
                <a:gd name="T37" fmla="*/ 45 h 55"/>
                <a:gd name="T38" fmla="*/ 14 w 22"/>
                <a:gd name="T39" fmla="*/ 47 h 55"/>
                <a:gd name="T40" fmla="*/ 15 w 22"/>
                <a:gd name="T41" fmla="*/ 47 h 55"/>
                <a:gd name="T42" fmla="*/ 17 w 22"/>
                <a:gd name="T43" fmla="*/ 48 h 55"/>
                <a:gd name="T44" fmla="*/ 20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3" y="55"/>
                    <a:pt x="11" y="54"/>
                    <a:pt x="10" y="54"/>
                  </a:cubicBezTo>
                  <a:cubicBezTo>
                    <a:pt x="9" y="54"/>
                    <a:pt x="9"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5"/>
                    <a:pt x="13" y="45"/>
                  </a:cubicBezTo>
                  <a:cubicBezTo>
                    <a:pt x="13" y="46"/>
                    <a:pt x="13" y="46"/>
                    <a:pt x="14" y="47"/>
                  </a:cubicBezTo>
                  <a:cubicBezTo>
                    <a:pt x="14" y="47"/>
                    <a:pt x="14" y="47"/>
                    <a:pt x="15" y="47"/>
                  </a:cubicBezTo>
                  <a:cubicBezTo>
                    <a:pt x="15" y="48"/>
                    <a:pt x="16" y="48"/>
                    <a:pt x="17" y="48"/>
                  </a:cubicBezTo>
                  <a:cubicBezTo>
                    <a:pt x="18" y="48"/>
                    <a:pt x="19" y="48"/>
                    <a:pt x="20" y="47"/>
                  </a:cubicBezTo>
                  <a:cubicBezTo>
                    <a:pt x="21"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1" name="Freeform 18">
              <a:extLst>
                <a:ext uri="{FF2B5EF4-FFF2-40B4-BE49-F238E27FC236}">
                  <a16:creationId xmlns:a16="http://schemas.microsoft.com/office/drawing/2014/main" id="{710F466C-6BEC-4970-9707-40D8002740B0}"/>
                </a:ext>
              </a:extLst>
            </p:cNvPr>
            <p:cNvSpPr>
              <a:spLocks/>
            </p:cNvSpPr>
            <p:nvPr userDrawn="1"/>
          </p:nvSpPr>
          <p:spPr bwMode="auto">
            <a:xfrm>
              <a:off x="1485058"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10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2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3" y="26"/>
                    <a:pt x="21" y="24"/>
                  </a:cubicBezTo>
                  <a:cubicBezTo>
                    <a:pt x="20" y="22"/>
                    <a:pt x="18" y="22"/>
                    <a:pt x="15" y="22"/>
                  </a:cubicBezTo>
                  <a:cubicBezTo>
                    <a:pt x="14" y="22"/>
                    <a:pt x="13" y="22"/>
                    <a:pt x="12" y="22"/>
                  </a:cubicBezTo>
                  <a:cubicBezTo>
                    <a:pt x="11" y="22"/>
                    <a:pt x="10" y="23"/>
                    <a:pt x="10" y="24"/>
                  </a:cubicBezTo>
                  <a:cubicBezTo>
                    <a:pt x="9" y="25"/>
                    <a:pt x="8" y="26"/>
                    <a:pt x="8" y="27"/>
                  </a:cubicBezTo>
                  <a:cubicBezTo>
                    <a:pt x="8"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9" y="17"/>
                  </a:cubicBezTo>
                  <a:cubicBezTo>
                    <a:pt x="10" y="17"/>
                    <a:pt x="11" y="16"/>
                    <a:pt x="12" y="16"/>
                  </a:cubicBezTo>
                  <a:cubicBezTo>
                    <a:pt x="12" y="15"/>
                    <a:pt x="13" y="15"/>
                    <a:pt x="14" y="15"/>
                  </a:cubicBezTo>
                  <a:cubicBezTo>
                    <a:pt x="15" y="15"/>
                    <a:pt x="16" y="15"/>
                    <a:pt x="17" y="15"/>
                  </a:cubicBezTo>
                  <a:cubicBezTo>
                    <a:pt x="19" y="15"/>
                    <a:pt x="21" y="15"/>
                    <a:pt x="23" y="16"/>
                  </a:cubicBezTo>
                  <a:cubicBezTo>
                    <a:pt x="25" y="16"/>
                    <a:pt x="26" y="17"/>
                    <a:pt x="27" y="19"/>
                  </a:cubicBezTo>
                  <a:cubicBezTo>
                    <a:pt x="29" y="20"/>
                    <a:pt x="29" y="22"/>
                    <a:pt x="30" y="24"/>
                  </a:cubicBezTo>
                  <a:cubicBezTo>
                    <a:pt x="31"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2" name="Freeform 19">
              <a:extLst>
                <a:ext uri="{FF2B5EF4-FFF2-40B4-BE49-F238E27FC236}">
                  <a16:creationId xmlns:a16="http://schemas.microsoft.com/office/drawing/2014/main" id="{3332407D-F423-41B2-985F-8A4482C61D9E}"/>
                </a:ext>
              </a:extLst>
            </p:cNvPr>
            <p:cNvSpPr>
              <a:spLocks noEditPoints="1"/>
            </p:cNvSpPr>
            <p:nvPr userDrawn="1"/>
          </p:nvSpPr>
          <p:spPr bwMode="auto">
            <a:xfrm>
              <a:off x="158270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8" y="40"/>
                    <a:pt x="17" y="40"/>
                  </a:cubicBezTo>
                  <a:cubicBezTo>
                    <a:pt x="15" y="40"/>
                    <a:pt x="14" y="39"/>
                    <a:pt x="12" y="39"/>
                  </a:cubicBezTo>
                  <a:cubicBezTo>
                    <a:pt x="11" y="38"/>
                    <a:pt x="10" y="38"/>
                    <a:pt x="8" y="37"/>
                  </a:cubicBezTo>
                  <a:cubicBezTo>
                    <a:pt x="7" y="36"/>
                    <a:pt x="6" y="35"/>
                    <a:pt x="5" y="34"/>
                  </a:cubicBezTo>
                  <a:cubicBezTo>
                    <a:pt x="4"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3" name="Freeform 20">
              <a:extLst>
                <a:ext uri="{FF2B5EF4-FFF2-40B4-BE49-F238E27FC236}">
                  <a16:creationId xmlns:a16="http://schemas.microsoft.com/office/drawing/2014/main" id="{44E3286F-1188-47B1-8B46-3498795DF2DC}"/>
                </a:ext>
              </a:extLst>
            </p:cNvPr>
            <p:cNvSpPr>
              <a:spLocks noEditPoints="1"/>
            </p:cNvSpPr>
            <p:nvPr userDrawn="1"/>
          </p:nvSpPr>
          <p:spPr bwMode="auto">
            <a:xfrm>
              <a:off x="1730922" y="6212575"/>
              <a:ext cx="80211" cy="134265"/>
            </a:xfrm>
            <a:custGeom>
              <a:avLst/>
              <a:gdLst>
                <a:gd name="T0" fmla="*/ 25 w 32"/>
                <a:gd name="T1" fmla="*/ 53 h 53"/>
                <a:gd name="T2" fmla="*/ 25 w 32"/>
                <a:gd name="T3" fmla="*/ 35 h 53"/>
                <a:gd name="T4" fmla="*/ 20 w 32"/>
                <a:gd name="T5" fmla="*/ 38 h 53"/>
                <a:gd name="T6" fmla="*/ 15 w 32"/>
                <a:gd name="T7" fmla="*/ 40 h 53"/>
                <a:gd name="T8" fmla="*/ 9 w 32"/>
                <a:gd name="T9" fmla="*/ 38 h 53"/>
                <a:gd name="T10" fmla="*/ 4 w 32"/>
                <a:gd name="T11" fmla="*/ 35 h 53"/>
                <a:gd name="T12" fmla="*/ 1 w 32"/>
                <a:gd name="T13" fmla="*/ 28 h 53"/>
                <a:gd name="T14" fmla="*/ 0 w 32"/>
                <a:gd name="T15" fmla="*/ 19 h 53"/>
                <a:gd name="T16" fmla="*/ 1 w 32"/>
                <a:gd name="T17" fmla="*/ 10 h 53"/>
                <a:gd name="T18" fmla="*/ 4 w 32"/>
                <a:gd name="T19" fmla="*/ 4 h 53"/>
                <a:gd name="T20" fmla="*/ 9 w 32"/>
                <a:gd name="T21" fmla="*/ 1 h 53"/>
                <a:gd name="T22" fmla="*/ 15 w 32"/>
                <a:gd name="T23" fmla="*/ 0 h 53"/>
                <a:gd name="T24" fmla="*/ 18 w 32"/>
                <a:gd name="T25" fmla="*/ 0 h 53"/>
                <a:gd name="T26" fmla="*/ 20 w 32"/>
                <a:gd name="T27" fmla="*/ 1 h 53"/>
                <a:gd name="T28" fmla="*/ 23 w 32"/>
                <a:gd name="T29" fmla="*/ 2 h 53"/>
                <a:gd name="T30" fmla="*/ 25 w 32"/>
                <a:gd name="T31" fmla="*/ 4 h 53"/>
                <a:gd name="T32" fmla="*/ 25 w 32"/>
                <a:gd name="T33" fmla="*/ 0 h 53"/>
                <a:gd name="T34" fmla="*/ 32 w 32"/>
                <a:gd name="T35" fmla="*/ 0 h 53"/>
                <a:gd name="T36" fmla="*/ 32 w 32"/>
                <a:gd name="T37" fmla="*/ 49 h 53"/>
                <a:gd name="T38" fmla="*/ 25 w 32"/>
                <a:gd name="T39" fmla="*/ 53 h 53"/>
                <a:gd name="T40" fmla="*/ 25 w 32"/>
                <a:gd name="T41" fmla="*/ 12 h 53"/>
                <a:gd name="T42" fmla="*/ 23 w 32"/>
                <a:gd name="T43" fmla="*/ 10 h 53"/>
                <a:gd name="T44" fmla="*/ 21 w 32"/>
                <a:gd name="T45" fmla="*/ 8 h 53"/>
                <a:gd name="T46" fmla="*/ 18 w 32"/>
                <a:gd name="T47" fmla="*/ 7 h 53"/>
                <a:gd name="T48" fmla="*/ 16 w 32"/>
                <a:gd name="T49" fmla="*/ 7 h 53"/>
                <a:gd name="T50" fmla="*/ 9 w 32"/>
                <a:gd name="T51" fmla="*/ 10 h 53"/>
                <a:gd name="T52" fmla="*/ 7 w 32"/>
                <a:gd name="T53" fmla="*/ 19 h 53"/>
                <a:gd name="T54" fmla="*/ 10 w 32"/>
                <a:gd name="T55" fmla="*/ 29 h 53"/>
                <a:gd name="T56" fmla="*/ 16 w 32"/>
                <a:gd name="T57" fmla="*/ 33 h 53"/>
                <a:gd name="T58" fmla="*/ 21 w 32"/>
                <a:gd name="T59" fmla="*/ 31 h 53"/>
                <a:gd name="T60" fmla="*/ 25 w 32"/>
                <a:gd name="T61" fmla="*/ 28 h 53"/>
                <a:gd name="T62" fmla="*/ 25 w 32"/>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2" h="53">
                  <a:moveTo>
                    <a:pt x="25" y="53"/>
                  </a:moveTo>
                  <a:cubicBezTo>
                    <a:pt x="25" y="35"/>
                    <a:pt x="25" y="35"/>
                    <a:pt x="25" y="35"/>
                  </a:cubicBezTo>
                  <a:cubicBezTo>
                    <a:pt x="23" y="36"/>
                    <a:pt x="22" y="37"/>
                    <a:pt x="20" y="38"/>
                  </a:cubicBezTo>
                  <a:cubicBezTo>
                    <a:pt x="18" y="39"/>
                    <a:pt x="17" y="40"/>
                    <a:pt x="15" y="40"/>
                  </a:cubicBezTo>
                  <a:cubicBezTo>
                    <a:pt x="13" y="40"/>
                    <a:pt x="11" y="39"/>
                    <a:pt x="9" y="38"/>
                  </a:cubicBezTo>
                  <a:cubicBezTo>
                    <a:pt x="7" y="38"/>
                    <a:pt x="5" y="36"/>
                    <a:pt x="4" y="35"/>
                  </a:cubicBezTo>
                  <a:cubicBezTo>
                    <a:pt x="3" y="33"/>
                    <a:pt x="2" y="31"/>
                    <a:pt x="1" y="28"/>
                  </a:cubicBezTo>
                  <a:cubicBezTo>
                    <a:pt x="0" y="26"/>
                    <a:pt x="0" y="23"/>
                    <a:pt x="0" y="19"/>
                  </a:cubicBezTo>
                  <a:cubicBezTo>
                    <a:pt x="0" y="16"/>
                    <a:pt x="0" y="13"/>
                    <a:pt x="1" y="10"/>
                  </a:cubicBezTo>
                  <a:cubicBezTo>
                    <a:pt x="2" y="8"/>
                    <a:pt x="3" y="6"/>
                    <a:pt x="4" y="4"/>
                  </a:cubicBezTo>
                  <a:cubicBezTo>
                    <a:pt x="6" y="3"/>
                    <a:pt x="7" y="2"/>
                    <a:pt x="9" y="1"/>
                  </a:cubicBezTo>
                  <a:cubicBezTo>
                    <a:pt x="11" y="0"/>
                    <a:pt x="13" y="0"/>
                    <a:pt x="15" y="0"/>
                  </a:cubicBezTo>
                  <a:cubicBezTo>
                    <a:pt x="16" y="0"/>
                    <a:pt x="17" y="0"/>
                    <a:pt x="18" y="0"/>
                  </a:cubicBezTo>
                  <a:cubicBezTo>
                    <a:pt x="19" y="0"/>
                    <a:pt x="20" y="0"/>
                    <a:pt x="20" y="1"/>
                  </a:cubicBezTo>
                  <a:cubicBezTo>
                    <a:pt x="21" y="1"/>
                    <a:pt x="22" y="2"/>
                    <a:pt x="23" y="2"/>
                  </a:cubicBezTo>
                  <a:cubicBezTo>
                    <a:pt x="23" y="3"/>
                    <a:pt x="24" y="3"/>
                    <a:pt x="25" y="4"/>
                  </a:cubicBezTo>
                  <a:cubicBezTo>
                    <a:pt x="25" y="0"/>
                    <a:pt x="25" y="0"/>
                    <a:pt x="25" y="0"/>
                  </a:cubicBezTo>
                  <a:cubicBezTo>
                    <a:pt x="32" y="0"/>
                    <a:pt x="32" y="0"/>
                    <a:pt x="32" y="0"/>
                  </a:cubicBezTo>
                  <a:cubicBezTo>
                    <a:pt x="32" y="49"/>
                    <a:pt x="32" y="49"/>
                    <a:pt x="32" y="49"/>
                  </a:cubicBezTo>
                  <a:lnTo>
                    <a:pt x="25" y="53"/>
                  </a:lnTo>
                  <a:close/>
                  <a:moveTo>
                    <a:pt x="25" y="12"/>
                  </a:moveTo>
                  <a:cubicBezTo>
                    <a:pt x="24" y="11"/>
                    <a:pt x="24" y="10"/>
                    <a:pt x="23" y="10"/>
                  </a:cubicBezTo>
                  <a:cubicBezTo>
                    <a:pt x="23" y="9"/>
                    <a:pt x="22" y="9"/>
                    <a:pt x="21" y="8"/>
                  </a:cubicBezTo>
                  <a:cubicBezTo>
                    <a:pt x="20" y="8"/>
                    <a:pt x="19" y="7"/>
                    <a:pt x="18" y="7"/>
                  </a:cubicBezTo>
                  <a:cubicBezTo>
                    <a:pt x="18" y="7"/>
                    <a:pt x="17" y="7"/>
                    <a:pt x="16" y="7"/>
                  </a:cubicBezTo>
                  <a:cubicBezTo>
                    <a:pt x="13" y="7"/>
                    <a:pt x="11" y="8"/>
                    <a:pt x="9" y="10"/>
                  </a:cubicBezTo>
                  <a:cubicBezTo>
                    <a:pt x="8" y="12"/>
                    <a:pt x="7" y="15"/>
                    <a:pt x="7" y="19"/>
                  </a:cubicBezTo>
                  <a:cubicBezTo>
                    <a:pt x="7" y="23"/>
                    <a:pt x="8" y="27"/>
                    <a:pt x="10" y="29"/>
                  </a:cubicBezTo>
                  <a:cubicBezTo>
                    <a:pt x="11" y="31"/>
                    <a:pt x="13" y="33"/>
                    <a:pt x="16" y="33"/>
                  </a:cubicBezTo>
                  <a:cubicBezTo>
                    <a:pt x="18" y="33"/>
                    <a:pt x="19" y="32"/>
                    <a:pt x="21" y="31"/>
                  </a:cubicBezTo>
                  <a:cubicBezTo>
                    <a:pt x="22" y="30"/>
                    <a:pt x="24" y="29"/>
                    <a:pt x="25" y="28"/>
                  </a:cubicBezTo>
                  <a:lnTo>
                    <a:pt x="25"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4" name="Freeform 21">
              <a:extLst>
                <a:ext uri="{FF2B5EF4-FFF2-40B4-BE49-F238E27FC236}">
                  <a16:creationId xmlns:a16="http://schemas.microsoft.com/office/drawing/2014/main" id="{E7BD9E0B-920A-4409-95E7-40A47107B346}"/>
                </a:ext>
              </a:extLst>
            </p:cNvPr>
            <p:cNvSpPr>
              <a:spLocks/>
            </p:cNvSpPr>
            <p:nvPr userDrawn="1"/>
          </p:nvSpPr>
          <p:spPr bwMode="auto">
            <a:xfrm>
              <a:off x="1835545" y="6212575"/>
              <a:ext cx="78468" cy="101135"/>
            </a:xfrm>
            <a:custGeom>
              <a:avLst/>
              <a:gdLst>
                <a:gd name="T0" fmla="*/ 24 w 31"/>
                <a:gd name="T1" fmla="*/ 39 h 40"/>
                <a:gd name="T2" fmla="*/ 24 w 31"/>
                <a:gd name="T3" fmla="*/ 35 h 40"/>
                <a:gd name="T4" fmla="*/ 20 w 31"/>
                <a:gd name="T5" fmla="*/ 38 h 40"/>
                <a:gd name="T6" fmla="*/ 14 w 31"/>
                <a:gd name="T7" fmla="*/ 40 h 40"/>
                <a:gd name="T8" fmla="*/ 4 w 31"/>
                <a:gd name="T9" fmla="*/ 35 h 40"/>
                <a:gd name="T10" fmla="*/ 0 w 31"/>
                <a:gd name="T11" fmla="*/ 22 h 40"/>
                <a:gd name="T12" fmla="*/ 0 w 31"/>
                <a:gd name="T13" fmla="*/ 0 h 40"/>
                <a:gd name="T14" fmla="*/ 8 w 31"/>
                <a:gd name="T15" fmla="*/ 0 h 40"/>
                <a:gd name="T16" fmla="*/ 8 w 31"/>
                <a:gd name="T17" fmla="*/ 22 h 40"/>
                <a:gd name="T18" fmla="*/ 10 w 31"/>
                <a:gd name="T19" fmla="*/ 30 h 40"/>
                <a:gd name="T20" fmla="*/ 16 w 31"/>
                <a:gd name="T21" fmla="*/ 33 h 40"/>
                <a:gd name="T22" fmla="*/ 22 w 31"/>
                <a:gd name="T23" fmla="*/ 30 h 40"/>
                <a:gd name="T24" fmla="*/ 24 w 31"/>
                <a:gd name="T25" fmla="*/ 23 h 40"/>
                <a:gd name="T26" fmla="*/ 24 w 31"/>
                <a:gd name="T27" fmla="*/ 0 h 40"/>
                <a:gd name="T28" fmla="*/ 31 w 31"/>
                <a:gd name="T29" fmla="*/ 0 h 40"/>
                <a:gd name="T30" fmla="*/ 31 w 31"/>
                <a:gd name="T31" fmla="*/ 39 h 40"/>
                <a:gd name="T32" fmla="*/ 24 w 31"/>
                <a:gd name="T33" fmla="*/ 3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24" y="39"/>
                  </a:moveTo>
                  <a:cubicBezTo>
                    <a:pt x="24" y="35"/>
                    <a:pt x="24" y="35"/>
                    <a:pt x="24" y="35"/>
                  </a:cubicBezTo>
                  <a:cubicBezTo>
                    <a:pt x="23" y="36"/>
                    <a:pt x="22" y="38"/>
                    <a:pt x="20" y="38"/>
                  </a:cubicBezTo>
                  <a:cubicBezTo>
                    <a:pt x="18" y="39"/>
                    <a:pt x="16" y="40"/>
                    <a:pt x="14" y="40"/>
                  </a:cubicBezTo>
                  <a:cubicBezTo>
                    <a:pt x="10" y="40"/>
                    <a:pt x="6" y="38"/>
                    <a:pt x="4" y="35"/>
                  </a:cubicBezTo>
                  <a:cubicBezTo>
                    <a:pt x="2" y="32"/>
                    <a:pt x="0" y="28"/>
                    <a:pt x="0" y="22"/>
                  </a:cubicBezTo>
                  <a:cubicBezTo>
                    <a:pt x="0" y="0"/>
                    <a:pt x="0" y="0"/>
                    <a:pt x="0" y="0"/>
                  </a:cubicBezTo>
                  <a:cubicBezTo>
                    <a:pt x="8" y="0"/>
                    <a:pt x="8" y="0"/>
                    <a:pt x="8" y="0"/>
                  </a:cubicBezTo>
                  <a:cubicBezTo>
                    <a:pt x="8" y="22"/>
                    <a:pt x="8" y="22"/>
                    <a:pt x="8" y="22"/>
                  </a:cubicBezTo>
                  <a:cubicBezTo>
                    <a:pt x="8" y="26"/>
                    <a:pt x="9" y="28"/>
                    <a:pt x="10" y="30"/>
                  </a:cubicBezTo>
                  <a:cubicBezTo>
                    <a:pt x="11" y="32"/>
                    <a:pt x="13" y="33"/>
                    <a:pt x="16" y="33"/>
                  </a:cubicBezTo>
                  <a:cubicBezTo>
                    <a:pt x="18" y="33"/>
                    <a:pt x="20" y="32"/>
                    <a:pt x="22" y="30"/>
                  </a:cubicBezTo>
                  <a:cubicBezTo>
                    <a:pt x="23" y="28"/>
                    <a:pt x="24" y="26"/>
                    <a:pt x="24" y="23"/>
                  </a:cubicBezTo>
                  <a:cubicBezTo>
                    <a:pt x="24" y="0"/>
                    <a:pt x="24" y="0"/>
                    <a:pt x="24" y="0"/>
                  </a:cubicBezTo>
                  <a:cubicBezTo>
                    <a:pt x="31" y="0"/>
                    <a:pt x="31" y="0"/>
                    <a:pt x="31" y="0"/>
                  </a:cubicBezTo>
                  <a:cubicBezTo>
                    <a:pt x="31" y="39"/>
                    <a:pt x="31" y="39"/>
                    <a:pt x="31" y="39"/>
                  </a:cubicBezTo>
                  <a:lnTo>
                    <a:pt x="24"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5" name="Freeform 22">
              <a:extLst>
                <a:ext uri="{FF2B5EF4-FFF2-40B4-BE49-F238E27FC236}">
                  <a16:creationId xmlns:a16="http://schemas.microsoft.com/office/drawing/2014/main" id="{9D2625B8-0A5B-46EF-8302-77353AB0D3A9}"/>
                </a:ext>
              </a:extLst>
            </p:cNvPr>
            <p:cNvSpPr>
              <a:spLocks noEditPoints="1"/>
            </p:cNvSpPr>
            <p:nvPr userDrawn="1"/>
          </p:nvSpPr>
          <p:spPr bwMode="auto">
            <a:xfrm>
              <a:off x="1934936"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6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6"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4"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1"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6" y="16"/>
                  </a:moveTo>
                  <a:cubicBezTo>
                    <a:pt x="25" y="15"/>
                    <a:pt x="25" y="13"/>
                    <a:pt x="25" y="12"/>
                  </a:cubicBezTo>
                  <a:cubicBezTo>
                    <a:pt x="24" y="11"/>
                    <a:pt x="24" y="10"/>
                    <a:pt x="23" y="9"/>
                  </a:cubicBezTo>
                  <a:cubicBezTo>
                    <a:pt x="22" y="8"/>
                    <a:pt x="22"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6" name="Freeform 23">
              <a:extLst>
                <a:ext uri="{FF2B5EF4-FFF2-40B4-BE49-F238E27FC236}">
                  <a16:creationId xmlns:a16="http://schemas.microsoft.com/office/drawing/2014/main" id="{DE6C9E0E-C49B-4FBE-97F3-BB6DFAC57421}"/>
                </a:ext>
              </a:extLst>
            </p:cNvPr>
            <p:cNvSpPr>
              <a:spLocks/>
            </p:cNvSpPr>
            <p:nvPr userDrawn="1"/>
          </p:nvSpPr>
          <p:spPr bwMode="auto">
            <a:xfrm>
              <a:off x="2030841"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1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4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7 w 29"/>
                <a:gd name="T55" fmla="*/ 24 h 40"/>
                <a:gd name="T56" fmla="*/ 13 w 29"/>
                <a:gd name="T57" fmla="*/ 22 h 40"/>
                <a:gd name="T58" fmla="*/ 8 w 29"/>
                <a:gd name="T59" fmla="*/ 20 h 40"/>
                <a:gd name="T60" fmla="*/ 4 w 29"/>
                <a:gd name="T61" fmla="*/ 17 h 40"/>
                <a:gd name="T62" fmla="*/ 2 w 29"/>
                <a:gd name="T63" fmla="*/ 14 h 40"/>
                <a:gd name="T64" fmla="*/ 2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3" y="6"/>
                    <a:pt x="11" y="7"/>
                    <a:pt x="10" y="7"/>
                  </a:cubicBezTo>
                  <a:cubicBezTo>
                    <a:pt x="10" y="8"/>
                    <a:pt x="9" y="9"/>
                    <a:pt x="9" y="10"/>
                  </a:cubicBezTo>
                  <a:cubicBezTo>
                    <a:pt x="9" y="10"/>
                    <a:pt x="9" y="11"/>
                    <a:pt x="9" y="11"/>
                  </a:cubicBezTo>
                  <a:cubicBezTo>
                    <a:pt x="10" y="12"/>
                    <a:pt x="10" y="12"/>
                    <a:pt x="11"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4" y="29"/>
                    <a:pt x="4" y="29"/>
                    <a:pt x="4"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2" y="27"/>
                    <a:pt x="21" y="27"/>
                  </a:cubicBezTo>
                  <a:cubicBezTo>
                    <a:pt x="21" y="26"/>
                    <a:pt x="20" y="25"/>
                    <a:pt x="19" y="25"/>
                  </a:cubicBezTo>
                  <a:cubicBezTo>
                    <a:pt x="19" y="25"/>
                    <a:pt x="18" y="24"/>
                    <a:pt x="17" y="24"/>
                  </a:cubicBezTo>
                  <a:cubicBezTo>
                    <a:pt x="15" y="23"/>
                    <a:pt x="14" y="23"/>
                    <a:pt x="13" y="22"/>
                  </a:cubicBezTo>
                  <a:cubicBezTo>
                    <a:pt x="11" y="21"/>
                    <a:pt x="9" y="20"/>
                    <a:pt x="8" y="20"/>
                  </a:cubicBezTo>
                  <a:cubicBezTo>
                    <a:pt x="6" y="19"/>
                    <a:pt x="5" y="18"/>
                    <a:pt x="4" y="17"/>
                  </a:cubicBezTo>
                  <a:cubicBezTo>
                    <a:pt x="3" y="16"/>
                    <a:pt x="3" y="15"/>
                    <a:pt x="2" y="14"/>
                  </a:cubicBezTo>
                  <a:cubicBezTo>
                    <a:pt x="2" y="13"/>
                    <a:pt x="2" y="12"/>
                    <a:pt x="2" y="10"/>
                  </a:cubicBezTo>
                  <a:cubicBezTo>
                    <a:pt x="2"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7" name="Freeform 24">
              <a:extLst>
                <a:ext uri="{FF2B5EF4-FFF2-40B4-BE49-F238E27FC236}">
                  <a16:creationId xmlns:a16="http://schemas.microsoft.com/office/drawing/2014/main" id="{580801ED-9260-41DB-A0B7-5AF24B32272B}"/>
                </a:ext>
              </a:extLst>
            </p:cNvPr>
            <p:cNvSpPr>
              <a:spLocks/>
            </p:cNvSpPr>
            <p:nvPr userDrawn="1"/>
          </p:nvSpPr>
          <p:spPr bwMode="auto">
            <a:xfrm>
              <a:off x="2118027"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8" name="Freeform 25">
              <a:extLst>
                <a:ext uri="{FF2B5EF4-FFF2-40B4-BE49-F238E27FC236}">
                  <a16:creationId xmlns:a16="http://schemas.microsoft.com/office/drawing/2014/main" id="{3A9842FB-6E95-4D11-B5B9-58C4CB82C2FE}"/>
                </a:ext>
              </a:extLst>
            </p:cNvPr>
            <p:cNvSpPr>
              <a:spLocks noEditPoints="1"/>
            </p:cNvSpPr>
            <p:nvPr userDrawn="1"/>
          </p:nvSpPr>
          <p:spPr bwMode="auto">
            <a:xfrm>
              <a:off x="2194750" y="6175958"/>
              <a:ext cx="24412" cy="136010"/>
            </a:xfrm>
            <a:custGeom>
              <a:avLst/>
              <a:gdLst>
                <a:gd name="T0" fmla="*/ 10 w 10"/>
                <a:gd name="T1" fmla="*/ 5 h 53"/>
                <a:gd name="T2" fmla="*/ 9 w 10"/>
                <a:gd name="T3" fmla="*/ 6 h 53"/>
                <a:gd name="T4" fmla="*/ 8 w 10"/>
                <a:gd name="T5" fmla="*/ 8 h 53"/>
                <a:gd name="T6" fmla="*/ 7 w 10"/>
                <a:gd name="T7" fmla="*/ 9 h 53"/>
                <a:gd name="T8" fmla="*/ 5 w 10"/>
                <a:gd name="T9" fmla="*/ 9 h 53"/>
                <a:gd name="T10" fmla="*/ 3 w 10"/>
                <a:gd name="T11" fmla="*/ 9 h 53"/>
                <a:gd name="T12" fmla="*/ 1 w 10"/>
                <a:gd name="T13" fmla="*/ 8 h 53"/>
                <a:gd name="T14" fmla="*/ 0 w 10"/>
                <a:gd name="T15" fmla="*/ 6 h 53"/>
                <a:gd name="T16" fmla="*/ 0 w 10"/>
                <a:gd name="T17" fmla="*/ 5 h 53"/>
                <a:gd name="T18" fmla="*/ 0 w 10"/>
                <a:gd name="T19" fmla="*/ 3 h 53"/>
                <a:gd name="T20" fmla="*/ 1 w 10"/>
                <a:gd name="T21" fmla="*/ 1 h 53"/>
                <a:gd name="T22" fmla="*/ 3 w 10"/>
                <a:gd name="T23" fmla="*/ 0 h 53"/>
                <a:gd name="T24" fmla="*/ 5 w 10"/>
                <a:gd name="T25" fmla="*/ 0 h 53"/>
                <a:gd name="T26" fmla="*/ 7 w 10"/>
                <a:gd name="T27" fmla="*/ 0 h 53"/>
                <a:gd name="T28" fmla="*/ 8 w 10"/>
                <a:gd name="T29" fmla="*/ 1 h 53"/>
                <a:gd name="T30" fmla="*/ 9 w 10"/>
                <a:gd name="T31" fmla="*/ 3 h 53"/>
                <a:gd name="T32" fmla="*/ 10 w 10"/>
                <a:gd name="T33" fmla="*/ 5 h 53"/>
                <a:gd name="T34" fmla="*/ 1 w 10"/>
                <a:gd name="T35" fmla="*/ 53 h 53"/>
                <a:gd name="T36" fmla="*/ 1 w 10"/>
                <a:gd name="T37" fmla="*/ 14 h 53"/>
                <a:gd name="T38" fmla="*/ 9 w 10"/>
                <a:gd name="T39" fmla="*/ 14 h 53"/>
                <a:gd name="T40" fmla="*/ 9 w 10"/>
                <a:gd name="T41" fmla="*/ 53 h 53"/>
                <a:gd name="T42" fmla="*/ 1 w 10"/>
                <a:gd name="T4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 h="53">
                  <a:moveTo>
                    <a:pt x="10" y="5"/>
                  </a:moveTo>
                  <a:cubicBezTo>
                    <a:pt x="10" y="5"/>
                    <a:pt x="10" y="6"/>
                    <a:pt x="9" y="6"/>
                  </a:cubicBezTo>
                  <a:cubicBezTo>
                    <a:pt x="9" y="7"/>
                    <a:pt x="9" y="8"/>
                    <a:pt x="8" y="8"/>
                  </a:cubicBezTo>
                  <a:cubicBezTo>
                    <a:pt x="8" y="8"/>
                    <a:pt x="7" y="9"/>
                    <a:pt x="7" y="9"/>
                  </a:cubicBezTo>
                  <a:cubicBezTo>
                    <a:pt x="6" y="9"/>
                    <a:pt x="6" y="9"/>
                    <a:pt x="5" y="9"/>
                  </a:cubicBezTo>
                  <a:cubicBezTo>
                    <a:pt x="4" y="9"/>
                    <a:pt x="4" y="9"/>
                    <a:pt x="3" y="9"/>
                  </a:cubicBezTo>
                  <a:cubicBezTo>
                    <a:pt x="2" y="9"/>
                    <a:pt x="2" y="8"/>
                    <a:pt x="1" y="8"/>
                  </a:cubicBezTo>
                  <a:cubicBezTo>
                    <a:pt x="1" y="8"/>
                    <a:pt x="1" y="7"/>
                    <a:pt x="0" y="6"/>
                  </a:cubicBezTo>
                  <a:cubicBezTo>
                    <a:pt x="0" y="6"/>
                    <a:pt x="0" y="5"/>
                    <a:pt x="0" y="5"/>
                  </a:cubicBezTo>
                  <a:cubicBezTo>
                    <a:pt x="0" y="4"/>
                    <a:pt x="0" y="3"/>
                    <a:pt x="0" y="3"/>
                  </a:cubicBezTo>
                  <a:cubicBezTo>
                    <a:pt x="1" y="2"/>
                    <a:pt x="1" y="2"/>
                    <a:pt x="1" y="1"/>
                  </a:cubicBezTo>
                  <a:cubicBezTo>
                    <a:pt x="2" y="1"/>
                    <a:pt x="2" y="0"/>
                    <a:pt x="3" y="0"/>
                  </a:cubicBezTo>
                  <a:cubicBezTo>
                    <a:pt x="4" y="0"/>
                    <a:pt x="4" y="0"/>
                    <a:pt x="5" y="0"/>
                  </a:cubicBezTo>
                  <a:cubicBezTo>
                    <a:pt x="6" y="0"/>
                    <a:pt x="6" y="0"/>
                    <a:pt x="7" y="0"/>
                  </a:cubicBezTo>
                  <a:cubicBezTo>
                    <a:pt x="7" y="0"/>
                    <a:pt x="8" y="1"/>
                    <a:pt x="8" y="1"/>
                  </a:cubicBezTo>
                  <a:cubicBezTo>
                    <a:pt x="9" y="2"/>
                    <a:pt x="9" y="2"/>
                    <a:pt x="9" y="3"/>
                  </a:cubicBezTo>
                  <a:cubicBezTo>
                    <a:pt x="10" y="3"/>
                    <a:pt x="10" y="4"/>
                    <a:pt x="10" y="5"/>
                  </a:cubicBezTo>
                  <a:close/>
                  <a:moveTo>
                    <a:pt x="1" y="53"/>
                  </a:moveTo>
                  <a:cubicBezTo>
                    <a:pt x="1" y="14"/>
                    <a:pt x="1" y="14"/>
                    <a:pt x="1" y="14"/>
                  </a:cubicBezTo>
                  <a:cubicBezTo>
                    <a:pt x="9" y="14"/>
                    <a:pt x="9" y="14"/>
                    <a:pt x="9" y="14"/>
                  </a:cubicBezTo>
                  <a:cubicBezTo>
                    <a:pt x="9" y="53"/>
                    <a:pt x="9" y="53"/>
                    <a:pt x="9" y="53"/>
                  </a:cubicBezTo>
                  <a:lnTo>
                    <a:pt x="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89" name="Freeform 26">
              <a:extLst>
                <a:ext uri="{FF2B5EF4-FFF2-40B4-BE49-F238E27FC236}">
                  <a16:creationId xmlns:a16="http://schemas.microsoft.com/office/drawing/2014/main" id="{076538BB-C266-42BE-916B-458AF9EFB224}"/>
                </a:ext>
              </a:extLst>
            </p:cNvPr>
            <p:cNvSpPr>
              <a:spLocks noEditPoints="1"/>
            </p:cNvSpPr>
            <p:nvPr userDrawn="1"/>
          </p:nvSpPr>
          <p:spPr bwMode="auto">
            <a:xfrm>
              <a:off x="2236599" y="6212575"/>
              <a:ext cx="87186" cy="101135"/>
            </a:xfrm>
            <a:custGeom>
              <a:avLst/>
              <a:gdLst>
                <a:gd name="T0" fmla="*/ 34 w 34"/>
                <a:gd name="T1" fmla="*/ 19 h 40"/>
                <a:gd name="T2" fmla="*/ 33 w 34"/>
                <a:gd name="T3" fmla="*/ 28 h 40"/>
                <a:gd name="T4" fmla="*/ 29 w 34"/>
                <a:gd name="T5" fmla="*/ 34 h 40"/>
                <a:gd name="T6" fmla="*/ 24 w 34"/>
                <a:gd name="T7" fmla="*/ 38 h 40"/>
                <a:gd name="T8" fmla="*/ 17 w 34"/>
                <a:gd name="T9" fmla="*/ 40 h 40"/>
                <a:gd name="T10" fmla="*/ 10 w 34"/>
                <a:gd name="T11" fmla="*/ 38 h 40"/>
                <a:gd name="T12" fmla="*/ 5 w 34"/>
                <a:gd name="T13" fmla="*/ 34 h 40"/>
                <a:gd name="T14" fmla="*/ 1 w 34"/>
                <a:gd name="T15" fmla="*/ 28 h 40"/>
                <a:gd name="T16" fmla="*/ 0 w 34"/>
                <a:gd name="T17" fmla="*/ 20 h 40"/>
                <a:gd name="T18" fmla="*/ 1 w 34"/>
                <a:gd name="T19" fmla="*/ 11 h 40"/>
                <a:gd name="T20" fmla="*/ 5 w 34"/>
                <a:gd name="T21" fmla="*/ 5 h 40"/>
                <a:gd name="T22" fmla="*/ 10 w 34"/>
                <a:gd name="T23" fmla="*/ 1 h 40"/>
                <a:gd name="T24" fmla="*/ 17 w 34"/>
                <a:gd name="T25" fmla="*/ 0 h 40"/>
                <a:gd name="T26" fmla="*/ 24 w 34"/>
                <a:gd name="T27" fmla="*/ 1 h 40"/>
                <a:gd name="T28" fmla="*/ 29 w 34"/>
                <a:gd name="T29" fmla="*/ 5 h 40"/>
                <a:gd name="T30" fmla="*/ 33 w 34"/>
                <a:gd name="T31" fmla="*/ 11 h 40"/>
                <a:gd name="T32" fmla="*/ 34 w 34"/>
                <a:gd name="T33" fmla="*/ 19 h 40"/>
                <a:gd name="T34" fmla="*/ 26 w 34"/>
                <a:gd name="T35" fmla="*/ 20 h 40"/>
                <a:gd name="T36" fmla="*/ 26 w 34"/>
                <a:gd name="T37" fmla="*/ 14 h 40"/>
                <a:gd name="T38" fmla="*/ 24 w 34"/>
                <a:gd name="T39" fmla="*/ 10 h 40"/>
                <a:gd name="T40" fmla="*/ 21 w 34"/>
                <a:gd name="T41" fmla="*/ 8 h 40"/>
                <a:gd name="T42" fmla="*/ 17 w 34"/>
                <a:gd name="T43" fmla="*/ 7 h 40"/>
                <a:gd name="T44" fmla="*/ 13 w 34"/>
                <a:gd name="T45" fmla="*/ 8 h 40"/>
                <a:gd name="T46" fmla="*/ 10 w 34"/>
                <a:gd name="T47" fmla="*/ 10 h 40"/>
                <a:gd name="T48" fmla="*/ 8 w 34"/>
                <a:gd name="T49" fmla="*/ 14 h 40"/>
                <a:gd name="T50" fmla="*/ 7 w 34"/>
                <a:gd name="T51" fmla="*/ 19 h 40"/>
                <a:gd name="T52" fmla="*/ 8 w 34"/>
                <a:gd name="T53" fmla="*/ 25 h 40"/>
                <a:gd name="T54" fmla="*/ 10 w 34"/>
                <a:gd name="T55" fmla="*/ 29 h 40"/>
                <a:gd name="T56" fmla="*/ 13 w 34"/>
                <a:gd name="T57" fmla="*/ 32 h 40"/>
                <a:gd name="T58" fmla="*/ 17 w 34"/>
                <a:gd name="T59" fmla="*/ 32 h 40"/>
                <a:gd name="T60" fmla="*/ 21 w 34"/>
                <a:gd name="T61" fmla="*/ 31 h 40"/>
                <a:gd name="T62" fmla="*/ 24 w 34"/>
                <a:gd name="T63" fmla="*/ 29 h 40"/>
                <a:gd name="T64" fmla="*/ 26 w 34"/>
                <a:gd name="T65" fmla="*/ 25 h 40"/>
                <a:gd name="T66" fmla="*/ 26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19"/>
                  </a:moveTo>
                  <a:cubicBezTo>
                    <a:pt x="34" y="23"/>
                    <a:pt x="34" y="25"/>
                    <a:pt x="33" y="28"/>
                  </a:cubicBezTo>
                  <a:cubicBezTo>
                    <a:pt x="32" y="30"/>
                    <a:pt x="31" y="33"/>
                    <a:pt x="29" y="34"/>
                  </a:cubicBezTo>
                  <a:cubicBezTo>
                    <a:pt x="28" y="36"/>
                    <a:pt x="26" y="37"/>
                    <a:pt x="24" y="38"/>
                  </a:cubicBezTo>
                  <a:cubicBezTo>
                    <a:pt x="21" y="39"/>
                    <a:pt x="19" y="40"/>
                    <a:pt x="17" y="40"/>
                  </a:cubicBezTo>
                  <a:cubicBezTo>
                    <a:pt x="14" y="40"/>
                    <a:pt x="12" y="39"/>
                    <a:pt x="10" y="38"/>
                  </a:cubicBezTo>
                  <a:cubicBezTo>
                    <a:pt x="8" y="37"/>
                    <a:pt x="6" y="36"/>
                    <a:pt x="5" y="34"/>
                  </a:cubicBezTo>
                  <a:cubicBezTo>
                    <a:pt x="3" y="32"/>
                    <a:pt x="2" y="30"/>
                    <a:pt x="1" y="28"/>
                  </a:cubicBezTo>
                  <a:cubicBezTo>
                    <a:pt x="0" y="25"/>
                    <a:pt x="0" y="23"/>
                    <a:pt x="0" y="20"/>
                  </a:cubicBezTo>
                  <a:cubicBezTo>
                    <a:pt x="0" y="16"/>
                    <a:pt x="0" y="14"/>
                    <a:pt x="1" y="11"/>
                  </a:cubicBezTo>
                  <a:cubicBezTo>
                    <a:pt x="2" y="9"/>
                    <a:pt x="3" y="7"/>
                    <a:pt x="5" y="5"/>
                  </a:cubicBezTo>
                  <a:cubicBezTo>
                    <a:pt x="6" y="3"/>
                    <a:pt x="8" y="2"/>
                    <a:pt x="10" y="1"/>
                  </a:cubicBezTo>
                  <a:cubicBezTo>
                    <a:pt x="12" y="0"/>
                    <a:pt x="14" y="0"/>
                    <a:pt x="17" y="0"/>
                  </a:cubicBezTo>
                  <a:cubicBezTo>
                    <a:pt x="19" y="0"/>
                    <a:pt x="22" y="0"/>
                    <a:pt x="24" y="1"/>
                  </a:cubicBezTo>
                  <a:cubicBezTo>
                    <a:pt x="26" y="2"/>
                    <a:pt x="28" y="3"/>
                    <a:pt x="29" y="5"/>
                  </a:cubicBezTo>
                  <a:cubicBezTo>
                    <a:pt x="31" y="7"/>
                    <a:pt x="32" y="9"/>
                    <a:pt x="33" y="11"/>
                  </a:cubicBezTo>
                  <a:cubicBezTo>
                    <a:pt x="34" y="14"/>
                    <a:pt x="34" y="16"/>
                    <a:pt x="34" y="19"/>
                  </a:cubicBezTo>
                  <a:close/>
                  <a:moveTo>
                    <a:pt x="26" y="20"/>
                  </a:moveTo>
                  <a:cubicBezTo>
                    <a:pt x="26" y="18"/>
                    <a:pt x="26" y="16"/>
                    <a:pt x="26" y="14"/>
                  </a:cubicBezTo>
                  <a:cubicBezTo>
                    <a:pt x="25" y="13"/>
                    <a:pt x="25" y="11"/>
                    <a:pt x="24" y="10"/>
                  </a:cubicBezTo>
                  <a:cubicBezTo>
                    <a:pt x="23" y="9"/>
                    <a:pt x="22" y="8"/>
                    <a:pt x="21" y="8"/>
                  </a:cubicBezTo>
                  <a:cubicBezTo>
                    <a:pt x="19" y="7"/>
                    <a:pt x="18" y="7"/>
                    <a:pt x="17" y="7"/>
                  </a:cubicBezTo>
                  <a:cubicBezTo>
                    <a:pt x="15" y="7"/>
                    <a:pt x="14" y="7"/>
                    <a:pt x="13" y="8"/>
                  </a:cubicBezTo>
                  <a:cubicBezTo>
                    <a:pt x="12" y="8"/>
                    <a:pt x="11" y="9"/>
                    <a:pt x="10" y="10"/>
                  </a:cubicBezTo>
                  <a:cubicBezTo>
                    <a:pt x="9" y="11"/>
                    <a:pt x="8" y="13"/>
                    <a:pt x="8" y="14"/>
                  </a:cubicBezTo>
                  <a:cubicBezTo>
                    <a:pt x="8" y="16"/>
                    <a:pt x="7" y="17"/>
                    <a:pt x="7" y="19"/>
                  </a:cubicBezTo>
                  <a:cubicBezTo>
                    <a:pt x="7" y="21"/>
                    <a:pt x="8" y="23"/>
                    <a:pt x="8" y="25"/>
                  </a:cubicBezTo>
                  <a:cubicBezTo>
                    <a:pt x="9" y="27"/>
                    <a:pt x="9" y="28"/>
                    <a:pt x="10" y="29"/>
                  </a:cubicBezTo>
                  <a:cubicBezTo>
                    <a:pt x="11" y="30"/>
                    <a:pt x="12" y="31"/>
                    <a:pt x="13" y="32"/>
                  </a:cubicBezTo>
                  <a:cubicBezTo>
                    <a:pt x="14" y="32"/>
                    <a:pt x="16" y="32"/>
                    <a:pt x="17" y="32"/>
                  </a:cubicBezTo>
                  <a:cubicBezTo>
                    <a:pt x="18" y="32"/>
                    <a:pt x="20" y="32"/>
                    <a:pt x="21" y="31"/>
                  </a:cubicBezTo>
                  <a:cubicBezTo>
                    <a:pt x="22" y="31"/>
                    <a:pt x="23" y="30"/>
                    <a:pt x="24" y="29"/>
                  </a:cubicBezTo>
                  <a:cubicBezTo>
                    <a:pt x="25" y="27"/>
                    <a:pt x="25" y="26"/>
                    <a:pt x="26" y="25"/>
                  </a:cubicBezTo>
                  <a:cubicBezTo>
                    <a:pt x="26" y="23"/>
                    <a:pt x="26" y="21"/>
                    <a:pt x="26"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0" name="Freeform 27">
              <a:extLst>
                <a:ext uri="{FF2B5EF4-FFF2-40B4-BE49-F238E27FC236}">
                  <a16:creationId xmlns:a16="http://schemas.microsoft.com/office/drawing/2014/main" id="{A7C95C0F-A1E9-46B5-B9DB-284F35C72801}"/>
                </a:ext>
              </a:extLst>
            </p:cNvPr>
            <p:cNvSpPr>
              <a:spLocks/>
            </p:cNvSpPr>
            <p:nvPr userDrawn="1"/>
          </p:nvSpPr>
          <p:spPr bwMode="auto">
            <a:xfrm>
              <a:off x="2344710" y="6212575"/>
              <a:ext cx="78468" cy="99391"/>
            </a:xfrm>
            <a:custGeom>
              <a:avLst/>
              <a:gdLst>
                <a:gd name="T0" fmla="*/ 23 w 31"/>
                <a:gd name="T1" fmla="*/ 39 h 39"/>
                <a:gd name="T2" fmla="*/ 23 w 31"/>
                <a:gd name="T3" fmla="*/ 17 h 39"/>
                <a:gd name="T4" fmla="*/ 21 w 31"/>
                <a:gd name="T5" fmla="*/ 9 h 39"/>
                <a:gd name="T6" fmla="*/ 15 w 31"/>
                <a:gd name="T7" fmla="*/ 7 h 39"/>
                <a:gd name="T8" fmla="*/ 12 w 31"/>
                <a:gd name="T9" fmla="*/ 7 h 39"/>
                <a:gd name="T10" fmla="*/ 9 w 31"/>
                <a:gd name="T11" fmla="*/ 9 h 39"/>
                <a:gd name="T12" fmla="*/ 8 w 31"/>
                <a:gd name="T13" fmla="*/ 12 h 39"/>
                <a:gd name="T14" fmla="*/ 7 w 31"/>
                <a:gd name="T15" fmla="*/ 16 h 39"/>
                <a:gd name="T16" fmla="*/ 7 w 31"/>
                <a:gd name="T17" fmla="*/ 39 h 39"/>
                <a:gd name="T18" fmla="*/ 0 w 31"/>
                <a:gd name="T19" fmla="*/ 39 h 39"/>
                <a:gd name="T20" fmla="*/ 0 w 31"/>
                <a:gd name="T21" fmla="*/ 0 h 39"/>
                <a:gd name="T22" fmla="*/ 7 w 31"/>
                <a:gd name="T23" fmla="*/ 0 h 39"/>
                <a:gd name="T24" fmla="*/ 7 w 31"/>
                <a:gd name="T25" fmla="*/ 4 h 39"/>
                <a:gd name="T26" fmla="*/ 9 w 31"/>
                <a:gd name="T27" fmla="*/ 2 h 39"/>
                <a:gd name="T28" fmla="*/ 11 w 31"/>
                <a:gd name="T29" fmla="*/ 1 h 39"/>
                <a:gd name="T30" fmla="*/ 14 w 31"/>
                <a:gd name="T31" fmla="*/ 0 h 39"/>
                <a:gd name="T32" fmla="*/ 17 w 31"/>
                <a:gd name="T33" fmla="*/ 0 h 39"/>
                <a:gd name="T34" fmla="*/ 23 w 31"/>
                <a:gd name="T35" fmla="*/ 1 h 39"/>
                <a:gd name="T36" fmla="*/ 27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1" y="9"/>
                  </a:cubicBezTo>
                  <a:cubicBezTo>
                    <a:pt x="20" y="7"/>
                    <a:pt x="18" y="7"/>
                    <a:pt x="15" y="7"/>
                  </a:cubicBezTo>
                  <a:cubicBezTo>
                    <a:pt x="14" y="7"/>
                    <a:pt x="13" y="7"/>
                    <a:pt x="12" y="7"/>
                  </a:cubicBezTo>
                  <a:cubicBezTo>
                    <a:pt x="11" y="8"/>
                    <a:pt x="10" y="8"/>
                    <a:pt x="9" y="9"/>
                  </a:cubicBezTo>
                  <a:cubicBezTo>
                    <a:pt x="9" y="10"/>
                    <a:pt x="8" y="11"/>
                    <a:pt x="8" y="12"/>
                  </a:cubicBezTo>
                  <a:cubicBezTo>
                    <a:pt x="8" y="14"/>
                    <a:pt x="7" y="15"/>
                    <a:pt x="7" y="16"/>
                  </a:cubicBezTo>
                  <a:cubicBezTo>
                    <a:pt x="7" y="39"/>
                    <a:pt x="7" y="39"/>
                    <a:pt x="7" y="39"/>
                  </a:cubicBezTo>
                  <a:cubicBezTo>
                    <a:pt x="0" y="39"/>
                    <a:pt x="0" y="39"/>
                    <a:pt x="0" y="39"/>
                  </a:cubicBezTo>
                  <a:cubicBezTo>
                    <a:pt x="0" y="0"/>
                    <a:pt x="0" y="0"/>
                    <a:pt x="0" y="0"/>
                  </a:cubicBezTo>
                  <a:cubicBezTo>
                    <a:pt x="7" y="0"/>
                    <a:pt x="7" y="0"/>
                    <a:pt x="7" y="0"/>
                  </a:cubicBezTo>
                  <a:cubicBezTo>
                    <a:pt x="7" y="4"/>
                    <a:pt x="7" y="4"/>
                    <a:pt x="7" y="4"/>
                  </a:cubicBezTo>
                  <a:cubicBezTo>
                    <a:pt x="8" y="3"/>
                    <a:pt x="8" y="3"/>
                    <a:pt x="9" y="2"/>
                  </a:cubicBezTo>
                  <a:cubicBezTo>
                    <a:pt x="10" y="2"/>
                    <a:pt x="11" y="1"/>
                    <a:pt x="11" y="1"/>
                  </a:cubicBezTo>
                  <a:cubicBezTo>
                    <a:pt x="12" y="0"/>
                    <a:pt x="13" y="0"/>
                    <a:pt x="14" y="0"/>
                  </a:cubicBezTo>
                  <a:cubicBezTo>
                    <a:pt x="15" y="0"/>
                    <a:pt x="16" y="0"/>
                    <a:pt x="17" y="0"/>
                  </a:cubicBezTo>
                  <a:cubicBezTo>
                    <a:pt x="19" y="0"/>
                    <a:pt x="21" y="0"/>
                    <a:pt x="23" y="1"/>
                  </a:cubicBezTo>
                  <a:cubicBezTo>
                    <a:pt x="25" y="1"/>
                    <a:pt x="26" y="2"/>
                    <a:pt x="27" y="4"/>
                  </a:cubicBezTo>
                  <a:cubicBezTo>
                    <a:pt x="28" y="5"/>
                    <a:pt x="29" y="7"/>
                    <a:pt x="30" y="9"/>
                  </a:cubicBezTo>
                  <a:cubicBezTo>
                    <a:pt x="30"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1" name="Freeform 28">
              <a:extLst>
                <a:ext uri="{FF2B5EF4-FFF2-40B4-BE49-F238E27FC236}">
                  <a16:creationId xmlns:a16="http://schemas.microsoft.com/office/drawing/2014/main" id="{BEEA6186-B2B9-4E5E-9631-B6332C7FDBA3}"/>
                </a:ext>
              </a:extLst>
            </p:cNvPr>
            <p:cNvSpPr>
              <a:spLocks/>
            </p:cNvSpPr>
            <p:nvPr userDrawn="1"/>
          </p:nvSpPr>
          <p:spPr bwMode="auto">
            <a:xfrm>
              <a:off x="2445845" y="6284068"/>
              <a:ext cx="31387"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4 w 12"/>
                <a:gd name="T11" fmla="*/ 11 h 12"/>
                <a:gd name="T12" fmla="*/ 2 w 12"/>
                <a:gd name="T13" fmla="*/ 10 h 12"/>
                <a:gd name="T14" fmla="*/ 1 w 12"/>
                <a:gd name="T15" fmla="*/ 8 h 12"/>
                <a:gd name="T16" fmla="*/ 0 w 12"/>
                <a:gd name="T17" fmla="*/ 6 h 12"/>
                <a:gd name="T18" fmla="*/ 1 w 12"/>
                <a:gd name="T19" fmla="*/ 4 h 12"/>
                <a:gd name="T20" fmla="*/ 2 w 12"/>
                <a:gd name="T21" fmla="*/ 2 h 12"/>
                <a:gd name="T22" fmla="*/ 4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4" y="11"/>
                  </a:cubicBezTo>
                  <a:cubicBezTo>
                    <a:pt x="3" y="11"/>
                    <a:pt x="2" y="10"/>
                    <a:pt x="2" y="10"/>
                  </a:cubicBezTo>
                  <a:cubicBezTo>
                    <a:pt x="1" y="9"/>
                    <a:pt x="1" y="9"/>
                    <a:pt x="1" y="8"/>
                  </a:cubicBezTo>
                  <a:cubicBezTo>
                    <a:pt x="0" y="7"/>
                    <a:pt x="0" y="7"/>
                    <a:pt x="0" y="6"/>
                  </a:cubicBezTo>
                  <a:cubicBezTo>
                    <a:pt x="0" y="5"/>
                    <a:pt x="0" y="4"/>
                    <a:pt x="1" y="4"/>
                  </a:cubicBezTo>
                  <a:cubicBezTo>
                    <a:pt x="1" y="3"/>
                    <a:pt x="1" y="2"/>
                    <a:pt x="2" y="2"/>
                  </a:cubicBezTo>
                  <a:cubicBezTo>
                    <a:pt x="2" y="1"/>
                    <a:pt x="3" y="1"/>
                    <a:pt x="4"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2" name="Freeform 29">
              <a:extLst>
                <a:ext uri="{FF2B5EF4-FFF2-40B4-BE49-F238E27FC236}">
                  <a16:creationId xmlns:a16="http://schemas.microsoft.com/office/drawing/2014/main" id="{E9B00A5D-BE04-4D7D-B4A2-204E2D0E0485}"/>
                </a:ext>
              </a:extLst>
            </p:cNvPr>
            <p:cNvSpPr>
              <a:spLocks/>
            </p:cNvSpPr>
            <p:nvPr userDrawn="1"/>
          </p:nvSpPr>
          <p:spPr bwMode="auto">
            <a:xfrm>
              <a:off x="2540006" y="6181188"/>
              <a:ext cx="97648" cy="130778"/>
            </a:xfrm>
            <a:custGeom>
              <a:avLst/>
              <a:gdLst>
                <a:gd name="T0" fmla="*/ 34 w 56"/>
                <a:gd name="T1" fmla="*/ 11 h 75"/>
                <a:gd name="T2" fmla="*/ 34 w 56"/>
                <a:gd name="T3" fmla="*/ 75 h 75"/>
                <a:gd name="T4" fmla="*/ 22 w 56"/>
                <a:gd name="T5" fmla="*/ 75 h 75"/>
                <a:gd name="T6" fmla="*/ 22 w 56"/>
                <a:gd name="T7" fmla="*/ 11 h 75"/>
                <a:gd name="T8" fmla="*/ 0 w 56"/>
                <a:gd name="T9" fmla="*/ 11 h 75"/>
                <a:gd name="T10" fmla="*/ 0 w 56"/>
                <a:gd name="T11" fmla="*/ 0 h 75"/>
                <a:gd name="T12" fmla="*/ 56 w 56"/>
                <a:gd name="T13" fmla="*/ 0 h 75"/>
                <a:gd name="T14" fmla="*/ 56 w 56"/>
                <a:gd name="T15" fmla="*/ 11 h 75"/>
                <a:gd name="T16" fmla="*/ 34 w 56"/>
                <a:gd name="T17" fmla="*/ 11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5">
                  <a:moveTo>
                    <a:pt x="34" y="11"/>
                  </a:moveTo>
                  <a:lnTo>
                    <a:pt x="34" y="75"/>
                  </a:lnTo>
                  <a:lnTo>
                    <a:pt x="22" y="75"/>
                  </a:lnTo>
                  <a:lnTo>
                    <a:pt x="22" y="11"/>
                  </a:lnTo>
                  <a:lnTo>
                    <a:pt x="0" y="11"/>
                  </a:lnTo>
                  <a:lnTo>
                    <a:pt x="0" y="0"/>
                  </a:lnTo>
                  <a:lnTo>
                    <a:pt x="56" y="0"/>
                  </a:lnTo>
                  <a:lnTo>
                    <a:pt x="56" y="11"/>
                  </a:lnTo>
                  <a:lnTo>
                    <a:pt x="34" y="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3" name="Freeform 30">
              <a:extLst>
                <a:ext uri="{FF2B5EF4-FFF2-40B4-BE49-F238E27FC236}">
                  <a16:creationId xmlns:a16="http://schemas.microsoft.com/office/drawing/2014/main" id="{72C85502-C007-49A3-A8AB-2BCC8C53945F}"/>
                </a:ext>
              </a:extLst>
            </p:cNvPr>
            <p:cNvSpPr>
              <a:spLocks/>
            </p:cNvSpPr>
            <p:nvPr userDrawn="1"/>
          </p:nvSpPr>
          <p:spPr bwMode="auto">
            <a:xfrm>
              <a:off x="2651603" y="6174213"/>
              <a:ext cx="80211" cy="137753"/>
            </a:xfrm>
            <a:custGeom>
              <a:avLst/>
              <a:gdLst>
                <a:gd name="T0" fmla="*/ 24 w 31"/>
                <a:gd name="T1" fmla="*/ 54 h 54"/>
                <a:gd name="T2" fmla="*/ 24 w 31"/>
                <a:gd name="T3" fmla="*/ 32 h 54"/>
                <a:gd name="T4" fmla="*/ 22 w 31"/>
                <a:gd name="T5" fmla="*/ 24 h 54"/>
                <a:gd name="T6" fmla="*/ 16 w 31"/>
                <a:gd name="T7" fmla="*/ 22 h 54"/>
                <a:gd name="T8" fmla="*/ 13 w 31"/>
                <a:gd name="T9" fmla="*/ 22 h 54"/>
                <a:gd name="T10" fmla="*/ 10 w 31"/>
                <a:gd name="T11" fmla="*/ 24 h 54"/>
                <a:gd name="T12" fmla="*/ 8 w 31"/>
                <a:gd name="T13" fmla="*/ 27 h 54"/>
                <a:gd name="T14" fmla="*/ 8 w 31"/>
                <a:gd name="T15" fmla="*/ 31 h 54"/>
                <a:gd name="T16" fmla="*/ 8 w 31"/>
                <a:gd name="T17" fmla="*/ 54 h 54"/>
                <a:gd name="T18" fmla="*/ 0 w 31"/>
                <a:gd name="T19" fmla="*/ 54 h 54"/>
                <a:gd name="T20" fmla="*/ 0 w 31"/>
                <a:gd name="T21" fmla="*/ 4 h 54"/>
                <a:gd name="T22" fmla="*/ 8 w 31"/>
                <a:gd name="T23" fmla="*/ 0 h 54"/>
                <a:gd name="T24" fmla="*/ 8 w 31"/>
                <a:gd name="T25" fmla="*/ 19 h 54"/>
                <a:gd name="T26" fmla="*/ 10 w 31"/>
                <a:gd name="T27" fmla="*/ 17 h 54"/>
                <a:gd name="T28" fmla="*/ 12 w 31"/>
                <a:gd name="T29" fmla="*/ 16 h 54"/>
                <a:gd name="T30" fmla="*/ 15 w 31"/>
                <a:gd name="T31" fmla="*/ 15 h 54"/>
                <a:gd name="T32" fmla="*/ 18 w 31"/>
                <a:gd name="T33" fmla="*/ 15 h 54"/>
                <a:gd name="T34" fmla="*/ 24 w 31"/>
                <a:gd name="T35" fmla="*/ 16 h 54"/>
                <a:gd name="T36" fmla="*/ 28 w 31"/>
                <a:gd name="T37" fmla="*/ 19 h 54"/>
                <a:gd name="T38" fmla="*/ 30 w 31"/>
                <a:gd name="T39" fmla="*/ 24 h 54"/>
                <a:gd name="T40" fmla="*/ 31 w 31"/>
                <a:gd name="T41" fmla="*/ 32 h 54"/>
                <a:gd name="T42" fmla="*/ 31 w 31"/>
                <a:gd name="T43" fmla="*/ 54 h 54"/>
                <a:gd name="T44" fmla="*/ 24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4" y="54"/>
                  </a:moveTo>
                  <a:cubicBezTo>
                    <a:pt x="24" y="32"/>
                    <a:pt x="24" y="32"/>
                    <a:pt x="24" y="32"/>
                  </a:cubicBezTo>
                  <a:cubicBezTo>
                    <a:pt x="24" y="28"/>
                    <a:pt x="23" y="26"/>
                    <a:pt x="22" y="24"/>
                  </a:cubicBezTo>
                  <a:cubicBezTo>
                    <a:pt x="21" y="22"/>
                    <a:pt x="19" y="22"/>
                    <a:pt x="16" y="22"/>
                  </a:cubicBezTo>
                  <a:cubicBezTo>
                    <a:pt x="15" y="22"/>
                    <a:pt x="14" y="22"/>
                    <a:pt x="13" y="22"/>
                  </a:cubicBezTo>
                  <a:cubicBezTo>
                    <a:pt x="12" y="22"/>
                    <a:pt x="11" y="23"/>
                    <a:pt x="10" y="24"/>
                  </a:cubicBezTo>
                  <a:cubicBezTo>
                    <a:pt x="9" y="25"/>
                    <a:pt x="9" y="26"/>
                    <a:pt x="8" y="27"/>
                  </a:cubicBezTo>
                  <a:cubicBezTo>
                    <a:pt x="8" y="28"/>
                    <a:pt x="8" y="30"/>
                    <a:pt x="8" y="31"/>
                  </a:cubicBezTo>
                  <a:cubicBezTo>
                    <a:pt x="8" y="54"/>
                    <a:pt x="8" y="54"/>
                    <a:pt x="8" y="54"/>
                  </a:cubicBezTo>
                  <a:cubicBezTo>
                    <a:pt x="0" y="54"/>
                    <a:pt x="0" y="54"/>
                    <a:pt x="0" y="54"/>
                  </a:cubicBezTo>
                  <a:cubicBezTo>
                    <a:pt x="0" y="4"/>
                    <a:pt x="0" y="4"/>
                    <a:pt x="0" y="4"/>
                  </a:cubicBezTo>
                  <a:cubicBezTo>
                    <a:pt x="8" y="0"/>
                    <a:pt x="8" y="0"/>
                    <a:pt x="8" y="0"/>
                  </a:cubicBezTo>
                  <a:cubicBezTo>
                    <a:pt x="8" y="19"/>
                    <a:pt x="8" y="19"/>
                    <a:pt x="8" y="19"/>
                  </a:cubicBezTo>
                  <a:cubicBezTo>
                    <a:pt x="8" y="18"/>
                    <a:pt x="9" y="18"/>
                    <a:pt x="10" y="17"/>
                  </a:cubicBezTo>
                  <a:cubicBezTo>
                    <a:pt x="10" y="17"/>
                    <a:pt x="11" y="16"/>
                    <a:pt x="12" y="16"/>
                  </a:cubicBezTo>
                  <a:cubicBezTo>
                    <a:pt x="13" y="15"/>
                    <a:pt x="14" y="15"/>
                    <a:pt x="15" y="15"/>
                  </a:cubicBezTo>
                  <a:cubicBezTo>
                    <a:pt x="16" y="15"/>
                    <a:pt x="17" y="15"/>
                    <a:pt x="18" y="15"/>
                  </a:cubicBezTo>
                  <a:cubicBezTo>
                    <a:pt x="20" y="15"/>
                    <a:pt x="22" y="15"/>
                    <a:pt x="24" y="16"/>
                  </a:cubicBezTo>
                  <a:cubicBezTo>
                    <a:pt x="25" y="16"/>
                    <a:pt x="27" y="17"/>
                    <a:pt x="28" y="19"/>
                  </a:cubicBezTo>
                  <a:cubicBezTo>
                    <a:pt x="29" y="20"/>
                    <a:pt x="30" y="22"/>
                    <a:pt x="30" y="24"/>
                  </a:cubicBezTo>
                  <a:cubicBezTo>
                    <a:pt x="31" y="27"/>
                    <a:pt x="31" y="29"/>
                    <a:pt x="31" y="32"/>
                  </a:cubicBezTo>
                  <a:cubicBezTo>
                    <a:pt x="31" y="54"/>
                    <a:pt x="31" y="54"/>
                    <a:pt x="31" y="54"/>
                  </a:cubicBezTo>
                  <a:lnTo>
                    <a:pt x="24"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4" name="Freeform 31">
              <a:extLst>
                <a:ext uri="{FF2B5EF4-FFF2-40B4-BE49-F238E27FC236}">
                  <a16:creationId xmlns:a16="http://schemas.microsoft.com/office/drawing/2014/main" id="{9A42586B-B388-4323-82EB-ED3423EDC5DE}"/>
                </a:ext>
              </a:extLst>
            </p:cNvPr>
            <p:cNvSpPr>
              <a:spLocks noEditPoints="1"/>
            </p:cNvSpPr>
            <p:nvPr userDrawn="1"/>
          </p:nvSpPr>
          <p:spPr bwMode="auto">
            <a:xfrm>
              <a:off x="2750996" y="6212575"/>
              <a:ext cx="85443" cy="101135"/>
            </a:xfrm>
            <a:custGeom>
              <a:avLst/>
              <a:gdLst>
                <a:gd name="T0" fmla="*/ 33 w 33"/>
                <a:gd name="T1" fmla="*/ 19 h 40"/>
                <a:gd name="T2" fmla="*/ 33 w 33"/>
                <a:gd name="T3" fmla="*/ 21 h 40"/>
                <a:gd name="T4" fmla="*/ 33 w 33"/>
                <a:gd name="T5" fmla="*/ 22 h 40"/>
                <a:gd name="T6" fmla="*/ 7 w 33"/>
                <a:gd name="T7" fmla="*/ 22 h 40"/>
                <a:gd name="T8" fmla="*/ 8 w 33"/>
                <a:gd name="T9" fmla="*/ 27 h 40"/>
                <a:gd name="T10" fmla="*/ 11 w 33"/>
                <a:gd name="T11" fmla="*/ 30 h 40"/>
                <a:gd name="T12" fmla="*/ 13 w 33"/>
                <a:gd name="T13" fmla="*/ 32 h 40"/>
                <a:gd name="T14" fmla="*/ 17 w 33"/>
                <a:gd name="T15" fmla="*/ 33 h 40"/>
                <a:gd name="T16" fmla="*/ 19 w 33"/>
                <a:gd name="T17" fmla="*/ 33 h 40"/>
                <a:gd name="T18" fmla="*/ 21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6 w 33"/>
                <a:gd name="T33" fmla="*/ 40 h 40"/>
                <a:gd name="T34" fmla="*/ 12 w 33"/>
                <a:gd name="T35" fmla="*/ 39 h 40"/>
                <a:gd name="T36" fmla="*/ 8 w 33"/>
                <a:gd name="T37" fmla="*/ 37 h 40"/>
                <a:gd name="T38" fmla="*/ 5 w 33"/>
                <a:gd name="T39" fmla="*/ 34 h 40"/>
                <a:gd name="T40" fmla="*/ 2 w 33"/>
                <a:gd name="T41" fmla="*/ 31 h 40"/>
                <a:gd name="T42" fmla="*/ 0 w 33"/>
                <a:gd name="T43" fmla="*/ 26 h 40"/>
                <a:gd name="T44" fmla="*/ 0 w 33"/>
                <a:gd name="T45" fmla="*/ 20 h 40"/>
                <a:gd name="T46" fmla="*/ 1 w 33"/>
                <a:gd name="T47" fmla="*/ 11 h 40"/>
                <a:gd name="T48" fmla="*/ 4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4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8 w 33"/>
                <a:gd name="T77" fmla="*/ 12 h 40"/>
                <a:gd name="T78" fmla="*/ 7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7" y="24"/>
                    <a:pt x="8" y="26"/>
                    <a:pt x="8" y="27"/>
                  </a:cubicBezTo>
                  <a:cubicBezTo>
                    <a:pt x="9" y="28"/>
                    <a:pt x="10" y="29"/>
                    <a:pt x="11" y="30"/>
                  </a:cubicBezTo>
                  <a:cubicBezTo>
                    <a:pt x="11" y="31"/>
                    <a:pt x="12" y="32"/>
                    <a:pt x="13" y="32"/>
                  </a:cubicBezTo>
                  <a:cubicBezTo>
                    <a:pt x="15" y="33"/>
                    <a:pt x="16" y="33"/>
                    <a:pt x="17" y="33"/>
                  </a:cubicBezTo>
                  <a:cubicBezTo>
                    <a:pt x="18" y="33"/>
                    <a:pt x="18" y="33"/>
                    <a:pt x="19" y="33"/>
                  </a:cubicBezTo>
                  <a:cubicBezTo>
                    <a:pt x="20" y="32"/>
                    <a:pt x="21" y="32"/>
                    <a:pt x="21" y="32"/>
                  </a:cubicBezTo>
                  <a:cubicBezTo>
                    <a:pt x="22" y="32"/>
                    <a:pt x="23" y="31"/>
                    <a:pt x="23" y="31"/>
                  </a:cubicBezTo>
                  <a:cubicBezTo>
                    <a:pt x="24" y="31"/>
                    <a:pt x="24"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19" y="39"/>
                    <a:pt x="18" y="40"/>
                    <a:pt x="16" y="40"/>
                  </a:cubicBezTo>
                  <a:cubicBezTo>
                    <a:pt x="15" y="40"/>
                    <a:pt x="13" y="39"/>
                    <a:pt x="12" y="39"/>
                  </a:cubicBezTo>
                  <a:cubicBezTo>
                    <a:pt x="10" y="38"/>
                    <a:pt x="9" y="38"/>
                    <a:pt x="8" y="37"/>
                  </a:cubicBezTo>
                  <a:cubicBezTo>
                    <a:pt x="7" y="36"/>
                    <a:pt x="6" y="35"/>
                    <a:pt x="5" y="34"/>
                  </a:cubicBezTo>
                  <a:cubicBezTo>
                    <a:pt x="4" y="34"/>
                    <a:pt x="3" y="32"/>
                    <a:pt x="2" y="31"/>
                  </a:cubicBezTo>
                  <a:cubicBezTo>
                    <a:pt x="1" y="29"/>
                    <a:pt x="1" y="28"/>
                    <a:pt x="0" y="26"/>
                  </a:cubicBezTo>
                  <a:cubicBezTo>
                    <a:pt x="0" y="24"/>
                    <a:pt x="0" y="22"/>
                    <a:pt x="0" y="20"/>
                  </a:cubicBezTo>
                  <a:cubicBezTo>
                    <a:pt x="0" y="16"/>
                    <a:pt x="0" y="13"/>
                    <a:pt x="1" y="11"/>
                  </a:cubicBezTo>
                  <a:cubicBezTo>
                    <a:pt x="2" y="8"/>
                    <a:pt x="3" y="6"/>
                    <a:pt x="4" y="5"/>
                  </a:cubicBezTo>
                  <a:cubicBezTo>
                    <a:pt x="6" y="3"/>
                    <a:pt x="8" y="2"/>
                    <a:pt x="10" y="1"/>
                  </a:cubicBezTo>
                  <a:cubicBezTo>
                    <a:pt x="12" y="0"/>
                    <a:pt x="14" y="0"/>
                    <a:pt x="17" y="0"/>
                  </a:cubicBezTo>
                  <a:cubicBezTo>
                    <a:pt x="19" y="0"/>
                    <a:pt x="22" y="0"/>
                    <a:pt x="24" y="1"/>
                  </a:cubicBezTo>
                  <a:cubicBezTo>
                    <a:pt x="26" y="2"/>
                    <a:pt x="27" y="4"/>
                    <a:pt x="29" y="5"/>
                  </a:cubicBezTo>
                  <a:cubicBezTo>
                    <a:pt x="30" y="7"/>
                    <a:pt x="31" y="9"/>
                    <a:pt x="32" y="11"/>
                  </a:cubicBezTo>
                  <a:cubicBezTo>
                    <a:pt x="32" y="14"/>
                    <a:pt x="33" y="16"/>
                    <a:pt x="33" y="19"/>
                  </a:cubicBezTo>
                  <a:close/>
                  <a:moveTo>
                    <a:pt x="25" y="16"/>
                  </a:moveTo>
                  <a:cubicBezTo>
                    <a:pt x="25" y="15"/>
                    <a:pt x="25" y="13"/>
                    <a:pt x="24"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9" y="10"/>
                    <a:pt x="9" y="11"/>
                    <a:pt x="8" y="12"/>
                  </a:cubicBezTo>
                  <a:cubicBezTo>
                    <a:pt x="8" y="13"/>
                    <a:pt x="7" y="14"/>
                    <a:pt x="7"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5" name="Freeform 32">
              <a:extLst>
                <a:ext uri="{FF2B5EF4-FFF2-40B4-BE49-F238E27FC236}">
                  <a16:creationId xmlns:a16="http://schemas.microsoft.com/office/drawing/2014/main" id="{558D2F0C-3796-492F-9EBD-4BB822191F30}"/>
                </a:ext>
              </a:extLst>
            </p:cNvPr>
            <p:cNvSpPr>
              <a:spLocks noEditPoints="1"/>
            </p:cNvSpPr>
            <p:nvPr userDrawn="1"/>
          </p:nvSpPr>
          <p:spPr bwMode="auto">
            <a:xfrm>
              <a:off x="2902698" y="6174213"/>
              <a:ext cx="80211" cy="139497"/>
            </a:xfrm>
            <a:custGeom>
              <a:avLst/>
              <a:gdLst>
                <a:gd name="T0" fmla="*/ 32 w 32"/>
                <a:gd name="T1" fmla="*/ 35 h 55"/>
                <a:gd name="T2" fmla="*/ 31 w 32"/>
                <a:gd name="T3" fmla="*/ 44 h 55"/>
                <a:gd name="T4" fmla="*/ 28 w 32"/>
                <a:gd name="T5" fmla="*/ 50 h 55"/>
                <a:gd name="T6" fmla="*/ 23 w 32"/>
                <a:gd name="T7" fmla="*/ 53 h 55"/>
                <a:gd name="T8" fmla="*/ 17 w 32"/>
                <a:gd name="T9" fmla="*/ 55 h 55"/>
                <a:gd name="T10" fmla="*/ 12 w 32"/>
                <a:gd name="T11" fmla="*/ 53 h 55"/>
                <a:gd name="T12" fmla="*/ 7 w 32"/>
                <a:gd name="T13" fmla="*/ 50 h 55"/>
                <a:gd name="T14" fmla="*/ 7 w 32"/>
                <a:gd name="T15" fmla="*/ 54 h 55"/>
                <a:gd name="T16" fmla="*/ 0 w 32"/>
                <a:gd name="T17" fmla="*/ 54 h 55"/>
                <a:gd name="T18" fmla="*/ 0 w 32"/>
                <a:gd name="T19" fmla="*/ 4 h 55"/>
                <a:gd name="T20" fmla="*/ 7 w 32"/>
                <a:gd name="T21" fmla="*/ 0 h 55"/>
                <a:gd name="T22" fmla="*/ 7 w 32"/>
                <a:gd name="T23" fmla="*/ 19 h 55"/>
                <a:gd name="T24" fmla="*/ 10 w 32"/>
                <a:gd name="T25" fmla="*/ 17 h 55"/>
                <a:gd name="T26" fmla="*/ 12 w 32"/>
                <a:gd name="T27" fmla="*/ 16 h 55"/>
                <a:gd name="T28" fmla="*/ 14 w 32"/>
                <a:gd name="T29" fmla="*/ 15 h 55"/>
                <a:gd name="T30" fmla="*/ 17 w 32"/>
                <a:gd name="T31" fmla="*/ 15 h 55"/>
                <a:gd name="T32" fmla="*/ 23 w 32"/>
                <a:gd name="T33" fmla="*/ 16 h 55"/>
                <a:gd name="T34" fmla="*/ 28 w 32"/>
                <a:gd name="T35" fmla="*/ 19 h 55"/>
                <a:gd name="T36" fmla="*/ 31 w 32"/>
                <a:gd name="T37" fmla="*/ 26 h 55"/>
                <a:gd name="T38" fmla="*/ 32 w 32"/>
                <a:gd name="T39" fmla="*/ 35 h 55"/>
                <a:gd name="T40" fmla="*/ 25 w 32"/>
                <a:gd name="T41" fmla="*/ 35 h 55"/>
                <a:gd name="T42" fmla="*/ 23 w 32"/>
                <a:gd name="T43" fmla="*/ 25 h 55"/>
                <a:gd name="T44" fmla="*/ 16 w 32"/>
                <a:gd name="T45" fmla="*/ 22 h 55"/>
                <a:gd name="T46" fmla="*/ 14 w 32"/>
                <a:gd name="T47" fmla="*/ 22 h 55"/>
                <a:gd name="T48" fmla="*/ 11 w 32"/>
                <a:gd name="T49" fmla="*/ 23 h 55"/>
                <a:gd name="T50" fmla="*/ 9 w 32"/>
                <a:gd name="T51" fmla="*/ 25 h 55"/>
                <a:gd name="T52" fmla="*/ 7 w 32"/>
                <a:gd name="T53" fmla="*/ 26 h 55"/>
                <a:gd name="T54" fmla="*/ 7 w 32"/>
                <a:gd name="T55" fmla="*/ 43 h 55"/>
                <a:gd name="T56" fmla="*/ 9 w 32"/>
                <a:gd name="T57" fmla="*/ 44 h 55"/>
                <a:gd name="T58" fmla="*/ 11 w 32"/>
                <a:gd name="T59" fmla="*/ 46 h 55"/>
                <a:gd name="T60" fmla="*/ 14 w 32"/>
                <a:gd name="T61" fmla="*/ 47 h 55"/>
                <a:gd name="T62" fmla="*/ 16 w 32"/>
                <a:gd name="T63" fmla="*/ 48 h 55"/>
                <a:gd name="T64" fmla="*/ 23 w 32"/>
                <a:gd name="T65" fmla="*/ 45 h 55"/>
                <a:gd name="T66" fmla="*/ 25 w 32"/>
                <a:gd name="T67" fmla="*/ 3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 h="55">
                  <a:moveTo>
                    <a:pt x="32" y="35"/>
                  </a:moveTo>
                  <a:cubicBezTo>
                    <a:pt x="32" y="38"/>
                    <a:pt x="32" y="41"/>
                    <a:pt x="31" y="44"/>
                  </a:cubicBezTo>
                  <a:cubicBezTo>
                    <a:pt x="30" y="46"/>
                    <a:pt x="29" y="48"/>
                    <a:pt x="28" y="50"/>
                  </a:cubicBezTo>
                  <a:cubicBezTo>
                    <a:pt x="26" y="51"/>
                    <a:pt x="25" y="53"/>
                    <a:pt x="23" y="53"/>
                  </a:cubicBezTo>
                  <a:cubicBezTo>
                    <a:pt x="21" y="54"/>
                    <a:pt x="19" y="55"/>
                    <a:pt x="17" y="55"/>
                  </a:cubicBezTo>
                  <a:cubicBezTo>
                    <a:pt x="15" y="55"/>
                    <a:pt x="13" y="54"/>
                    <a:pt x="12" y="53"/>
                  </a:cubicBezTo>
                  <a:cubicBezTo>
                    <a:pt x="10" y="52"/>
                    <a:pt x="9" y="51"/>
                    <a:pt x="7" y="50"/>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9" y="18"/>
                    <a:pt x="10" y="17"/>
                  </a:cubicBezTo>
                  <a:cubicBezTo>
                    <a:pt x="10" y="17"/>
                    <a:pt x="11" y="16"/>
                    <a:pt x="12" y="16"/>
                  </a:cubicBezTo>
                  <a:cubicBezTo>
                    <a:pt x="12" y="16"/>
                    <a:pt x="13" y="15"/>
                    <a:pt x="14" y="15"/>
                  </a:cubicBezTo>
                  <a:cubicBezTo>
                    <a:pt x="15" y="15"/>
                    <a:pt x="16" y="15"/>
                    <a:pt x="17" y="15"/>
                  </a:cubicBezTo>
                  <a:cubicBezTo>
                    <a:pt x="20" y="15"/>
                    <a:pt x="21" y="15"/>
                    <a:pt x="23" y="16"/>
                  </a:cubicBezTo>
                  <a:cubicBezTo>
                    <a:pt x="25" y="16"/>
                    <a:pt x="27" y="18"/>
                    <a:pt x="28" y="19"/>
                  </a:cubicBezTo>
                  <a:cubicBezTo>
                    <a:pt x="29" y="21"/>
                    <a:pt x="30" y="23"/>
                    <a:pt x="31" y="26"/>
                  </a:cubicBezTo>
                  <a:cubicBezTo>
                    <a:pt x="32" y="28"/>
                    <a:pt x="32" y="32"/>
                    <a:pt x="32" y="35"/>
                  </a:cubicBezTo>
                  <a:close/>
                  <a:moveTo>
                    <a:pt x="25" y="35"/>
                  </a:moveTo>
                  <a:cubicBezTo>
                    <a:pt x="25" y="31"/>
                    <a:pt x="24" y="27"/>
                    <a:pt x="23" y="25"/>
                  </a:cubicBezTo>
                  <a:cubicBezTo>
                    <a:pt x="21" y="23"/>
                    <a:pt x="19" y="22"/>
                    <a:pt x="16" y="22"/>
                  </a:cubicBezTo>
                  <a:cubicBezTo>
                    <a:pt x="15" y="22"/>
                    <a:pt x="14" y="22"/>
                    <a:pt x="14" y="22"/>
                  </a:cubicBezTo>
                  <a:cubicBezTo>
                    <a:pt x="13" y="22"/>
                    <a:pt x="12" y="23"/>
                    <a:pt x="11" y="23"/>
                  </a:cubicBezTo>
                  <a:cubicBezTo>
                    <a:pt x="10" y="23"/>
                    <a:pt x="10" y="24"/>
                    <a:pt x="9" y="25"/>
                  </a:cubicBezTo>
                  <a:cubicBezTo>
                    <a:pt x="8" y="25"/>
                    <a:pt x="8" y="26"/>
                    <a:pt x="7" y="26"/>
                  </a:cubicBezTo>
                  <a:cubicBezTo>
                    <a:pt x="7" y="43"/>
                    <a:pt x="7" y="43"/>
                    <a:pt x="7" y="43"/>
                  </a:cubicBezTo>
                  <a:cubicBezTo>
                    <a:pt x="8" y="43"/>
                    <a:pt x="8" y="44"/>
                    <a:pt x="9" y="44"/>
                  </a:cubicBezTo>
                  <a:cubicBezTo>
                    <a:pt x="10" y="45"/>
                    <a:pt x="10" y="45"/>
                    <a:pt x="11" y="46"/>
                  </a:cubicBezTo>
                  <a:cubicBezTo>
                    <a:pt x="12" y="46"/>
                    <a:pt x="13" y="47"/>
                    <a:pt x="14" y="47"/>
                  </a:cubicBezTo>
                  <a:cubicBezTo>
                    <a:pt x="15" y="47"/>
                    <a:pt x="15" y="48"/>
                    <a:pt x="16" y="48"/>
                  </a:cubicBezTo>
                  <a:cubicBezTo>
                    <a:pt x="19" y="48"/>
                    <a:pt x="21" y="47"/>
                    <a:pt x="23" y="45"/>
                  </a:cubicBezTo>
                  <a:cubicBezTo>
                    <a:pt x="24" y="43"/>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6" name="Freeform 33">
              <a:extLst>
                <a:ext uri="{FF2B5EF4-FFF2-40B4-BE49-F238E27FC236}">
                  <a16:creationId xmlns:a16="http://schemas.microsoft.com/office/drawing/2014/main" id="{DE4E3633-17EF-414F-A86D-0B6A9F2F098F}"/>
                </a:ext>
              </a:extLst>
            </p:cNvPr>
            <p:cNvSpPr>
              <a:spLocks noEditPoints="1"/>
            </p:cNvSpPr>
            <p:nvPr userDrawn="1"/>
          </p:nvSpPr>
          <p:spPr bwMode="auto">
            <a:xfrm>
              <a:off x="2998603"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8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8" y="37"/>
                  </a:cubicBezTo>
                  <a:cubicBezTo>
                    <a:pt x="27" y="37"/>
                    <a:pt x="26" y="38"/>
                    <a:pt x="25" y="38"/>
                  </a:cubicBezTo>
                  <a:cubicBezTo>
                    <a:pt x="24" y="39"/>
                    <a:pt x="23"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7"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7" name="Freeform 34">
              <a:extLst>
                <a:ext uri="{FF2B5EF4-FFF2-40B4-BE49-F238E27FC236}">
                  <a16:creationId xmlns:a16="http://schemas.microsoft.com/office/drawing/2014/main" id="{2572AE39-9386-47FC-B6AF-FBCF804BEBF8}"/>
                </a:ext>
              </a:extLst>
            </p:cNvPr>
            <p:cNvSpPr>
              <a:spLocks/>
            </p:cNvSpPr>
            <p:nvPr userDrawn="1"/>
          </p:nvSpPr>
          <p:spPr bwMode="auto">
            <a:xfrm>
              <a:off x="3096251"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3"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8" name="Freeform 35">
              <a:extLst>
                <a:ext uri="{FF2B5EF4-FFF2-40B4-BE49-F238E27FC236}">
                  <a16:creationId xmlns:a16="http://schemas.microsoft.com/office/drawing/2014/main" id="{7096AEC6-B8C0-4212-842F-89677AE7D800}"/>
                </a:ext>
              </a:extLst>
            </p:cNvPr>
            <p:cNvSpPr>
              <a:spLocks/>
            </p:cNvSpPr>
            <p:nvPr userDrawn="1"/>
          </p:nvSpPr>
          <p:spPr bwMode="auto">
            <a:xfrm>
              <a:off x="3164256" y="6174213"/>
              <a:ext cx="55799" cy="139497"/>
            </a:xfrm>
            <a:custGeom>
              <a:avLst/>
              <a:gdLst>
                <a:gd name="T0" fmla="*/ 21 w 22"/>
                <a:gd name="T1" fmla="*/ 53 h 55"/>
                <a:gd name="T2" fmla="*/ 18 w 22"/>
                <a:gd name="T3" fmla="*/ 54 h 55"/>
                <a:gd name="T4" fmla="*/ 14 w 22"/>
                <a:gd name="T5" fmla="*/ 55 h 55"/>
                <a:gd name="T6" fmla="*/ 10 w 22"/>
                <a:gd name="T7" fmla="*/ 54 h 55"/>
                <a:gd name="T8" fmla="*/ 7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6" y="54"/>
                    <a:pt x="15" y="55"/>
                    <a:pt x="14" y="55"/>
                  </a:cubicBezTo>
                  <a:cubicBezTo>
                    <a:pt x="12" y="55"/>
                    <a:pt x="11" y="54"/>
                    <a:pt x="10" y="54"/>
                  </a:cubicBezTo>
                  <a:cubicBezTo>
                    <a:pt x="9" y="54"/>
                    <a:pt x="8" y="53"/>
                    <a:pt x="7"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199" name="Freeform 36">
              <a:extLst>
                <a:ext uri="{FF2B5EF4-FFF2-40B4-BE49-F238E27FC236}">
                  <a16:creationId xmlns:a16="http://schemas.microsoft.com/office/drawing/2014/main" id="{406AD873-E434-40CF-BFBD-6D1D1CA7CB89}"/>
                </a:ext>
              </a:extLst>
            </p:cNvPr>
            <p:cNvSpPr>
              <a:spLocks noEditPoints="1"/>
            </p:cNvSpPr>
            <p:nvPr userDrawn="1"/>
          </p:nvSpPr>
          <p:spPr bwMode="auto">
            <a:xfrm>
              <a:off x="3234004" y="6212575"/>
              <a:ext cx="83698" cy="101135"/>
            </a:xfrm>
            <a:custGeom>
              <a:avLst/>
              <a:gdLst>
                <a:gd name="T0" fmla="*/ 33 w 33"/>
                <a:gd name="T1" fmla="*/ 19 h 40"/>
                <a:gd name="T2" fmla="*/ 33 w 33"/>
                <a:gd name="T3" fmla="*/ 21 h 40"/>
                <a:gd name="T4" fmla="*/ 33 w 33"/>
                <a:gd name="T5" fmla="*/ 22 h 40"/>
                <a:gd name="T6" fmla="*/ 8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4 w 33"/>
                <a:gd name="T21" fmla="*/ 31 h 40"/>
                <a:gd name="T22" fmla="*/ 26 w 33"/>
                <a:gd name="T23" fmla="*/ 30 h 40"/>
                <a:gd name="T24" fmla="*/ 30 w 33"/>
                <a:gd name="T25" fmla="*/ 35 h 40"/>
                <a:gd name="T26" fmla="*/ 27 w 33"/>
                <a:gd name="T27" fmla="*/ 37 h 40"/>
                <a:gd name="T28" fmla="*/ 25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2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6 w 33"/>
                <a:gd name="T63" fmla="*/ 16 h 40"/>
                <a:gd name="T64" fmla="*/ 25 w 33"/>
                <a:gd name="T65" fmla="*/ 12 h 40"/>
                <a:gd name="T66" fmla="*/ 23 w 33"/>
                <a:gd name="T67" fmla="*/ 9 h 40"/>
                <a:gd name="T68" fmla="*/ 21 w 33"/>
                <a:gd name="T69" fmla="*/ 7 h 40"/>
                <a:gd name="T70" fmla="*/ 17 w 33"/>
                <a:gd name="T71" fmla="*/ 6 h 40"/>
                <a:gd name="T72" fmla="*/ 13 w 33"/>
                <a:gd name="T73" fmla="*/ 7 h 40"/>
                <a:gd name="T74" fmla="*/ 11 w 33"/>
                <a:gd name="T75" fmla="*/ 9 h 40"/>
                <a:gd name="T76" fmla="*/ 9 w 33"/>
                <a:gd name="T77" fmla="*/ 12 h 40"/>
                <a:gd name="T78" fmla="*/ 8 w 33"/>
                <a:gd name="T79" fmla="*/ 16 h 40"/>
                <a:gd name="T80" fmla="*/ 26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8" y="22"/>
                    <a:pt x="8" y="22"/>
                    <a:pt x="8" y="22"/>
                  </a:cubicBezTo>
                  <a:cubicBezTo>
                    <a:pt x="8" y="24"/>
                    <a:pt x="8" y="26"/>
                    <a:pt x="9" y="27"/>
                  </a:cubicBezTo>
                  <a:cubicBezTo>
                    <a:pt x="10" y="28"/>
                    <a:pt x="10" y="29"/>
                    <a:pt x="11" y="30"/>
                  </a:cubicBezTo>
                  <a:cubicBezTo>
                    <a:pt x="12" y="31"/>
                    <a:pt x="13" y="32"/>
                    <a:pt x="14" y="32"/>
                  </a:cubicBezTo>
                  <a:cubicBezTo>
                    <a:pt x="15" y="33"/>
                    <a:pt x="16" y="33"/>
                    <a:pt x="17" y="33"/>
                  </a:cubicBezTo>
                  <a:cubicBezTo>
                    <a:pt x="18" y="33"/>
                    <a:pt x="19" y="33"/>
                    <a:pt x="20" y="33"/>
                  </a:cubicBezTo>
                  <a:cubicBezTo>
                    <a:pt x="21" y="32"/>
                    <a:pt x="21" y="32"/>
                    <a:pt x="22" y="32"/>
                  </a:cubicBezTo>
                  <a:cubicBezTo>
                    <a:pt x="23" y="32"/>
                    <a:pt x="23" y="31"/>
                    <a:pt x="24" y="31"/>
                  </a:cubicBezTo>
                  <a:cubicBezTo>
                    <a:pt x="24" y="31"/>
                    <a:pt x="25" y="30"/>
                    <a:pt x="26" y="30"/>
                  </a:cubicBezTo>
                  <a:cubicBezTo>
                    <a:pt x="30" y="35"/>
                    <a:pt x="30" y="35"/>
                    <a:pt x="30" y="35"/>
                  </a:cubicBezTo>
                  <a:cubicBezTo>
                    <a:pt x="29" y="35"/>
                    <a:pt x="28" y="36"/>
                    <a:pt x="27" y="37"/>
                  </a:cubicBezTo>
                  <a:cubicBezTo>
                    <a:pt x="27" y="37"/>
                    <a:pt x="26" y="38"/>
                    <a:pt x="25" y="38"/>
                  </a:cubicBezTo>
                  <a:cubicBezTo>
                    <a:pt x="24" y="39"/>
                    <a:pt x="22" y="39"/>
                    <a:pt x="21" y="39"/>
                  </a:cubicBezTo>
                  <a:cubicBezTo>
                    <a:pt x="20" y="39"/>
                    <a:pt x="19" y="40"/>
                    <a:pt x="17" y="40"/>
                  </a:cubicBezTo>
                  <a:cubicBezTo>
                    <a:pt x="15" y="40"/>
                    <a:pt x="14" y="39"/>
                    <a:pt x="12" y="39"/>
                  </a:cubicBezTo>
                  <a:cubicBezTo>
                    <a:pt x="11" y="38"/>
                    <a:pt x="10" y="38"/>
                    <a:pt x="8" y="37"/>
                  </a:cubicBezTo>
                  <a:cubicBezTo>
                    <a:pt x="7" y="36"/>
                    <a:pt x="6" y="35"/>
                    <a:pt x="5" y="34"/>
                  </a:cubicBezTo>
                  <a:cubicBezTo>
                    <a:pt x="5" y="34"/>
                    <a:pt x="4" y="32"/>
                    <a:pt x="3" y="31"/>
                  </a:cubicBezTo>
                  <a:cubicBezTo>
                    <a:pt x="2" y="29"/>
                    <a:pt x="1" y="28"/>
                    <a:pt x="1" y="26"/>
                  </a:cubicBezTo>
                  <a:cubicBezTo>
                    <a:pt x="1" y="24"/>
                    <a:pt x="0" y="22"/>
                    <a:pt x="0" y="20"/>
                  </a:cubicBezTo>
                  <a:cubicBezTo>
                    <a:pt x="0" y="16"/>
                    <a:pt x="1" y="13"/>
                    <a:pt x="2" y="11"/>
                  </a:cubicBezTo>
                  <a:cubicBezTo>
                    <a:pt x="2" y="8"/>
                    <a:pt x="4" y="6"/>
                    <a:pt x="5" y="5"/>
                  </a:cubicBezTo>
                  <a:cubicBezTo>
                    <a:pt x="6" y="3"/>
                    <a:pt x="8" y="2"/>
                    <a:pt x="10" y="1"/>
                  </a:cubicBezTo>
                  <a:cubicBezTo>
                    <a:pt x="12" y="0"/>
                    <a:pt x="15" y="0"/>
                    <a:pt x="17" y="0"/>
                  </a:cubicBezTo>
                  <a:cubicBezTo>
                    <a:pt x="20" y="0"/>
                    <a:pt x="22" y="0"/>
                    <a:pt x="24" y="1"/>
                  </a:cubicBezTo>
                  <a:cubicBezTo>
                    <a:pt x="26" y="2"/>
                    <a:pt x="28" y="4"/>
                    <a:pt x="29" y="5"/>
                  </a:cubicBezTo>
                  <a:cubicBezTo>
                    <a:pt x="31" y="7"/>
                    <a:pt x="32" y="9"/>
                    <a:pt x="32" y="11"/>
                  </a:cubicBezTo>
                  <a:cubicBezTo>
                    <a:pt x="33" y="14"/>
                    <a:pt x="33" y="16"/>
                    <a:pt x="33" y="19"/>
                  </a:cubicBezTo>
                  <a:close/>
                  <a:moveTo>
                    <a:pt x="26" y="16"/>
                  </a:moveTo>
                  <a:cubicBezTo>
                    <a:pt x="26" y="15"/>
                    <a:pt x="25" y="13"/>
                    <a:pt x="25" y="12"/>
                  </a:cubicBezTo>
                  <a:cubicBezTo>
                    <a:pt x="25" y="11"/>
                    <a:pt x="24" y="10"/>
                    <a:pt x="23" y="9"/>
                  </a:cubicBezTo>
                  <a:cubicBezTo>
                    <a:pt x="23" y="8"/>
                    <a:pt x="22" y="8"/>
                    <a:pt x="21" y="7"/>
                  </a:cubicBezTo>
                  <a:cubicBezTo>
                    <a:pt x="20" y="7"/>
                    <a:pt x="18" y="6"/>
                    <a:pt x="17" y="6"/>
                  </a:cubicBezTo>
                  <a:cubicBezTo>
                    <a:pt x="15" y="6"/>
                    <a:pt x="14" y="7"/>
                    <a:pt x="13" y="7"/>
                  </a:cubicBezTo>
                  <a:cubicBezTo>
                    <a:pt x="12" y="7"/>
                    <a:pt x="11" y="8"/>
                    <a:pt x="11" y="9"/>
                  </a:cubicBezTo>
                  <a:cubicBezTo>
                    <a:pt x="10" y="10"/>
                    <a:pt x="9" y="11"/>
                    <a:pt x="9" y="12"/>
                  </a:cubicBezTo>
                  <a:cubicBezTo>
                    <a:pt x="8" y="13"/>
                    <a:pt x="8" y="14"/>
                    <a:pt x="8" y="16"/>
                  </a:cubicBezTo>
                  <a:lnTo>
                    <a:pt x="26"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0" name="Freeform 37">
              <a:extLst>
                <a:ext uri="{FF2B5EF4-FFF2-40B4-BE49-F238E27FC236}">
                  <a16:creationId xmlns:a16="http://schemas.microsoft.com/office/drawing/2014/main" id="{74857EE2-44CC-4E8F-B1BB-355509B3EFE5}"/>
                </a:ext>
              </a:extLst>
            </p:cNvPr>
            <p:cNvSpPr>
              <a:spLocks/>
            </p:cNvSpPr>
            <p:nvPr userDrawn="1"/>
          </p:nvSpPr>
          <p:spPr bwMode="auto">
            <a:xfrm>
              <a:off x="3336884" y="6212575"/>
              <a:ext cx="59286" cy="99391"/>
            </a:xfrm>
            <a:custGeom>
              <a:avLst/>
              <a:gdLst>
                <a:gd name="T0" fmla="*/ 21 w 23"/>
                <a:gd name="T1" fmla="*/ 8 h 39"/>
                <a:gd name="T2" fmla="*/ 19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7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9" y="7"/>
                  </a:cubicBezTo>
                  <a:cubicBezTo>
                    <a:pt x="18" y="7"/>
                    <a:pt x="17"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1" y="1"/>
                  </a:cubicBezTo>
                  <a:cubicBezTo>
                    <a:pt x="12" y="0"/>
                    <a:pt x="13" y="0"/>
                    <a:pt x="14" y="0"/>
                  </a:cubicBezTo>
                  <a:cubicBezTo>
                    <a:pt x="15" y="0"/>
                    <a:pt x="16" y="0"/>
                    <a:pt x="17"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1" name="Freeform 38">
              <a:extLst>
                <a:ext uri="{FF2B5EF4-FFF2-40B4-BE49-F238E27FC236}">
                  <a16:creationId xmlns:a16="http://schemas.microsoft.com/office/drawing/2014/main" id="{D39EC8B1-952E-4BF5-9735-6A38584161BC}"/>
                </a:ext>
              </a:extLst>
            </p:cNvPr>
            <p:cNvSpPr>
              <a:spLocks/>
            </p:cNvSpPr>
            <p:nvPr userDrawn="1"/>
          </p:nvSpPr>
          <p:spPr bwMode="auto">
            <a:xfrm>
              <a:off x="3451969" y="6174213"/>
              <a:ext cx="55799" cy="139497"/>
            </a:xfrm>
            <a:custGeom>
              <a:avLst/>
              <a:gdLst>
                <a:gd name="T0" fmla="*/ 21 w 22"/>
                <a:gd name="T1" fmla="*/ 53 h 55"/>
                <a:gd name="T2" fmla="*/ 18 w 22"/>
                <a:gd name="T3" fmla="*/ 54 h 55"/>
                <a:gd name="T4" fmla="*/ 14 w 22"/>
                <a:gd name="T5" fmla="*/ 55 h 55"/>
                <a:gd name="T6" fmla="*/ 10 w 22"/>
                <a:gd name="T7" fmla="*/ 54 h 55"/>
                <a:gd name="T8" fmla="*/ 8 w 22"/>
                <a:gd name="T9" fmla="*/ 52 h 55"/>
                <a:gd name="T10" fmla="*/ 6 w 22"/>
                <a:gd name="T11" fmla="*/ 49 h 55"/>
                <a:gd name="T12" fmla="*/ 5 w 22"/>
                <a:gd name="T13" fmla="*/ 44 h 55"/>
                <a:gd name="T14" fmla="*/ 5 w 22"/>
                <a:gd name="T15" fmla="*/ 22 h 55"/>
                <a:gd name="T16" fmla="*/ 0 w 22"/>
                <a:gd name="T17" fmla="*/ 22 h 55"/>
                <a:gd name="T18" fmla="*/ 0 w 22"/>
                <a:gd name="T19" fmla="*/ 15 h 55"/>
                <a:gd name="T20" fmla="*/ 5 w 22"/>
                <a:gd name="T21" fmla="*/ 15 h 55"/>
                <a:gd name="T22" fmla="*/ 5 w 22"/>
                <a:gd name="T23" fmla="*/ 4 h 55"/>
                <a:gd name="T24" fmla="*/ 12 w 22"/>
                <a:gd name="T25" fmla="*/ 0 h 55"/>
                <a:gd name="T26" fmla="*/ 12 w 22"/>
                <a:gd name="T27" fmla="*/ 15 h 55"/>
                <a:gd name="T28" fmla="*/ 22 w 22"/>
                <a:gd name="T29" fmla="*/ 15 h 55"/>
                <a:gd name="T30" fmla="*/ 22 w 22"/>
                <a:gd name="T31" fmla="*/ 22 h 55"/>
                <a:gd name="T32" fmla="*/ 12 w 22"/>
                <a:gd name="T33" fmla="*/ 22 h 55"/>
                <a:gd name="T34" fmla="*/ 12 w 22"/>
                <a:gd name="T35" fmla="*/ 43 h 55"/>
                <a:gd name="T36" fmla="*/ 13 w 22"/>
                <a:gd name="T37" fmla="*/ 45 h 55"/>
                <a:gd name="T38" fmla="*/ 13 w 22"/>
                <a:gd name="T39" fmla="*/ 47 h 55"/>
                <a:gd name="T40" fmla="*/ 15 w 22"/>
                <a:gd name="T41" fmla="*/ 47 h 55"/>
                <a:gd name="T42" fmla="*/ 16 w 22"/>
                <a:gd name="T43" fmla="*/ 48 h 55"/>
                <a:gd name="T44" fmla="*/ 19 w 22"/>
                <a:gd name="T45" fmla="*/ 47 h 55"/>
                <a:gd name="T46" fmla="*/ 22 w 22"/>
                <a:gd name="T47" fmla="*/ 46 h 55"/>
                <a:gd name="T48" fmla="*/ 21 w 22"/>
                <a:gd name="T49" fmla="*/ 5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5">
                  <a:moveTo>
                    <a:pt x="21" y="53"/>
                  </a:moveTo>
                  <a:cubicBezTo>
                    <a:pt x="20" y="53"/>
                    <a:pt x="19" y="54"/>
                    <a:pt x="18" y="54"/>
                  </a:cubicBezTo>
                  <a:cubicBezTo>
                    <a:pt x="17" y="54"/>
                    <a:pt x="15" y="55"/>
                    <a:pt x="14" y="55"/>
                  </a:cubicBezTo>
                  <a:cubicBezTo>
                    <a:pt x="12" y="55"/>
                    <a:pt x="11" y="54"/>
                    <a:pt x="10" y="54"/>
                  </a:cubicBezTo>
                  <a:cubicBezTo>
                    <a:pt x="9" y="54"/>
                    <a:pt x="8" y="53"/>
                    <a:pt x="8" y="52"/>
                  </a:cubicBezTo>
                  <a:cubicBezTo>
                    <a:pt x="7" y="51"/>
                    <a:pt x="6" y="50"/>
                    <a:pt x="6" y="49"/>
                  </a:cubicBezTo>
                  <a:cubicBezTo>
                    <a:pt x="5" y="48"/>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2" y="0"/>
                    <a:pt x="12" y="0"/>
                    <a:pt x="12" y="0"/>
                  </a:cubicBezTo>
                  <a:cubicBezTo>
                    <a:pt x="12" y="15"/>
                    <a:pt x="12" y="15"/>
                    <a:pt x="12" y="15"/>
                  </a:cubicBezTo>
                  <a:cubicBezTo>
                    <a:pt x="22" y="15"/>
                    <a:pt x="22" y="15"/>
                    <a:pt x="22" y="15"/>
                  </a:cubicBezTo>
                  <a:cubicBezTo>
                    <a:pt x="22" y="22"/>
                    <a:pt x="22" y="22"/>
                    <a:pt x="22" y="22"/>
                  </a:cubicBezTo>
                  <a:cubicBezTo>
                    <a:pt x="12" y="22"/>
                    <a:pt x="12" y="22"/>
                    <a:pt x="12" y="22"/>
                  </a:cubicBezTo>
                  <a:cubicBezTo>
                    <a:pt x="12" y="43"/>
                    <a:pt x="12" y="43"/>
                    <a:pt x="12" y="43"/>
                  </a:cubicBezTo>
                  <a:cubicBezTo>
                    <a:pt x="12" y="44"/>
                    <a:pt x="12" y="45"/>
                    <a:pt x="13" y="45"/>
                  </a:cubicBezTo>
                  <a:cubicBezTo>
                    <a:pt x="13" y="46"/>
                    <a:pt x="13" y="46"/>
                    <a:pt x="13" y="47"/>
                  </a:cubicBezTo>
                  <a:cubicBezTo>
                    <a:pt x="14" y="47"/>
                    <a:pt x="14" y="47"/>
                    <a:pt x="15" y="47"/>
                  </a:cubicBezTo>
                  <a:cubicBezTo>
                    <a:pt x="15" y="48"/>
                    <a:pt x="16" y="48"/>
                    <a:pt x="16" y="48"/>
                  </a:cubicBezTo>
                  <a:cubicBezTo>
                    <a:pt x="17" y="48"/>
                    <a:pt x="18" y="48"/>
                    <a:pt x="19" y="47"/>
                  </a:cubicBezTo>
                  <a:cubicBezTo>
                    <a:pt x="20" y="47"/>
                    <a:pt x="21" y="47"/>
                    <a:pt x="22" y="46"/>
                  </a:cubicBezTo>
                  <a:lnTo>
                    <a:pt x="21"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2" name="Freeform 39">
              <a:extLst>
                <a:ext uri="{FF2B5EF4-FFF2-40B4-BE49-F238E27FC236}">
                  <a16:creationId xmlns:a16="http://schemas.microsoft.com/office/drawing/2014/main" id="{EA37D3DF-3401-44BD-97F4-F423BFC87A10}"/>
                </a:ext>
              </a:extLst>
            </p:cNvPr>
            <p:cNvSpPr>
              <a:spLocks/>
            </p:cNvSpPr>
            <p:nvPr userDrawn="1"/>
          </p:nvSpPr>
          <p:spPr bwMode="auto">
            <a:xfrm>
              <a:off x="3530436" y="6174213"/>
              <a:ext cx="80211" cy="137753"/>
            </a:xfrm>
            <a:custGeom>
              <a:avLst/>
              <a:gdLst>
                <a:gd name="T0" fmla="*/ 23 w 31"/>
                <a:gd name="T1" fmla="*/ 54 h 54"/>
                <a:gd name="T2" fmla="*/ 23 w 31"/>
                <a:gd name="T3" fmla="*/ 32 h 54"/>
                <a:gd name="T4" fmla="*/ 21 w 31"/>
                <a:gd name="T5" fmla="*/ 24 h 54"/>
                <a:gd name="T6" fmla="*/ 15 w 31"/>
                <a:gd name="T7" fmla="*/ 22 h 54"/>
                <a:gd name="T8" fmla="*/ 12 w 31"/>
                <a:gd name="T9" fmla="*/ 22 h 54"/>
                <a:gd name="T10" fmla="*/ 9 w 31"/>
                <a:gd name="T11" fmla="*/ 24 h 54"/>
                <a:gd name="T12" fmla="*/ 8 w 31"/>
                <a:gd name="T13" fmla="*/ 27 h 54"/>
                <a:gd name="T14" fmla="*/ 7 w 31"/>
                <a:gd name="T15" fmla="*/ 31 h 54"/>
                <a:gd name="T16" fmla="*/ 7 w 31"/>
                <a:gd name="T17" fmla="*/ 54 h 54"/>
                <a:gd name="T18" fmla="*/ 0 w 31"/>
                <a:gd name="T19" fmla="*/ 54 h 54"/>
                <a:gd name="T20" fmla="*/ 0 w 31"/>
                <a:gd name="T21" fmla="*/ 4 h 54"/>
                <a:gd name="T22" fmla="*/ 7 w 31"/>
                <a:gd name="T23" fmla="*/ 0 h 54"/>
                <a:gd name="T24" fmla="*/ 7 w 31"/>
                <a:gd name="T25" fmla="*/ 19 h 54"/>
                <a:gd name="T26" fmla="*/ 9 w 31"/>
                <a:gd name="T27" fmla="*/ 17 h 54"/>
                <a:gd name="T28" fmla="*/ 11 w 31"/>
                <a:gd name="T29" fmla="*/ 16 h 54"/>
                <a:gd name="T30" fmla="*/ 14 w 31"/>
                <a:gd name="T31" fmla="*/ 15 h 54"/>
                <a:gd name="T32" fmla="*/ 17 w 31"/>
                <a:gd name="T33" fmla="*/ 15 h 54"/>
                <a:gd name="T34" fmla="*/ 23 w 31"/>
                <a:gd name="T35" fmla="*/ 16 h 54"/>
                <a:gd name="T36" fmla="*/ 27 w 31"/>
                <a:gd name="T37" fmla="*/ 19 h 54"/>
                <a:gd name="T38" fmla="*/ 30 w 31"/>
                <a:gd name="T39" fmla="*/ 24 h 54"/>
                <a:gd name="T40" fmla="*/ 31 w 31"/>
                <a:gd name="T41" fmla="*/ 32 h 54"/>
                <a:gd name="T42" fmla="*/ 31 w 31"/>
                <a:gd name="T43" fmla="*/ 54 h 54"/>
                <a:gd name="T44" fmla="*/ 23 w 31"/>
                <a:gd name="T4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4">
                  <a:moveTo>
                    <a:pt x="23" y="54"/>
                  </a:moveTo>
                  <a:cubicBezTo>
                    <a:pt x="23" y="32"/>
                    <a:pt x="23" y="32"/>
                    <a:pt x="23" y="32"/>
                  </a:cubicBezTo>
                  <a:cubicBezTo>
                    <a:pt x="23" y="28"/>
                    <a:pt x="22" y="26"/>
                    <a:pt x="21" y="24"/>
                  </a:cubicBezTo>
                  <a:cubicBezTo>
                    <a:pt x="20" y="22"/>
                    <a:pt x="18" y="22"/>
                    <a:pt x="15" y="22"/>
                  </a:cubicBezTo>
                  <a:cubicBezTo>
                    <a:pt x="14" y="22"/>
                    <a:pt x="13" y="22"/>
                    <a:pt x="12" y="22"/>
                  </a:cubicBezTo>
                  <a:cubicBezTo>
                    <a:pt x="11" y="22"/>
                    <a:pt x="10" y="23"/>
                    <a:pt x="9" y="24"/>
                  </a:cubicBezTo>
                  <a:cubicBezTo>
                    <a:pt x="9" y="25"/>
                    <a:pt x="8" y="26"/>
                    <a:pt x="8" y="27"/>
                  </a:cubicBezTo>
                  <a:cubicBezTo>
                    <a:pt x="7" y="28"/>
                    <a:pt x="7" y="30"/>
                    <a:pt x="7" y="31"/>
                  </a:cubicBezTo>
                  <a:cubicBezTo>
                    <a:pt x="7" y="54"/>
                    <a:pt x="7" y="54"/>
                    <a:pt x="7" y="54"/>
                  </a:cubicBezTo>
                  <a:cubicBezTo>
                    <a:pt x="0" y="54"/>
                    <a:pt x="0" y="54"/>
                    <a:pt x="0" y="54"/>
                  </a:cubicBezTo>
                  <a:cubicBezTo>
                    <a:pt x="0" y="4"/>
                    <a:pt x="0" y="4"/>
                    <a:pt x="0" y="4"/>
                  </a:cubicBezTo>
                  <a:cubicBezTo>
                    <a:pt x="7" y="0"/>
                    <a:pt x="7" y="0"/>
                    <a:pt x="7" y="0"/>
                  </a:cubicBezTo>
                  <a:cubicBezTo>
                    <a:pt x="7" y="19"/>
                    <a:pt x="7" y="19"/>
                    <a:pt x="7" y="19"/>
                  </a:cubicBezTo>
                  <a:cubicBezTo>
                    <a:pt x="8" y="18"/>
                    <a:pt x="8" y="18"/>
                    <a:pt x="9" y="17"/>
                  </a:cubicBezTo>
                  <a:cubicBezTo>
                    <a:pt x="10" y="17"/>
                    <a:pt x="10" y="16"/>
                    <a:pt x="11" y="16"/>
                  </a:cubicBezTo>
                  <a:cubicBezTo>
                    <a:pt x="12" y="15"/>
                    <a:pt x="13" y="15"/>
                    <a:pt x="14" y="15"/>
                  </a:cubicBezTo>
                  <a:cubicBezTo>
                    <a:pt x="15" y="15"/>
                    <a:pt x="16" y="15"/>
                    <a:pt x="17" y="15"/>
                  </a:cubicBezTo>
                  <a:cubicBezTo>
                    <a:pt x="19" y="15"/>
                    <a:pt x="21" y="15"/>
                    <a:pt x="23" y="16"/>
                  </a:cubicBezTo>
                  <a:cubicBezTo>
                    <a:pt x="25" y="16"/>
                    <a:pt x="26" y="17"/>
                    <a:pt x="27" y="19"/>
                  </a:cubicBezTo>
                  <a:cubicBezTo>
                    <a:pt x="28" y="20"/>
                    <a:pt x="29" y="22"/>
                    <a:pt x="30" y="24"/>
                  </a:cubicBezTo>
                  <a:cubicBezTo>
                    <a:pt x="30" y="27"/>
                    <a:pt x="31" y="29"/>
                    <a:pt x="31" y="32"/>
                  </a:cubicBezTo>
                  <a:cubicBezTo>
                    <a:pt x="31" y="54"/>
                    <a:pt x="31" y="54"/>
                    <a:pt x="31" y="54"/>
                  </a:cubicBezTo>
                  <a:lnTo>
                    <a:pt x="23" y="5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3" name="Freeform 40">
              <a:extLst>
                <a:ext uri="{FF2B5EF4-FFF2-40B4-BE49-F238E27FC236}">
                  <a16:creationId xmlns:a16="http://schemas.microsoft.com/office/drawing/2014/main" id="{7DFA4B46-95EA-4D4D-800F-4D2DB7BB66E0}"/>
                </a:ext>
              </a:extLst>
            </p:cNvPr>
            <p:cNvSpPr>
              <a:spLocks noEditPoints="1"/>
            </p:cNvSpPr>
            <p:nvPr userDrawn="1"/>
          </p:nvSpPr>
          <p:spPr bwMode="auto">
            <a:xfrm>
              <a:off x="362808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19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19"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4" name="Freeform 41">
              <a:extLst>
                <a:ext uri="{FF2B5EF4-FFF2-40B4-BE49-F238E27FC236}">
                  <a16:creationId xmlns:a16="http://schemas.microsoft.com/office/drawing/2014/main" id="{EF5012BA-3255-4BEF-8F4F-9117A6BEF324}"/>
                </a:ext>
              </a:extLst>
            </p:cNvPr>
            <p:cNvSpPr>
              <a:spLocks noEditPoints="1"/>
            </p:cNvSpPr>
            <p:nvPr userDrawn="1"/>
          </p:nvSpPr>
          <p:spPr bwMode="auto">
            <a:xfrm>
              <a:off x="3772813" y="6212575"/>
              <a:ext cx="81955" cy="101135"/>
            </a:xfrm>
            <a:custGeom>
              <a:avLst/>
              <a:gdLst>
                <a:gd name="T0" fmla="*/ 24 w 32"/>
                <a:gd name="T1" fmla="*/ 39 h 40"/>
                <a:gd name="T2" fmla="*/ 24 w 32"/>
                <a:gd name="T3" fmla="*/ 35 h 40"/>
                <a:gd name="T4" fmla="*/ 22 w 32"/>
                <a:gd name="T5" fmla="*/ 37 h 40"/>
                <a:gd name="T6" fmla="*/ 20 w 32"/>
                <a:gd name="T7" fmla="*/ 38 h 40"/>
                <a:gd name="T8" fmla="*/ 17 w 32"/>
                <a:gd name="T9" fmla="*/ 39 h 40"/>
                <a:gd name="T10" fmla="*/ 14 w 32"/>
                <a:gd name="T11" fmla="*/ 40 h 40"/>
                <a:gd name="T12" fmla="*/ 9 w 32"/>
                <a:gd name="T13" fmla="*/ 39 h 40"/>
                <a:gd name="T14" fmla="*/ 5 w 32"/>
                <a:gd name="T15" fmla="*/ 37 h 40"/>
                <a:gd name="T16" fmla="*/ 2 w 32"/>
                <a:gd name="T17" fmla="*/ 33 h 40"/>
                <a:gd name="T18" fmla="*/ 0 w 32"/>
                <a:gd name="T19" fmla="*/ 27 h 40"/>
                <a:gd name="T20" fmla="*/ 2 w 32"/>
                <a:gd name="T21" fmla="*/ 21 h 40"/>
                <a:gd name="T22" fmla="*/ 5 w 32"/>
                <a:gd name="T23" fmla="*/ 17 h 40"/>
                <a:gd name="T24" fmla="*/ 10 w 32"/>
                <a:gd name="T25" fmla="*/ 15 h 40"/>
                <a:gd name="T26" fmla="*/ 16 w 32"/>
                <a:gd name="T27" fmla="*/ 14 h 40"/>
                <a:gd name="T28" fmla="*/ 21 w 32"/>
                <a:gd name="T29" fmla="*/ 15 h 40"/>
                <a:gd name="T30" fmla="*/ 24 w 32"/>
                <a:gd name="T31" fmla="*/ 16 h 40"/>
                <a:gd name="T32" fmla="*/ 24 w 32"/>
                <a:gd name="T33" fmla="*/ 13 h 40"/>
                <a:gd name="T34" fmla="*/ 22 w 32"/>
                <a:gd name="T35" fmla="*/ 8 h 40"/>
                <a:gd name="T36" fmla="*/ 17 w 32"/>
                <a:gd name="T37" fmla="*/ 6 h 40"/>
                <a:gd name="T38" fmla="*/ 12 w 32"/>
                <a:gd name="T39" fmla="*/ 7 h 40"/>
                <a:gd name="T40" fmla="*/ 7 w 32"/>
                <a:gd name="T41" fmla="*/ 9 h 40"/>
                <a:gd name="T42" fmla="*/ 4 w 32"/>
                <a:gd name="T43" fmla="*/ 3 h 40"/>
                <a:gd name="T44" fmla="*/ 10 w 32"/>
                <a:gd name="T45" fmla="*/ 0 h 40"/>
                <a:gd name="T46" fmla="*/ 17 w 32"/>
                <a:gd name="T47" fmla="*/ 0 h 40"/>
                <a:gd name="T48" fmla="*/ 23 w 32"/>
                <a:gd name="T49" fmla="*/ 0 h 40"/>
                <a:gd name="T50" fmla="*/ 28 w 32"/>
                <a:gd name="T51" fmla="*/ 3 h 40"/>
                <a:gd name="T52" fmla="*/ 31 w 32"/>
                <a:gd name="T53" fmla="*/ 7 h 40"/>
                <a:gd name="T54" fmla="*/ 32 w 32"/>
                <a:gd name="T55" fmla="*/ 12 h 40"/>
                <a:gd name="T56" fmla="*/ 32 w 32"/>
                <a:gd name="T57" fmla="*/ 39 h 40"/>
                <a:gd name="T58" fmla="*/ 24 w 32"/>
                <a:gd name="T59" fmla="*/ 39 h 40"/>
                <a:gd name="T60" fmla="*/ 24 w 32"/>
                <a:gd name="T61" fmla="*/ 22 h 40"/>
                <a:gd name="T62" fmla="*/ 22 w 32"/>
                <a:gd name="T63" fmla="*/ 22 h 40"/>
                <a:gd name="T64" fmla="*/ 21 w 32"/>
                <a:gd name="T65" fmla="*/ 21 h 40"/>
                <a:gd name="T66" fmla="*/ 18 w 32"/>
                <a:gd name="T67" fmla="*/ 21 h 40"/>
                <a:gd name="T68" fmla="*/ 16 w 32"/>
                <a:gd name="T69" fmla="*/ 21 h 40"/>
                <a:gd name="T70" fmla="*/ 10 w 32"/>
                <a:gd name="T71" fmla="*/ 22 h 40"/>
                <a:gd name="T72" fmla="*/ 8 w 32"/>
                <a:gd name="T73" fmla="*/ 26 h 40"/>
                <a:gd name="T74" fmla="*/ 8 w 32"/>
                <a:gd name="T75" fmla="*/ 29 h 40"/>
                <a:gd name="T76" fmla="*/ 10 w 32"/>
                <a:gd name="T77" fmla="*/ 31 h 40"/>
                <a:gd name="T78" fmla="*/ 12 w 32"/>
                <a:gd name="T79" fmla="*/ 32 h 40"/>
                <a:gd name="T80" fmla="*/ 15 w 32"/>
                <a:gd name="T81" fmla="*/ 33 h 40"/>
                <a:gd name="T82" fmla="*/ 18 w 32"/>
                <a:gd name="T83" fmla="*/ 32 h 40"/>
                <a:gd name="T84" fmla="*/ 21 w 32"/>
                <a:gd name="T85" fmla="*/ 31 h 40"/>
                <a:gd name="T86" fmla="*/ 23 w 32"/>
                <a:gd name="T87" fmla="*/ 30 h 40"/>
                <a:gd name="T88" fmla="*/ 24 w 32"/>
                <a:gd name="T89" fmla="*/ 28 h 40"/>
                <a:gd name="T90" fmla="*/ 24 w 32"/>
                <a:gd name="T9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 h="40">
                  <a:moveTo>
                    <a:pt x="24" y="39"/>
                  </a:moveTo>
                  <a:cubicBezTo>
                    <a:pt x="24" y="35"/>
                    <a:pt x="24" y="35"/>
                    <a:pt x="24" y="35"/>
                  </a:cubicBezTo>
                  <a:cubicBezTo>
                    <a:pt x="23" y="36"/>
                    <a:pt x="23" y="37"/>
                    <a:pt x="22" y="37"/>
                  </a:cubicBezTo>
                  <a:cubicBezTo>
                    <a:pt x="21" y="37"/>
                    <a:pt x="21" y="38"/>
                    <a:pt x="20" y="38"/>
                  </a:cubicBezTo>
                  <a:cubicBezTo>
                    <a:pt x="19" y="39"/>
                    <a:pt x="18" y="39"/>
                    <a:pt x="17" y="39"/>
                  </a:cubicBezTo>
                  <a:cubicBezTo>
                    <a:pt x="16" y="39"/>
                    <a:pt x="15" y="40"/>
                    <a:pt x="14" y="40"/>
                  </a:cubicBezTo>
                  <a:cubicBezTo>
                    <a:pt x="12" y="40"/>
                    <a:pt x="11" y="39"/>
                    <a:pt x="9" y="39"/>
                  </a:cubicBezTo>
                  <a:cubicBezTo>
                    <a:pt x="7" y="38"/>
                    <a:pt x="6" y="38"/>
                    <a:pt x="5" y="37"/>
                  </a:cubicBezTo>
                  <a:cubicBezTo>
                    <a:pt x="3" y="36"/>
                    <a:pt x="2" y="34"/>
                    <a:pt x="2" y="33"/>
                  </a:cubicBezTo>
                  <a:cubicBezTo>
                    <a:pt x="1" y="31"/>
                    <a:pt x="0" y="29"/>
                    <a:pt x="0" y="27"/>
                  </a:cubicBezTo>
                  <a:cubicBezTo>
                    <a:pt x="0" y="24"/>
                    <a:pt x="1" y="23"/>
                    <a:pt x="2" y="21"/>
                  </a:cubicBezTo>
                  <a:cubicBezTo>
                    <a:pt x="2" y="20"/>
                    <a:pt x="3" y="18"/>
                    <a:pt x="5" y="17"/>
                  </a:cubicBezTo>
                  <a:cubicBezTo>
                    <a:pt x="6" y="16"/>
                    <a:pt x="8" y="15"/>
                    <a:pt x="10" y="15"/>
                  </a:cubicBezTo>
                  <a:cubicBezTo>
                    <a:pt x="12" y="14"/>
                    <a:pt x="14" y="14"/>
                    <a:pt x="16" y="14"/>
                  </a:cubicBezTo>
                  <a:cubicBezTo>
                    <a:pt x="18" y="14"/>
                    <a:pt x="19" y="14"/>
                    <a:pt x="21" y="15"/>
                  </a:cubicBezTo>
                  <a:cubicBezTo>
                    <a:pt x="22" y="15"/>
                    <a:pt x="23" y="15"/>
                    <a:pt x="24" y="16"/>
                  </a:cubicBezTo>
                  <a:cubicBezTo>
                    <a:pt x="24" y="13"/>
                    <a:pt x="24" y="13"/>
                    <a:pt x="24" y="13"/>
                  </a:cubicBezTo>
                  <a:cubicBezTo>
                    <a:pt x="24" y="11"/>
                    <a:pt x="24" y="9"/>
                    <a:pt x="22" y="8"/>
                  </a:cubicBezTo>
                  <a:cubicBezTo>
                    <a:pt x="21" y="7"/>
                    <a:pt x="19" y="6"/>
                    <a:pt x="17" y="6"/>
                  </a:cubicBezTo>
                  <a:cubicBezTo>
                    <a:pt x="15" y="6"/>
                    <a:pt x="13" y="6"/>
                    <a:pt x="12" y="7"/>
                  </a:cubicBezTo>
                  <a:cubicBezTo>
                    <a:pt x="10" y="7"/>
                    <a:pt x="9" y="8"/>
                    <a:pt x="7" y="9"/>
                  </a:cubicBezTo>
                  <a:cubicBezTo>
                    <a:pt x="4" y="3"/>
                    <a:pt x="4" y="3"/>
                    <a:pt x="4" y="3"/>
                  </a:cubicBezTo>
                  <a:cubicBezTo>
                    <a:pt x="6" y="2"/>
                    <a:pt x="8" y="1"/>
                    <a:pt x="10" y="0"/>
                  </a:cubicBezTo>
                  <a:cubicBezTo>
                    <a:pt x="12" y="0"/>
                    <a:pt x="15" y="0"/>
                    <a:pt x="17" y="0"/>
                  </a:cubicBezTo>
                  <a:cubicBezTo>
                    <a:pt x="19" y="0"/>
                    <a:pt x="21" y="0"/>
                    <a:pt x="23" y="0"/>
                  </a:cubicBezTo>
                  <a:cubicBezTo>
                    <a:pt x="25" y="1"/>
                    <a:pt x="26" y="2"/>
                    <a:pt x="28" y="3"/>
                  </a:cubicBezTo>
                  <a:cubicBezTo>
                    <a:pt x="29" y="4"/>
                    <a:pt x="30" y="5"/>
                    <a:pt x="31" y="7"/>
                  </a:cubicBezTo>
                  <a:cubicBezTo>
                    <a:pt x="31" y="8"/>
                    <a:pt x="32" y="10"/>
                    <a:pt x="32" y="12"/>
                  </a:cubicBezTo>
                  <a:cubicBezTo>
                    <a:pt x="32" y="39"/>
                    <a:pt x="32" y="39"/>
                    <a:pt x="32" y="39"/>
                  </a:cubicBezTo>
                  <a:lnTo>
                    <a:pt x="24" y="39"/>
                  </a:lnTo>
                  <a:close/>
                  <a:moveTo>
                    <a:pt x="24" y="22"/>
                  </a:moveTo>
                  <a:cubicBezTo>
                    <a:pt x="24" y="22"/>
                    <a:pt x="23" y="22"/>
                    <a:pt x="22" y="22"/>
                  </a:cubicBezTo>
                  <a:cubicBezTo>
                    <a:pt x="22" y="21"/>
                    <a:pt x="21" y="21"/>
                    <a:pt x="21" y="21"/>
                  </a:cubicBezTo>
                  <a:cubicBezTo>
                    <a:pt x="20" y="21"/>
                    <a:pt x="19" y="21"/>
                    <a:pt x="18" y="21"/>
                  </a:cubicBezTo>
                  <a:cubicBezTo>
                    <a:pt x="17" y="21"/>
                    <a:pt x="17" y="21"/>
                    <a:pt x="16" y="21"/>
                  </a:cubicBezTo>
                  <a:cubicBezTo>
                    <a:pt x="13" y="21"/>
                    <a:pt x="11" y="21"/>
                    <a:pt x="10" y="22"/>
                  </a:cubicBezTo>
                  <a:cubicBezTo>
                    <a:pt x="8" y="23"/>
                    <a:pt x="8" y="25"/>
                    <a:pt x="8" y="26"/>
                  </a:cubicBezTo>
                  <a:cubicBezTo>
                    <a:pt x="8" y="28"/>
                    <a:pt x="8" y="29"/>
                    <a:pt x="8" y="29"/>
                  </a:cubicBezTo>
                  <a:cubicBezTo>
                    <a:pt x="9" y="30"/>
                    <a:pt x="9" y="31"/>
                    <a:pt x="10" y="31"/>
                  </a:cubicBezTo>
                  <a:cubicBezTo>
                    <a:pt x="10" y="32"/>
                    <a:pt x="11" y="32"/>
                    <a:pt x="12" y="32"/>
                  </a:cubicBezTo>
                  <a:cubicBezTo>
                    <a:pt x="13" y="33"/>
                    <a:pt x="14" y="33"/>
                    <a:pt x="15" y="33"/>
                  </a:cubicBezTo>
                  <a:cubicBezTo>
                    <a:pt x="16" y="33"/>
                    <a:pt x="17" y="33"/>
                    <a:pt x="18" y="32"/>
                  </a:cubicBezTo>
                  <a:cubicBezTo>
                    <a:pt x="19" y="32"/>
                    <a:pt x="20" y="32"/>
                    <a:pt x="21" y="31"/>
                  </a:cubicBezTo>
                  <a:cubicBezTo>
                    <a:pt x="21" y="31"/>
                    <a:pt x="22" y="30"/>
                    <a:pt x="23" y="30"/>
                  </a:cubicBezTo>
                  <a:cubicBezTo>
                    <a:pt x="23" y="29"/>
                    <a:pt x="24" y="28"/>
                    <a:pt x="24" y="28"/>
                  </a:cubicBezTo>
                  <a:lnTo>
                    <a:pt x="24" y="2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5" name="Freeform 42">
              <a:extLst>
                <a:ext uri="{FF2B5EF4-FFF2-40B4-BE49-F238E27FC236}">
                  <a16:creationId xmlns:a16="http://schemas.microsoft.com/office/drawing/2014/main" id="{223989A0-E246-4806-AF7E-9D6C2B1DD489}"/>
                </a:ext>
              </a:extLst>
            </p:cNvPr>
            <p:cNvSpPr>
              <a:spLocks/>
            </p:cNvSpPr>
            <p:nvPr userDrawn="1"/>
          </p:nvSpPr>
          <p:spPr bwMode="auto">
            <a:xfrm>
              <a:off x="3877436" y="6212575"/>
              <a:ext cx="78468" cy="99391"/>
            </a:xfrm>
            <a:custGeom>
              <a:avLst/>
              <a:gdLst>
                <a:gd name="T0" fmla="*/ 23 w 31"/>
                <a:gd name="T1" fmla="*/ 39 h 39"/>
                <a:gd name="T2" fmla="*/ 23 w 31"/>
                <a:gd name="T3" fmla="*/ 17 h 39"/>
                <a:gd name="T4" fmla="*/ 22 w 31"/>
                <a:gd name="T5" fmla="*/ 9 h 39"/>
                <a:gd name="T6" fmla="*/ 15 w 31"/>
                <a:gd name="T7" fmla="*/ 7 h 39"/>
                <a:gd name="T8" fmla="*/ 12 w 31"/>
                <a:gd name="T9" fmla="*/ 7 h 39"/>
                <a:gd name="T10" fmla="*/ 10 w 31"/>
                <a:gd name="T11" fmla="*/ 9 h 39"/>
                <a:gd name="T12" fmla="*/ 8 w 31"/>
                <a:gd name="T13" fmla="*/ 12 h 39"/>
                <a:gd name="T14" fmla="*/ 8 w 31"/>
                <a:gd name="T15" fmla="*/ 16 h 39"/>
                <a:gd name="T16" fmla="*/ 8 w 31"/>
                <a:gd name="T17" fmla="*/ 39 h 39"/>
                <a:gd name="T18" fmla="*/ 0 w 31"/>
                <a:gd name="T19" fmla="*/ 39 h 39"/>
                <a:gd name="T20" fmla="*/ 0 w 31"/>
                <a:gd name="T21" fmla="*/ 0 h 39"/>
                <a:gd name="T22" fmla="*/ 8 w 31"/>
                <a:gd name="T23" fmla="*/ 0 h 39"/>
                <a:gd name="T24" fmla="*/ 8 w 31"/>
                <a:gd name="T25" fmla="*/ 4 h 39"/>
                <a:gd name="T26" fmla="*/ 9 w 31"/>
                <a:gd name="T27" fmla="*/ 2 h 39"/>
                <a:gd name="T28" fmla="*/ 12 w 31"/>
                <a:gd name="T29" fmla="*/ 1 h 39"/>
                <a:gd name="T30" fmla="*/ 14 w 31"/>
                <a:gd name="T31" fmla="*/ 0 h 39"/>
                <a:gd name="T32" fmla="*/ 17 w 31"/>
                <a:gd name="T33" fmla="*/ 0 h 39"/>
                <a:gd name="T34" fmla="*/ 23 w 31"/>
                <a:gd name="T35" fmla="*/ 1 h 39"/>
                <a:gd name="T36" fmla="*/ 28 w 31"/>
                <a:gd name="T37" fmla="*/ 4 h 39"/>
                <a:gd name="T38" fmla="*/ 30 w 31"/>
                <a:gd name="T39" fmla="*/ 9 h 39"/>
                <a:gd name="T40" fmla="*/ 31 w 31"/>
                <a:gd name="T41" fmla="*/ 17 h 39"/>
                <a:gd name="T42" fmla="*/ 31 w 31"/>
                <a:gd name="T43" fmla="*/ 39 h 39"/>
                <a:gd name="T44" fmla="*/ 23 w 31"/>
                <a:gd name="T45"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9">
                  <a:moveTo>
                    <a:pt x="23" y="39"/>
                  </a:moveTo>
                  <a:cubicBezTo>
                    <a:pt x="23" y="17"/>
                    <a:pt x="23" y="17"/>
                    <a:pt x="23" y="17"/>
                  </a:cubicBezTo>
                  <a:cubicBezTo>
                    <a:pt x="23" y="14"/>
                    <a:pt x="23" y="11"/>
                    <a:pt x="22" y="9"/>
                  </a:cubicBezTo>
                  <a:cubicBezTo>
                    <a:pt x="20" y="7"/>
                    <a:pt x="18" y="7"/>
                    <a:pt x="15" y="7"/>
                  </a:cubicBezTo>
                  <a:cubicBezTo>
                    <a:pt x="14" y="7"/>
                    <a:pt x="13" y="7"/>
                    <a:pt x="12" y="7"/>
                  </a:cubicBezTo>
                  <a:cubicBezTo>
                    <a:pt x="11" y="8"/>
                    <a:pt x="10" y="8"/>
                    <a:pt x="10" y="9"/>
                  </a:cubicBezTo>
                  <a:cubicBezTo>
                    <a:pt x="9" y="10"/>
                    <a:pt x="8" y="11"/>
                    <a:pt x="8" y="12"/>
                  </a:cubicBezTo>
                  <a:cubicBezTo>
                    <a:pt x="8" y="14"/>
                    <a:pt x="8" y="15"/>
                    <a:pt x="8" y="16"/>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1" y="1"/>
                    <a:pt x="12" y="1"/>
                  </a:cubicBezTo>
                  <a:cubicBezTo>
                    <a:pt x="12" y="0"/>
                    <a:pt x="13" y="0"/>
                    <a:pt x="14" y="0"/>
                  </a:cubicBezTo>
                  <a:cubicBezTo>
                    <a:pt x="15" y="0"/>
                    <a:pt x="16" y="0"/>
                    <a:pt x="17" y="0"/>
                  </a:cubicBezTo>
                  <a:cubicBezTo>
                    <a:pt x="20" y="0"/>
                    <a:pt x="22" y="0"/>
                    <a:pt x="23" y="1"/>
                  </a:cubicBezTo>
                  <a:cubicBezTo>
                    <a:pt x="25" y="1"/>
                    <a:pt x="26" y="2"/>
                    <a:pt x="28" y="4"/>
                  </a:cubicBezTo>
                  <a:cubicBezTo>
                    <a:pt x="29" y="5"/>
                    <a:pt x="29" y="7"/>
                    <a:pt x="30" y="9"/>
                  </a:cubicBezTo>
                  <a:cubicBezTo>
                    <a:pt x="31" y="11"/>
                    <a:pt x="31" y="14"/>
                    <a:pt x="31" y="17"/>
                  </a:cubicBezTo>
                  <a:cubicBezTo>
                    <a:pt x="31" y="39"/>
                    <a:pt x="31" y="39"/>
                    <a:pt x="31" y="39"/>
                  </a:cubicBezTo>
                  <a:lnTo>
                    <a:pt x="23" y="3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6" name="Freeform 43">
              <a:extLst>
                <a:ext uri="{FF2B5EF4-FFF2-40B4-BE49-F238E27FC236}">
                  <a16:creationId xmlns:a16="http://schemas.microsoft.com/office/drawing/2014/main" id="{5FED967A-F1ED-4489-A689-A9A49A278085}"/>
                </a:ext>
              </a:extLst>
            </p:cNvPr>
            <p:cNvSpPr>
              <a:spLocks/>
            </p:cNvSpPr>
            <p:nvPr userDrawn="1"/>
          </p:nvSpPr>
          <p:spPr bwMode="auto">
            <a:xfrm>
              <a:off x="3975084" y="6212575"/>
              <a:ext cx="73236" cy="101135"/>
            </a:xfrm>
            <a:custGeom>
              <a:avLst/>
              <a:gdLst>
                <a:gd name="T0" fmla="*/ 28 w 29"/>
                <a:gd name="T1" fmla="*/ 4 h 40"/>
                <a:gd name="T2" fmla="*/ 24 w 29"/>
                <a:gd name="T3" fmla="*/ 10 h 40"/>
                <a:gd name="T4" fmla="*/ 20 w 29"/>
                <a:gd name="T5" fmla="*/ 7 h 40"/>
                <a:gd name="T6" fmla="*/ 14 w 29"/>
                <a:gd name="T7" fmla="*/ 6 h 40"/>
                <a:gd name="T8" fmla="*/ 10 w 29"/>
                <a:gd name="T9" fmla="*/ 7 h 40"/>
                <a:gd name="T10" fmla="*/ 9 w 29"/>
                <a:gd name="T11" fmla="*/ 10 h 40"/>
                <a:gd name="T12" fmla="*/ 9 w 29"/>
                <a:gd name="T13" fmla="*/ 11 h 40"/>
                <a:gd name="T14" fmla="*/ 10 w 29"/>
                <a:gd name="T15" fmla="*/ 12 h 40"/>
                <a:gd name="T16" fmla="*/ 13 w 29"/>
                <a:gd name="T17" fmla="*/ 14 h 40"/>
                <a:gd name="T18" fmla="*/ 16 w 29"/>
                <a:gd name="T19" fmla="*/ 15 h 40"/>
                <a:gd name="T20" fmla="*/ 22 w 29"/>
                <a:gd name="T21" fmla="*/ 18 h 40"/>
                <a:gd name="T22" fmla="*/ 26 w 29"/>
                <a:gd name="T23" fmla="*/ 20 h 40"/>
                <a:gd name="T24" fmla="*/ 28 w 29"/>
                <a:gd name="T25" fmla="*/ 24 h 40"/>
                <a:gd name="T26" fmla="*/ 29 w 29"/>
                <a:gd name="T27" fmla="*/ 28 h 40"/>
                <a:gd name="T28" fmla="*/ 28 w 29"/>
                <a:gd name="T29" fmla="*/ 34 h 40"/>
                <a:gd name="T30" fmla="*/ 25 w 29"/>
                <a:gd name="T31" fmla="*/ 37 h 40"/>
                <a:gd name="T32" fmla="*/ 20 w 29"/>
                <a:gd name="T33" fmla="*/ 39 h 40"/>
                <a:gd name="T34" fmla="*/ 15 w 29"/>
                <a:gd name="T35" fmla="*/ 40 h 40"/>
                <a:gd name="T36" fmla="*/ 7 w 29"/>
                <a:gd name="T37" fmla="*/ 38 h 40"/>
                <a:gd name="T38" fmla="*/ 0 w 29"/>
                <a:gd name="T39" fmla="*/ 35 h 40"/>
                <a:gd name="T40" fmla="*/ 3 w 29"/>
                <a:gd name="T41" fmla="*/ 29 h 40"/>
                <a:gd name="T42" fmla="*/ 9 w 29"/>
                <a:gd name="T43" fmla="*/ 32 h 40"/>
                <a:gd name="T44" fmla="*/ 15 w 29"/>
                <a:gd name="T45" fmla="*/ 33 h 40"/>
                <a:gd name="T46" fmla="*/ 20 w 29"/>
                <a:gd name="T47" fmla="*/ 32 h 40"/>
                <a:gd name="T48" fmla="*/ 22 w 29"/>
                <a:gd name="T49" fmla="*/ 29 h 40"/>
                <a:gd name="T50" fmla="*/ 21 w 29"/>
                <a:gd name="T51" fmla="*/ 27 h 40"/>
                <a:gd name="T52" fmla="*/ 19 w 29"/>
                <a:gd name="T53" fmla="*/ 25 h 40"/>
                <a:gd name="T54" fmla="*/ 16 w 29"/>
                <a:gd name="T55" fmla="*/ 24 h 40"/>
                <a:gd name="T56" fmla="*/ 13 w 29"/>
                <a:gd name="T57" fmla="*/ 22 h 40"/>
                <a:gd name="T58" fmla="*/ 7 w 29"/>
                <a:gd name="T59" fmla="*/ 20 h 40"/>
                <a:gd name="T60" fmla="*/ 4 w 29"/>
                <a:gd name="T61" fmla="*/ 17 h 40"/>
                <a:gd name="T62" fmla="*/ 2 w 29"/>
                <a:gd name="T63" fmla="*/ 14 h 40"/>
                <a:gd name="T64" fmla="*/ 1 w 29"/>
                <a:gd name="T65" fmla="*/ 10 h 40"/>
                <a:gd name="T66" fmla="*/ 2 w 29"/>
                <a:gd name="T67" fmla="*/ 5 h 40"/>
                <a:gd name="T68" fmla="*/ 5 w 29"/>
                <a:gd name="T69" fmla="*/ 2 h 40"/>
                <a:gd name="T70" fmla="*/ 9 w 29"/>
                <a:gd name="T71" fmla="*/ 0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4" y="10"/>
                    <a:pt x="24" y="10"/>
                    <a:pt x="24" y="10"/>
                  </a:cubicBezTo>
                  <a:cubicBezTo>
                    <a:pt x="23" y="8"/>
                    <a:pt x="21" y="8"/>
                    <a:pt x="20" y="7"/>
                  </a:cubicBezTo>
                  <a:cubicBezTo>
                    <a:pt x="18" y="7"/>
                    <a:pt x="16" y="6"/>
                    <a:pt x="14" y="6"/>
                  </a:cubicBezTo>
                  <a:cubicBezTo>
                    <a:pt x="12" y="6"/>
                    <a:pt x="11" y="7"/>
                    <a:pt x="10" y="7"/>
                  </a:cubicBezTo>
                  <a:cubicBezTo>
                    <a:pt x="9" y="8"/>
                    <a:pt x="9" y="9"/>
                    <a:pt x="9" y="10"/>
                  </a:cubicBezTo>
                  <a:cubicBezTo>
                    <a:pt x="9" y="10"/>
                    <a:pt x="9" y="11"/>
                    <a:pt x="9" y="11"/>
                  </a:cubicBezTo>
                  <a:cubicBezTo>
                    <a:pt x="10" y="12"/>
                    <a:pt x="10" y="12"/>
                    <a:pt x="10" y="12"/>
                  </a:cubicBezTo>
                  <a:cubicBezTo>
                    <a:pt x="11" y="13"/>
                    <a:pt x="12" y="13"/>
                    <a:pt x="13" y="14"/>
                  </a:cubicBezTo>
                  <a:cubicBezTo>
                    <a:pt x="14" y="14"/>
                    <a:pt x="15" y="15"/>
                    <a:pt x="16" y="15"/>
                  </a:cubicBezTo>
                  <a:cubicBezTo>
                    <a:pt x="18" y="16"/>
                    <a:pt x="20" y="17"/>
                    <a:pt x="22" y="18"/>
                  </a:cubicBezTo>
                  <a:cubicBezTo>
                    <a:pt x="23" y="19"/>
                    <a:pt x="25" y="19"/>
                    <a:pt x="26" y="20"/>
                  </a:cubicBezTo>
                  <a:cubicBezTo>
                    <a:pt x="27" y="21"/>
                    <a:pt x="28" y="22"/>
                    <a:pt x="28" y="24"/>
                  </a:cubicBezTo>
                  <a:cubicBezTo>
                    <a:pt x="29" y="25"/>
                    <a:pt x="29" y="26"/>
                    <a:pt x="29" y="28"/>
                  </a:cubicBezTo>
                  <a:cubicBezTo>
                    <a:pt x="29" y="30"/>
                    <a:pt x="29" y="32"/>
                    <a:pt x="28" y="34"/>
                  </a:cubicBezTo>
                  <a:cubicBezTo>
                    <a:pt x="27" y="35"/>
                    <a:pt x="26" y="36"/>
                    <a:pt x="25" y="37"/>
                  </a:cubicBezTo>
                  <a:cubicBezTo>
                    <a:pt x="23" y="38"/>
                    <a:pt x="22" y="39"/>
                    <a:pt x="20" y="39"/>
                  </a:cubicBezTo>
                  <a:cubicBezTo>
                    <a:pt x="18" y="39"/>
                    <a:pt x="17" y="40"/>
                    <a:pt x="15" y="40"/>
                  </a:cubicBezTo>
                  <a:cubicBezTo>
                    <a:pt x="12" y="40"/>
                    <a:pt x="10" y="39"/>
                    <a:pt x="7" y="38"/>
                  </a:cubicBezTo>
                  <a:cubicBezTo>
                    <a:pt x="4" y="37"/>
                    <a:pt x="2" y="36"/>
                    <a:pt x="0" y="35"/>
                  </a:cubicBezTo>
                  <a:cubicBezTo>
                    <a:pt x="3" y="29"/>
                    <a:pt x="3" y="29"/>
                    <a:pt x="3" y="29"/>
                  </a:cubicBezTo>
                  <a:cubicBezTo>
                    <a:pt x="5" y="30"/>
                    <a:pt x="7" y="31"/>
                    <a:pt x="9" y="32"/>
                  </a:cubicBezTo>
                  <a:cubicBezTo>
                    <a:pt x="11" y="32"/>
                    <a:pt x="13" y="33"/>
                    <a:pt x="15" y="33"/>
                  </a:cubicBezTo>
                  <a:cubicBezTo>
                    <a:pt x="17" y="33"/>
                    <a:pt x="19" y="32"/>
                    <a:pt x="20" y="32"/>
                  </a:cubicBezTo>
                  <a:cubicBezTo>
                    <a:pt x="21" y="31"/>
                    <a:pt x="22" y="30"/>
                    <a:pt x="22" y="29"/>
                  </a:cubicBezTo>
                  <a:cubicBezTo>
                    <a:pt x="22" y="28"/>
                    <a:pt x="21" y="27"/>
                    <a:pt x="21" y="27"/>
                  </a:cubicBezTo>
                  <a:cubicBezTo>
                    <a:pt x="21" y="26"/>
                    <a:pt x="20" y="25"/>
                    <a:pt x="19" y="25"/>
                  </a:cubicBezTo>
                  <a:cubicBezTo>
                    <a:pt x="18" y="25"/>
                    <a:pt x="18" y="24"/>
                    <a:pt x="16" y="24"/>
                  </a:cubicBezTo>
                  <a:cubicBezTo>
                    <a:pt x="15" y="23"/>
                    <a:pt x="14" y="23"/>
                    <a:pt x="13" y="22"/>
                  </a:cubicBezTo>
                  <a:cubicBezTo>
                    <a:pt x="11" y="21"/>
                    <a:pt x="9" y="20"/>
                    <a:pt x="7" y="20"/>
                  </a:cubicBezTo>
                  <a:cubicBezTo>
                    <a:pt x="6" y="19"/>
                    <a:pt x="5" y="18"/>
                    <a:pt x="4" y="17"/>
                  </a:cubicBezTo>
                  <a:cubicBezTo>
                    <a:pt x="3" y="16"/>
                    <a:pt x="2" y="15"/>
                    <a:pt x="2" y="14"/>
                  </a:cubicBezTo>
                  <a:cubicBezTo>
                    <a:pt x="2" y="13"/>
                    <a:pt x="1" y="12"/>
                    <a:pt x="1" y="10"/>
                  </a:cubicBezTo>
                  <a:cubicBezTo>
                    <a:pt x="1" y="8"/>
                    <a:pt x="2" y="7"/>
                    <a:pt x="2" y="5"/>
                  </a:cubicBezTo>
                  <a:cubicBezTo>
                    <a:pt x="3" y="4"/>
                    <a:pt x="4" y="3"/>
                    <a:pt x="5" y="2"/>
                  </a:cubicBezTo>
                  <a:cubicBezTo>
                    <a:pt x="6" y="1"/>
                    <a:pt x="8" y="1"/>
                    <a:pt x="9" y="0"/>
                  </a:cubicBezTo>
                  <a:cubicBezTo>
                    <a:pt x="11" y="0"/>
                    <a:pt x="13" y="0"/>
                    <a:pt x="15" y="0"/>
                  </a:cubicBezTo>
                  <a:cubicBezTo>
                    <a:pt x="17" y="0"/>
                    <a:pt x="19"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7" name="Freeform 44">
              <a:extLst>
                <a:ext uri="{FF2B5EF4-FFF2-40B4-BE49-F238E27FC236}">
                  <a16:creationId xmlns:a16="http://schemas.microsoft.com/office/drawing/2014/main" id="{DA362954-FE74-40B7-AB98-CC8AC60FFC8D}"/>
                </a:ext>
              </a:extLst>
            </p:cNvPr>
            <p:cNvSpPr>
              <a:spLocks/>
            </p:cNvSpPr>
            <p:nvPr userDrawn="1"/>
          </p:nvSpPr>
          <p:spPr bwMode="auto">
            <a:xfrm>
              <a:off x="4058782" y="6212575"/>
              <a:ext cx="122060" cy="99391"/>
            </a:xfrm>
            <a:custGeom>
              <a:avLst/>
              <a:gdLst>
                <a:gd name="T0" fmla="*/ 55 w 70"/>
                <a:gd name="T1" fmla="*/ 57 h 57"/>
                <a:gd name="T2" fmla="*/ 45 w 70"/>
                <a:gd name="T3" fmla="*/ 57 h 57"/>
                <a:gd name="T4" fmla="*/ 35 w 70"/>
                <a:gd name="T5" fmla="*/ 17 h 57"/>
                <a:gd name="T6" fmla="*/ 25 w 70"/>
                <a:gd name="T7" fmla="*/ 57 h 57"/>
                <a:gd name="T8" fmla="*/ 14 w 70"/>
                <a:gd name="T9" fmla="*/ 57 h 57"/>
                <a:gd name="T10" fmla="*/ 0 w 70"/>
                <a:gd name="T11" fmla="*/ 0 h 57"/>
                <a:gd name="T12" fmla="*/ 10 w 70"/>
                <a:gd name="T13" fmla="*/ 0 h 57"/>
                <a:gd name="T14" fmla="*/ 20 w 70"/>
                <a:gd name="T15" fmla="*/ 39 h 57"/>
                <a:gd name="T16" fmla="*/ 30 w 70"/>
                <a:gd name="T17" fmla="*/ 0 h 57"/>
                <a:gd name="T18" fmla="*/ 39 w 70"/>
                <a:gd name="T19" fmla="*/ 0 h 57"/>
                <a:gd name="T20" fmla="*/ 49 w 70"/>
                <a:gd name="T21" fmla="*/ 39 h 57"/>
                <a:gd name="T22" fmla="*/ 60 w 70"/>
                <a:gd name="T23" fmla="*/ 0 h 57"/>
                <a:gd name="T24" fmla="*/ 70 w 70"/>
                <a:gd name="T25" fmla="*/ 0 h 57"/>
                <a:gd name="T26" fmla="*/ 55 w 70"/>
                <a:gd name="T27"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7">
                  <a:moveTo>
                    <a:pt x="55" y="57"/>
                  </a:moveTo>
                  <a:lnTo>
                    <a:pt x="45" y="57"/>
                  </a:lnTo>
                  <a:lnTo>
                    <a:pt x="35" y="17"/>
                  </a:lnTo>
                  <a:lnTo>
                    <a:pt x="25" y="57"/>
                  </a:lnTo>
                  <a:lnTo>
                    <a:pt x="14" y="57"/>
                  </a:lnTo>
                  <a:lnTo>
                    <a:pt x="0" y="0"/>
                  </a:lnTo>
                  <a:lnTo>
                    <a:pt x="10" y="0"/>
                  </a:lnTo>
                  <a:lnTo>
                    <a:pt x="20" y="39"/>
                  </a:lnTo>
                  <a:lnTo>
                    <a:pt x="30" y="0"/>
                  </a:lnTo>
                  <a:lnTo>
                    <a:pt x="39" y="0"/>
                  </a:lnTo>
                  <a:lnTo>
                    <a:pt x="49" y="39"/>
                  </a:lnTo>
                  <a:lnTo>
                    <a:pt x="60" y="0"/>
                  </a:lnTo>
                  <a:lnTo>
                    <a:pt x="70" y="0"/>
                  </a:lnTo>
                  <a:lnTo>
                    <a:pt x="55" y="5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8" name="Freeform 45">
              <a:extLst>
                <a:ext uri="{FF2B5EF4-FFF2-40B4-BE49-F238E27FC236}">
                  <a16:creationId xmlns:a16="http://schemas.microsoft.com/office/drawing/2014/main" id="{C1C7EF3F-CB28-4C69-901C-8F9F09C5B597}"/>
                </a:ext>
              </a:extLst>
            </p:cNvPr>
            <p:cNvSpPr>
              <a:spLocks noEditPoints="1"/>
            </p:cNvSpPr>
            <p:nvPr userDrawn="1"/>
          </p:nvSpPr>
          <p:spPr bwMode="auto">
            <a:xfrm>
              <a:off x="4191304" y="6212575"/>
              <a:ext cx="83698" cy="101135"/>
            </a:xfrm>
            <a:custGeom>
              <a:avLst/>
              <a:gdLst>
                <a:gd name="T0" fmla="*/ 33 w 33"/>
                <a:gd name="T1" fmla="*/ 19 h 40"/>
                <a:gd name="T2" fmla="*/ 33 w 33"/>
                <a:gd name="T3" fmla="*/ 21 h 40"/>
                <a:gd name="T4" fmla="*/ 33 w 33"/>
                <a:gd name="T5" fmla="*/ 22 h 40"/>
                <a:gd name="T6" fmla="*/ 7 w 33"/>
                <a:gd name="T7" fmla="*/ 22 h 40"/>
                <a:gd name="T8" fmla="*/ 9 w 33"/>
                <a:gd name="T9" fmla="*/ 27 h 40"/>
                <a:gd name="T10" fmla="*/ 11 w 33"/>
                <a:gd name="T11" fmla="*/ 30 h 40"/>
                <a:gd name="T12" fmla="*/ 14 w 33"/>
                <a:gd name="T13" fmla="*/ 32 h 40"/>
                <a:gd name="T14" fmla="*/ 17 w 33"/>
                <a:gd name="T15" fmla="*/ 33 h 40"/>
                <a:gd name="T16" fmla="*/ 20 w 33"/>
                <a:gd name="T17" fmla="*/ 33 h 40"/>
                <a:gd name="T18" fmla="*/ 22 w 33"/>
                <a:gd name="T19" fmla="*/ 32 h 40"/>
                <a:gd name="T20" fmla="*/ 23 w 33"/>
                <a:gd name="T21" fmla="*/ 31 h 40"/>
                <a:gd name="T22" fmla="*/ 25 w 33"/>
                <a:gd name="T23" fmla="*/ 30 h 40"/>
                <a:gd name="T24" fmla="*/ 30 w 33"/>
                <a:gd name="T25" fmla="*/ 35 h 40"/>
                <a:gd name="T26" fmla="*/ 27 w 33"/>
                <a:gd name="T27" fmla="*/ 37 h 40"/>
                <a:gd name="T28" fmla="*/ 24 w 33"/>
                <a:gd name="T29" fmla="*/ 38 h 40"/>
                <a:gd name="T30" fmla="*/ 21 w 33"/>
                <a:gd name="T31" fmla="*/ 39 h 40"/>
                <a:gd name="T32" fmla="*/ 17 w 33"/>
                <a:gd name="T33" fmla="*/ 40 h 40"/>
                <a:gd name="T34" fmla="*/ 12 w 33"/>
                <a:gd name="T35" fmla="*/ 39 h 40"/>
                <a:gd name="T36" fmla="*/ 8 w 33"/>
                <a:gd name="T37" fmla="*/ 37 h 40"/>
                <a:gd name="T38" fmla="*/ 5 w 33"/>
                <a:gd name="T39" fmla="*/ 34 h 40"/>
                <a:gd name="T40" fmla="*/ 3 w 33"/>
                <a:gd name="T41" fmla="*/ 31 h 40"/>
                <a:gd name="T42" fmla="*/ 1 w 33"/>
                <a:gd name="T43" fmla="*/ 26 h 40"/>
                <a:gd name="T44" fmla="*/ 0 w 33"/>
                <a:gd name="T45" fmla="*/ 20 h 40"/>
                <a:gd name="T46" fmla="*/ 1 w 33"/>
                <a:gd name="T47" fmla="*/ 11 h 40"/>
                <a:gd name="T48" fmla="*/ 5 w 33"/>
                <a:gd name="T49" fmla="*/ 5 h 40"/>
                <a:gd name="T50" fmla="*/ 10 w 33"/>
                <a:gd name="T51" fmla="*/ 1 h 40"/>
                <a:gd name="T52" fmla="*/ 17 w 33"/>
                <a:gd name="T53" fmla="*/ 0 h 40"/>
                <a:gd name="T54" fmla="*/ 24 w 33"/>
                <a:gd name="T55" fmla="*/ 1 h 40"/>
                <a:gd name="T56" fmla="*/ 29 w 33"/>
                <a:gd name="T57" fmla="*/ 5 h 40"/>
                <a:gd name="T58" fmla="*/ 32 w 33"/>
                <a:gd name="T59" fmla="*/ 11 h 40"/>
                <a:gd name="T60" fmla="*/ 33 w 33"/>
                <a:gd name="T61" fmla="*/ 19 h 40"/>
                <a:gd name="T62" fmla="*/ 25 w 33"/>
                <a:gd name="T63" fmla="*/ 16 h 40"/>
                <a:gd name="T64" fmla="*/ 25 w 33"/>
                <a:gd name="T65" fmla="*/ 12 h 40"/>
                <a:gd name="T66" fmla="*/ 23 w 33"/>
                <a:gd name="T67" fmla="*/ 9 h 40"/>
                <a:gd name="T68" fmla="*/ 20 w 33"/>
                <a:gd name="T69" fmla="*/ 7 h 40"/>
                <a:gd name="T70" fmla="*/ 16 w 33"/>
                <a:gd name="T71" fmla="*/ 6 h 40"/>
                <a:gd name="T72" fmla="*/ 13 w 33"/>
                <a:gd name="T73" fmla="*/ 7 h 40"/>
                <a:gd name="T74" fmla="*/ 10 w 33"/>
                <a:gd name="T75" fmla="*/ 9 h 40"/>
                <a:gd name="T76" fmla="*/ 9 w 33"/>
                <a:gd name="T77" fmla="*/ 12 h 40"/>
                <a:gd name="T78" fmla="*/ 8 w 33"/>
                <a:gd name="T79" fmla="*/ 16 h 40"/>
                <a:gd name="T80" fmla="*/ 25 w 33"/>
                <a:gd name="T8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19"/>
                    <a:pt x="33" y="20"/>
                    <a:pt x="33" y="21"/>
                  </a:cubicBezTo>
                  <a:cubicBezTo>
                    <a:pt x="33" y="21"/>
                    <a:pt x="33" y="22"/>
                    <a:pt x="33" y="22"/>
                  </a:cubicBezTo>
                  <a:cubicBezTo>
                    <a:pt x="7" y="22"/>
                    <a:pt x="7" y="22"/>
                    <a:pt x="7" y="22"/>
                  </a:cubicBezTo>
                  <a:cubicBezTo>
                    <a:pt x="8" y="24"/>
                    <a:pt x="8" y="26"/>
                    <a:pt x="9" y="27"/>
                  </a:cubicBezTo>
                  <a:cubicBezTo>
                    <a:pt x="9" y="28"/>
                    <a:pt x="10" y="29"/>
                    <a:pt x="11" y="30"/>
                  </a:cubicBezTo>
                  <a:cubicBezTo>
                    <a:pt x="12" y="31"/>
                    <a:pt x="13" y="32"/>
                    <a:pt x="14" y="32"/>
                  </a:cubicBezTo>
                  <a:cubicBezTo>
                    <a:pt x="15" y="33"/>
                    <a:pt x="16" y="33"/>
                    <a:pt x="17" y="33"/>
                  </a:cubicBezTo>
                  <a:cubicBezTo>
                    <a:pt x="18" y="33"/>
                    <a:pt x="19" y="33"/>
                    <a:pt x="20" y="33"/>
                  </a:cubicBezTo>
                  <a:cubicBezTo>
                    <a:pt x="20" y="32"/>
                    <a:pt x="21" y="32"/>
                    <a:pt x="22" y="32"/>
                  </a:cubicBezTo>
                  <a:cubicBezTo>
                    <a:pt x="22" y="32"/>
                    <a:pt x="23" y="31"/>
                    <a:pt x="23" y="31"/>
                  </a:cubicBezTo>
                  <a:cubicBezTo>
                    <a:pt x="24" y="31"/>
                    <a:pt x="25" y="30"/>
                    <a:pt x="25" y="30"/>
                  </a:cubicBezTo>
                  <a:cubicBezTo>
                    <a:pt x="30" y="35"/>
                    <a:pt x="30" y="35"/>
                    <a:pt x="30" y="35"/>
                  </a:cubicBezTo>
                  <a:cubicBezTo>
                    <a:pt x="29" y="35"/>
                    <a:pt x="28" y="36"/>
                    <a:pt x="27" y="37"/>
                  </a:cubicBezTo>
                  <a:cubicBezTo>
                    <a:pt x="26" y="37"/>
                    <a:pt x="25" y="38"/>
                    <a:pt x="24" y="38"/>
                  </a:cubicBezTo>
                  <a:cubicBezTo>
                    <a:pt x="23" y="39"/>
                    <a:pt x="22" y="39"/>
                    <a:pt x="21" y="39"/>
                  </a:cubicBezTo>
                  <a:cubicBezTo>
                    <a:pt x="20" y="39"/>
                    <a:pt x="18" y="40"/>
                    <a:pt x="17" y="40"/>
                  </a:cubicBezTo>
                  <a:cubicBezTo>
                    <a:pt x="15" y="40"/>
                    <a:pt x="13" y="39"/>
                    <a:pt x="12" y="39"/>
                  </a:cubicBezTo>
                  <a:cubicBezTo>
                    <a:pt x="11" y="38"/>
                    <a:pt x="9" y="38"/>
                    <a:pt x="8" y="37"/>
                  </a:cubicBezTo>
                  <a:cubicBezTo>
                    <a:pt x="7" y="36"/>
                    <a:pt x="6" y="35"/>
                    <a:pt x="5" y="34"/>
                  </a:cubicBezTo>
                  <a:cubicBezTo>
                    <a:pt x="4" y="34"/>
                    <a:pt x="3" y="32"/>
                    <a:pt x="3" y="31"/>
                  </a:cubicBezTo>
                  <a:cubicBezTo>
                    <a:pt x="2" y="29"/>
                    <a:pt x="1" y="28"/>
                    <a:pt x="1" y="26"/>
                  </a:cubicBezTo>
                  <a:cubicBezTo>
                    <a:pt x="0" y="24"/>
                    <a:pt x="0" y="22"/>
                    <a:pt x="0" y="20"/>
                  </a:cubicBezTo>
                  <a:cubicBezTo>
                    <a:pt x="0" y="16"/>
                    <a:pt x="0" y="13"/>
                    <a:pt x="1" y="11"/>
                  </a:cubicBezTo>
                  <a:cubicBezTo>
                    <a:pt x="2" y="8"/>
                    <a:pt x="3" y="6"/>
                    <a:pt x="5" y="5"/>
                  </a:cubicBezTo>
                  <a:cubicBezTo>
                    <a:pt x="6" y="3"/>
                    <a:pt x="8" y="2"/>
                    <a:pt x="10" y="1"/>
                  </a:cubicBezTo>
                  <a:cubicBezTo>
                    <a:pt x="12" y="0"/>
                    <a:pt x="14" y="0"/>
                    <a:pt x="17" y="0"/>
                  </a:cubicBezTo>
                  <a:cubicBezTo>
                    <a:pt x="20" y="0"/>
                    <a:pt x="22" y="0"/>
                    <a:pt x="24" y="1"/>
                  </a:cubicBezTo>
                  <a:cubicBezTo>
                    <a:pt x="26" y="2"/>
                    <a:pt x="28" y="4"/>
                    <a:pt x="29" y="5"/>
                  </a:cubicBezTo>
                  <a:cubicBezTo>
                    <a:pt x="30" y="7"/>
                    <a:pt x="31" y="9"/>
                    <a:pt x="32" y="11"/>
                  </a:cubicBezTo>
                  <a:cubicBezTo>
                    <a:pt x="33" y="14"/>
                    <a:pt x="33" y="16"/>
                    <a:pt x="33" y="19"/>
                  </a:cubicBezTo>
                  <a:close/>
                  <a:moveTo>
                    <a:pt x="25" y="16"/>
                  </a:moveTo>
                  <a:cubicBezTo>
                    <a:pt x="25" y="15"/>
                    <a:pt x="25" y="13"/>
                    <a:pt x="25" y="12"/>
                  </a:cubicBezTo>
                  <a:cubicBezTo>
                    <a:pt x="24" y="11"/>
                    <a:pt x="24" y="10"/>
                    <a:pt x="23" y="9"/>
                  </a:cubicBezTo>
                  <a:cubicBezTo>
                    <a:pt x="22" y="8"/>
                    <a:pt x="21" y="8"/>
                    <a:pt x="20" y="7"/>
                  </a:cubicBezTo>
                  <a:cubicBezTo>
                    <a:pt x="19" y="7"/>
                    <a:pt x="18" y="6"/>
                    <a:pt x="16" y="6"/>
                  </a:cubicBezTo>
                  <a:cubicBezTo>
                    <a:pt x="15" y="6"/>
                    <a:pt x="14" y="7"/>
                    <a:pt x="13" y="7"/>
                  </a:cubicBezTo>
                  <a:cubicBezTo>
                    <a:pt x="12" y="7"/>
                    <a:pt x="11" y="8"/>
                    <a:pt x="10" y="9"/>
                  </a:cubicBezTo>
                  <a:cubicBezTo>
                    <a:pt x="10" y="10"/>
                    <a:pt x="9" y="11"/>
                    <a:pt x="9" y="12"/>
                  </a:cubicBezTo>
                  <a:cubicBezTo>
                    <a:pt x="8" y="13"/>
                    <a:pt x="8" y="14"/>
                    <a:pt x="8" y="16"/>
                  </a:cubicBezTo>
                  <a:lnTo>
                    <a:pt x="25" y="1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09" name="Freeform 46">
              <a:extLst>
                <a:ext uri="{FF2B5EF4-FFF2-40B4-BE49-F238E27FC236}">
                  <a16:creationId xmlns:a16="http://schemas.microsoft.com/office/drawing/2014/main" id="{80D5AA14-D31C-42E8-B89F-2FCABF204007}"/>
                </a:ext>
              </a:extLst>
            </p:cNvPr>
            <p:cNvSpPr>
              <a:spLocks/>
            </p:cNvSpPr>
            <p:nvPr userDrawn="1"/>
          </p:nvSpPr>
          <p:spPr bwMode="auto">
            <a:xfrm>
              <a:off x="4295927" y="6212575"/>
              <a:ext cx="57543" cy="99391"/>
            </a:xfrm>
            <a:custGeom>
              <a:avLst/>
              <a:gdLst>
                <a:gd name="T0" fmla="*/ 21 w 23"/>
                <a:gd name="T1" fmla="*/ 8 h 39"/>
                <a:gd name="T2" fmla="*/ 18 w 23"/>
                <a:gd name="T3" fmla="*/ 7 h 39"/>
                <a:gd name="T4" fmla="*/ 15 w 23"/>
                <a:gd name="T5" fmla="*/ 7 h 39"/>
                <a:gd name="T6" fmla="*/ 10 w 23"/>
                <a:gd name="T7" fmla="*/ 9 h 39"/>
                <a:gd name="T8" fmla="*/ 8 w 23"/>
                <a:gd name="T9" fmla="*/ 17 h 39"/>
                <a:gd name="T10" fmla="*/ 8 w 23"/>
                <a:gd name="T11" fmla="*/ 39 h 39"/>
                <a:gd name="T12" fmla="*/ 0 w 23"/>
                <a:gd name="T13" fmla="*/ 39 h 39"/>
                <a:gd name="T14" fmla="*/ 0 w 23"/>
                <a:gd name="T15" fmla="*/ 0 h 39"/>
                <a:gd name="T16" fmla="*/ 8 w 23"/>
                <a:gd name="T17" fmla="*/ 0 h 39"/>
                <a:gd name="T18" fmla="*/ 8 w 23"/>
                <a:gd name="T19" fmla="*/ 4 h 39"/>
                <a:gd name="T20" fmla="*/ 9 w 23"/>
                <a:gd name="T21" fmla="*/ 2 h 39"/>
                <a:gd name="T22" fmla="*/ 11 w 23"/>
                <a:gd name="T23" fmla="*/ 1 h 39"/>
                <a:gd name="T24" fmla="*/ 14 w 23"/>
                <a:gd name="T25" fmla="*/ 0 h 39"/>
                <a:gd name="T26" fmla="*/ 16 w 23"/>
                <a:gd name="T27" fmla="*/ 0 h 39"/>
                <a:gd name="T28" fmla="*/ 20 w 23"/>
                <a:gd name="T29" fmla="*/ 0 h 39"/>
                <a:gd name="T30" fmla="*/ 23 w 23"/>
                <a:gd name="T31" fmla="*/ 1 h 39"/>
                <a:gd name="T32" fmla="*/ 21 w 23"/>
                <a:gd name="T33" fmla="*/ 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8"/>
                  </a:moveTo>
                  <a:cubicBezTo>
                    <a:pt x="20" y="8"/>
                    <a:pt x="19" y="8"/>
                    <a:pt x="18" y="7"/>
                  </a:cubicBezTo>
                  <a:cubicBezTo>
                    <a:pt x="17" y="7"/>
                    <a:pt x="16" y="7"/>
                    <a:pt x="15" y="7"/>
                  </a:cubicBezTo>
                  <a:cubicBezTo>
                    <a:pt x="13" y="7"/>
                    <a:pt x="11" y="8"/>
                    <a:pt x="10" y="9"/>
                  </a:cubicBezTo>
                  <a:cubicBezTo>
                    <a:pt x="8" y="11"/>
                    <a:pt x="8" y="14"/>
                    <a:pt x="8" y="17"/>
                  </a:cubicBezTo>
                  <a:cubicBezTo>
                    <a:pt x="8" y="39"/>
                    <a:pt x="8" y="39"/>
                    <a:pt x="8" y="39"/>
                  </a:cubicBezTo>
                  <a:cubicBezTo>
                    <a:pt x="0" y="39"/>
                    <a:pt x="0" y="39"/>
                    <a:pt x="0" y="39"/>
                  </a:cubicBezTo>
                  <a:cubicBezTo>
                    <a:pt x="0" y="0"/>
                    <a:pt x="0" y="0"/>
                    <a:pt x="0" y="0"/>
                  </a:cubicBezTo>
                  <a:cubicBezTo>
                    <a:pt x="8" y="0"/>
                    <a:pt x="8" y="0"/>
                    <a:pt x="8" y="0"/>
                  </a:cubicBezTo>
                  <a:cubicBezTo>
                    <a:pt x="8" y="4"/>
                    <a:pt x="8" y="4"/>
                    <a:pt x="8" y="4"/>
                  </a:cubicBezTo>
                  <a:cubicBezTo>
                    <a:pt x="8" y="3"/>
                    <a:pt x="9" y="3"/>
                    <a:pt x="9" y="2"/>
                  </a:cubicBezTo>
                  <a:cubicBezTo>
                    <a:pt x="10" y="2"/>
                    <a:pt x="10" y="1"/>
                    <a:pt x="11" y="1"/>
                  </a:cubicBezTo>
                  <a:cubicBezTo>
                    <a:pt x="12" y="0"/>
                    <a:pt x="13" y="0"/>
                    <a:pt x="14" y="0"/>
                  </a:cubicBezTo>
                  <a:cubicBezTo>
                    <a:pt x="14" y="0"/>
                    <a:pt x="15" y="0"/>
                    <a:pt x="16" y="0"/>
                  </a:cubicBezTo>
                  <a:cubicBezTo>
                    <a:pt x="18" y="0"/>
                    <a:pt x="19" y="0"/>
                    <a:pt x="20" y="0"/>
                  </a:cubicBezTo>
                  <a:cubicBezTo>
                    <a:pt x="21" y="0"/>
                    <a:pt x="22" y="1"/>
                    <a:pt x="23" y="1"/>
                  </a:cubicBezTo>
                  <a:lnTo>
                    <a:pt x="21" y="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0" name="Freeform 47">
              <a:extLst>
                <a:ext uri="{FF2B5EF4-FFF2-40B4-BE49-F238E27FC236}">
                  <a16:creationId xmlns:a16="http://schemas.microsoft.com/office/drawing/2014/main" id="{3894EB82-A456-47F8-BB06-FE894AF4B86B}"/>
                </a:ext>
              </a:extLst>
            </p:cNvPr>
            <p:cNvSpPr>
              <a:spLocks/>
            </p:cNvSpPr>
            <p:nvPr userDrawn="1"/>
          </p:nvSpPr>
          <p:spPr bwMode="auto">
            <a:xfrm>
              <a:off x="4346494" y="6284068"/>
              <a:ext cx="29644" cy="29643"/>
            </a:xfrm>
            <a:custGeom>
              <a:avLst/>
              <a:gdLst>
                <a:gd name="T0" fmla="*/ 12 w 12"/>
                <a:gd name="T1" fmla="*/ 6 h 12"/>
                <a:gd name="T2" fmla="*/ 11 w 12"/>
                <a:gd name="T3" fmla="*/ 8 h 12"/>
                <a:gd name="T4" fmla="*/ 10 w 12"/>
                <a:gd name="T5" fmla="*/ 10 h 12"/>
                <a:gd name="T6" fmla="*/ 8 w 12"/>
                <a:gd name="T7" fmla="*/ 11 h 12"/>
                <a:gd name="T8" fmla="*/ 6 w 12"/>
                <a:gd name="T9" fmla="*/ 12 h 12"/>
                <a:gd name="T10" fmla="*/ 3 w 12"/>
                <a:gd name="T11" fmla="*/ 11 h 12"/>
                <a:gd name="T12" fmla="*/ 2 w 12"/>
                <a:gd name="T13" fmla="*/ 10 h 12"/>
                <a:gd name="T14" fmla="*/ 0 w 12"/>
                <a:gd name="T15" fmla="*/ 8 h 12"/>
                <a:gd name="T16" fmla="*/ 0 w 12"/>
                <a:gd name="T17" fmla="*/ 6 h 12"/>
                <a:gd name="T18" fmla="*/ 0 w 12"/>
                <a:gd name="T19" fmla="*/ 4 h 12"/>
                <a:gd name="T20" fmla="*/ 2 w 12"/>
                <a:gd name="T21" fmla="*/ 2 h 12"/>
                <a:gd name="T22" fmla="*/ 3 w 12"/>
                <a:gd name="T23" fmla="*/ 0 h 12"/>
                <a:gd name="T24" fmla="*/ 6 w 12"/>
                <a:gd name="T25" fmla="*/ 0 h 12"/>
                <a:gd name="T26" fmla="*/ 8 w 12"/>
                <a:gd name="T27" fmla="*/ 0 h 12"/>
                <a:gd name="T28" fmla="*/ 10 w 12"/>
                <a:gd name="T29" fmla="*/ 2 h 12"/>
                <a:gd name="T30" fmla="*/ 11 w 12"/>
                <a:gd name="T31" fmla="*/ 4 h 12"/>
                <a:gd name="T32" fmla="*/ 12 w 12"/>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2">
                  <a:moveTo>
                    <a:pt x="12" y="6"/>
                  </a:moveTo>
                  <a:cubicBezTo>
                    <a:pt x="12" y="7"/>
                    <a:pt x="11" y="7"/>
                    <a:pt x="11" y="8"/>
                  </a:cubicBezTo>
                  <a:cubicBezTo>
                    <a:pt x="11" y="9"/>
                    <a:pt x="10" y="9"/>
                    <a:pt x="10" y="10"/>
                  </a:cubicBezTo>
                  <a:cubicBezTo>
                    <a:pt x="9" y="10"/>
                    <a:pt x="9" y="11"/>
                    <a:pt x="8" y="11"/>
                  </a:cubicBezTo>
                  <a:cubicBezTo>
                    <a:pt x="7" y="11"/>
                    <a:pt x="7" y="12"/>
                    <a:pt x="6" y="12"/>
                  </a:cubicBezTo>
                  <a:cubicBezTo>
                    <a:pt x="5" y="12"/>
                    <a:pt x="4" y="11"/>
                    <a:pt x="3" y="11"/>
                  </a:cubicBezTo>
                  <a:cubicBezTo>
                    <a:pt x="3" y="11"/>
                    <a:pt x="2" y="10"/>
                    <a:pt x="2" y="10"/>
                  </a:cubicBezTo>
                  <a:cubicBezTo>
                    <a:pt x="1" y="9"/>
                    <a:pt x="1" y="9"/>
                    <a:pt x="0" y="8"/>
                  </a:cubicBezTo>
                  <a:cubicBezTo>
                    <a:pt x="0" y="7"/>
                    <a:pt x="0" y="7"/>
                    <a:pt x="0" y="6"/>
                  </a:cubicBezTo>
                  <a:cubicBezTo>
                    <a:pt x="0" y="5"/>
                    <a:pt x="0" y="4"/>
                    <a:pt x="0" y="4"/>
                  </a:cubicBezTo>
                  <a:cubicBezTo>
                    <a:pt x="1" y="3"/>
                    <a:pt x="1" y="2"/>
                    <a:pt x="2" y="2"/>
                  </a:cubicBezTo>
                  <a:cubicBezTo>
                    <a:pt x="2" y="1"/>
                    <a:pt x="3" y="1"/>
                    <a:pt x="3" y="0"/>
                  </a:cubicBezTo>
                  <a:cubicBezTo>
                    <a:pt x="4" y="0"/>
                    <a:pt x="5" y="0"/>
                    <a:pt x="6" y="0"/>
                  </a:cubicBezTo>
                  <a:cubicBezTo>
                    <a:pt x="7" y="0"/>
                    <a:pt x="7" y="0"/>
                    <a:pt x="8" y="0"/>
                  </a:cubicBezTo>
                  <a:cubicBezTo>
                    <a:pt x="9" y="1"/>
                    <a:pt x="9" y="1"/>
                    <a:pt x="10" y="2"/>
                  </a:cubicBezTo>
                  <a:cubicBezTo>
                    <a:pt x="10" y="2"/>
                    <a:pt x="11" y="3"/>
                    <a:pt x="11" y="4"/>
                  </a:cubicBezTo>
                  <a:cubicBezTo>
                    <a:pt x="11" y="4"/>
                    <a:pt x="12" y="5"/>
                    <a:pt x="12"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1" name="Freeform 48">
              <a:extLst>
                <a:ext uri="{FF2B5EF4-FFF2-40B4-BE49-F238E27FC236}">
                  <a16:creationId xmlns:a16="http://schemas.microsoft.com/office/drawing/2014/main" id="{A88F5C3F-FAE1-4A50-86D3-E9A1CAA89A96}"/>
                </a:ext>
              </a:extLst>
            </p:cNvPr>
            <p:cNvSpPr>
              <a:spLocks/>
            </p:cNvSpPr>
            <p:nvPr userDrawn="1"/>
          </p:nvSpPr>
          <p:spPr bwMode="auto">
            <a:xfrm>
              <a:off x="498115" y="6388691"/>
              <a:ext cx="94161" cy="130778"/>
            </a:xfrm>
            <a:custGeom>
              <a:avLst/>
              <a:gdLst>
                <a:gd name="T0" fmla="*/ 32 w 54"/>
                <a:gd name="T1" fmla="*/ 12 h 75"/>
                <a:gd name="T2" fmla="*/ 32 w 54"/>
                <a:gd name="T3" fmla="*/ 75 h 75"/>
                <a:gd name="T4" fmla="*/ 22 w 54"/>
                <a:gd name="T5" fmla="*/ 75 h 75"/>
                <a:gd name="T6" fmla="*/ 22 w 54"/>
                <a:gd name="T7" fmla="*/ 12 h 75"/>
                <a:gd name="T8" fmla="*/ 0 w 54"/>
                <a:gd name="T9" fmla="*/ 12 h 75"/>
                <a:gd name="T10" fmla="*/ 0 w 54"/>
                <a:gd name="T11" fmla="*/ 0 h 75"/>
                <a:gd name="T12" fmla="*/ 54 w 54"/>
                <a:gd name="T13" fmla="*/ 0 h 75"/>
                <a:gd name="T14" fmla="*/ 54 w 54"/>
                <a:gd name="T15" fmla="*/ 12 h 75"/>
                <a:gd name="T16" fmla="*/ 32 w 54"/>
                <a:gd name="T17" fmla="*/ 1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75">
                  <a:moveTo>
                    <a:pt x="32" y="12"/>
                  </a:moveTo>
                  <a:lnTo>
                    <a:pt x="32" y="75"/>
                  </a:lnTo>
                  <a:lnTo>
                    <a:pt x="22" y="75"/>
                  </a:lnTo>
                  <a:lnTo>
                    <a:pt x="22" y="12"/>
                  </a:lnTo>
                  <a:lnTo>
                    <a:pt x="0" y="12"/>
                  </a:lnTo>
                  <a:lnTo>
                    <a:pt x="0" y="0"/>
                  </a:lnTo>
                  <a:lnTo>
                    <a:pt x="54" y="0"/>
                  </a:lnTo>
                  <a:lnTo>
                    <a:pt x="54" y="12"/>
                  </a:lnTo>
                  <a:lnTo>
                    <a:pt x="32" y="1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2" name="Freeform 49">
              <a:extLst>
                <a:ext uri="{FF2B5EF4-FFF2-40B4-BE49-F238E27FC236}">
                  <a16:creationId xmlns:a16="http://schemas.microsoft.com/office/drawing/2014/main" id="{1EFCBDA7-FA42-4391-9872-95EB6DDEA684}"/>
                </a:ext>
              </a:extLst>
            </p:cNvPr>
            <p:cNvSpPr>
              <a:spLocks/>
            </p:cNvSpPr>
            <p:nvPr userDrawn="1"/>
          </p:nvSpPr>
          <p:spPr bwMode="auto">
            <a:xfrm>
              <a:off x="609713" y="6383459"/>
              <a:ext cx="78468"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9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1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2" y="25"/>
                    <a:pt x="21" y="24"/>
                  </a:cubicBezTo>
                  <a:cubicBezTo>
                    <a:pt x="20" y="22"/>
                    <a:pt x="18" y="21"/>
                    <a:pt x="15" y="21"/>
                  </a:cubicBezTo>
                  <a:cubicBezTo>
                    <a:pt x="14" y="21"/>
                    <a:pt x="13" y="21"/>
                    <a:pt x="12" y="22"/>
                  </a:cubicBezTo>
                  <a:cubicBezTo>
                    <a:pt x="11" y="22"/>
                    <a:pt x="10" y="23"/>
                    <a:pt x="9" y="24"/>
                  </a:cubicBezTo>
                  <a:cubicBezTo>
                    <a:pt x="9" y="24"/>
                    <a:pt x="8" y="25"/>
                    <a:pt x="8" y="27"/>
                  </a:cubicBezTo>
                  <a:cubicBezTo>
                    <a:pt x="7"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8" y="17"/>
                    <a:pt x="9" y="17"/>
                  </a:cubicBezTo>
                  <a:cubicBezTo>
                    <a:pt x="10" y="16"/>
                    <a:pt x="10" y="16"/>
                    <a:pt x="11" y="15"/>
                  </a:cubicBezTo>
                  <a:cubicBezTo>
                    <a:pt x="12" y="15"/>
                    <a:pt x="13" y="15"/>
                    <a:pt x="14" y="14"/>
                  </a:cubicBezTo>
                  <a:cubicBezTo>
                    <a:pt x="15" y="14"/>
                    <a:pt x="16" y="14"/>
                    <a:pt x="17" y="14"/>
                  </a:cubicBezTo>
                  <a:cubicBezTo>
                    <a:pt x="19" y="14"/>
                    <a:pt x="21" y="14"/>
                    <a:pt x="23" y="15"/>
                  </a:cubicBezTo>
                  <a:cubicBezTo>
                    <a:pt x="25" y="16"/>
                    <a:pt x="26" y="17"/>
                    <a:pt x="27" y="18"/>
                  </a:cubicBezTo>
                  <a:cubicBezTo>
                    <a:pt x="28" y="20"/>
                    <a:pt x="29" y="22"/>
                    <a:pt x="30" y="24"/>
                  </a:cubicBezTo>
                  <a:cubicBezTo>
                    <a:pt x="30"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3" name="Freeform 50">
              <a:extLst>
                <a:ext uri="{FF2B5EF4-FFF2-40B4-BE49-F238E27FC236}">
                  <a16:creationId xmlns:a16="http://schemas.microsoft.com/office/drawing/2014/main" id="{721D8C30-DB23-4A0B-8A74-BC467086477D}"/>
                </a:ext>
              </a:extLst>
            </p:cNvPr>
            <p:cNvSpPr>
              <a:spLocks noEditPoints="1"/>
            </p:cNvSpPr>
            <p:nvPr userDrawn="1"/>
          </p:nvSpPr>
          <p:spPr bwMode="auto">
            <a:xfrm>
              <a:off x="705618" y="6418333"/>
              <a:ext cx="85443" cy="102879"/>
            </a:xfrm>
            <a:custGeom>
              <a:avLst/>
              <a:gdLst>
                <a:gd name="T0" fmla="*/ 33 w 33"/>
                <a:gd name="T1" fmla="*/ 19 h 40"/>
                <a:gd name="T2" fmla="*/ 33 w 33"/>
                <a:gd name="T3" fmla="*/ 21 h 40"/>
                <a:gd name="T4" fmla="*/ 33 w 33"/>
                <a:gd name="T5" fmla="*/ 23 h 40"/>
                <a:gd name="T6" fmla="*/ 7 w 33"/>
                <a:gd name="T7" fmla="*/ 23 h 40"/>
                <a:gd name="T8" fmla="*/ 9 w 33"/>
                <a:gd name="T9" fmla="*/ 28 h 40"/>
                <a:gd name="T10" fmla="*/ 11 w 33"/>
                <a:gd name="T11" fmla="*/ 31 h 40"/>
                <a:gd name="T12" fmla="*/ 14 w 33"/>
                <a:gd name="T13" fmla="*/ 33 h 40"/>
                <a:gd name="T14" fmla="*/ 17 w 33"/>
                <a:gd name="T15" fmla="*/ 33 h 40"/>
                <a:gd name="T16" fmla="*/ 19 w 33"/>
                <a:gd name="T17" fmla="*/ 33 h 40"/>
                <a:gd name="T18" fmla="*/ 22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1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5 w 33"/>
                <a:gd name="T65" fmla="*/ 13 h 40"/>
                <a:gd name="T66" fmla="*/ 23 w 33"/>
                <a:gd name="T67" fmla="*/ 10 h 40"/>
                <a:gd name="T68" fmla="*/ 20 w 33"/>
                <a:gd name="T69" fmla="*/ 8 h 40"/>
                <a:gd name="T70" fmla="*/ 16 w 33"/>
                <a:gd name="T71" fmla="*/ 7 h 40"/>
                <a:gd name="T72" fmla="*/ 13 w 33"/>
                <a:gd name="T73" fmla="*/ 8 h 40"/>
                <a:gd name="T74" fmla="*/ 10 w 33"/>
                <a:gd name="T75" fmla="*/ 9 h 40"/>
                <a:gd name="T76" fmla="*/ 9 w 33"/>
                <a:gd name="T77" fmla="*/ 12 h 40"/>
                <a:gd name="T78" fmla="*/ 8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7" y="23"/>
                    <a:pt x="7" y="23"/>
                    <a:pt x="7" y="23"/>
                  </a:cubicBezTo>
                  <a:cubicBezTo>
                    <a:pt x="8" y="25"/>
                    <a:pt x="8" y="26"/>
                    <a:pt x="9" y="28"/>
                  </a:cubicBezTo>
                  <a:cubicBezTo>
                    <a:pt x="9" y="29"/>
                    <a:pt x="10" y="30"/>
                    <a:pt x="11" y="31"/>
                  </a:cubicBezTo>
                  <a:cubicBezTo>
                    <a:pt x="12" y="32"/>
                    <a:pt x="13" y="32"/>
                    <a:pt x="14" y="33"/>
                  </a:cubicBezTo>
                  <a:cubicBezTo>
                    <a:pt x="15" y="33"/>
                    <a:pt x="16" y="33"/>
                    <a:pt x="17" y="33"/>
                  </a:cubicBezTo>
                  <a:cubicBezTo>
                    <a:pt x="18" y="33"/>
                    <a:pt x="19" y="33"/>
                    <a:pt x="19" y="33"/>
                  </a:cubicBezTo>
                  <a:cubicBezTo>
                    <a:pt x="20" y="33"/>
                    <a:pt x="21" y="33"/>
                    <a:pt x="22" y="32"/>
                  </a:cubicBezTo>
                  <a:cubicBezTo>
                    <a:pt x="22" y="32"/>
                    <a:pt x="23" y="32"/>
                    <a:pt x="23" y="32"/>
                  </a:cubicBezTo>
                  <a:cubicBezTo>
                    <a:pt x="24" y="31"/>
                    <a:pt x="25"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20" y="40"/>
                    <a:pt x="18" y="40"/>
                    <a:pt x="17" y="40"/>
                  </a:cubicBezTo>
                  <a:cubicBezTo>
                    <a:pt x="15" y="40"/>
                    <a:pt x="13" y="40"/>
                    <a:pt x="12" y="39"/>
                  </a:cubicBezTo>
                  <a:cubicBezTo>
                    <a:pt x="11" y="39"/>
                    <a:pt x="9" y="38"/>
                    <a:pt x="8" y="38"/>
                  </a:cubicBezTo>
                  <a:cubicBezTo>
                    <a:pt x="7" y="37"/>
                    <a:pt x="6" y="36"/>
                    <a:pt x="5" y="35"/>
                  </a:cubicBezTo>
                  <a:cubicBezTo>
                    <a:pt x="4" y="34"/>
                    <a:pt x="3" y="33"/>
                    <a:pt x="3" y="31"/>
                  </a:cubicBezTo>
                  <a:cubicBezTo>
                    <a:pt x="2" y="30"/>
                    <a:pt x="1" y="28"/>
                    <a:pt x="1" y="26"/>
                  </a:cubicBezTo>
                  <a:cubicBezTo>
                    <a:pt x="0" y="24"/>
                    <a:pt x="0" y="22"/>
                    <a:pt x="0" y="20"/>
                  </a:cubicBezTo>
                  <a:cubicBezTo>
                    <a:pt x="0" y="17"/>
                    <a:pt x="0" y="14"/>
                    <a:pt x="1" y="12"/>
                  </a:cubicBezTo>
                  <a:cubicBezTo>
                    <a:pt x="2" y="9"/>
                    <a:pt x="3" y="7"/>
                    <a:pt x="5" y="5"/>
                  </a:cubicBezTo>
                  <a:cubicBezTo>
                    <a:pt x="6" y="4"/>
                    <a:pt x="8" y="2"/>
                    <a:pt x="10" y="1"/>
                  </a:cubicBezTo>
                  <a:cubicBezTo>
                    <a:pt x="12" y="1"/>
                    <a:pt x="14" y="0"/>
                    <a:pt x="17" y="0"/>
                  </a:cubicBezTo>
                  <a:cubicBezTo>
                    <a:pt x="20" y="0"/>
                    <a:pt x="22" y="1"/>
                    <a:pt x="24" y="2"/>
                  </a:cubicBezTo>
                  <a:cubicBezTo>
                    <a:pt x="26" y="3"/>
                    <a:pt x="28" y="4"/>
                    <a:pt x="29" y="6"/>
                  </a:cubicBezTo>
                  <a:cubicBezTo>
                    <a:pt x="30" y="8"/>
                    <a:pt x="31" y="10"/>
                    <a:pt x="32" y="12"/>
                  </a:cubicBezTo>
                  <a:cubicBezTo>
                    <a:pt x="33" y="14"/>
                    <a:pt x="33" y="17"/>
                    <a:pt x="33" y="19"/>
                  </a:cubicBezTo>
                  <a:close/>
                  <a:moveTo>
                    <a:pt x="25" y="17"/>
                  </a:moveTo>
                  <a:cubicBezTo>
                    <a:pt x="25" y="15"/>
                    <a:pt x="25" y="14"/>
                    <a:pt x="25" y="13"/>
                  </a:cubicBezTo>
                  <a:cubicBezTo>
                    <a:pt x="24" y="12"/>
                    <a:pt x="24" y="11"/>
                    <a:pt x="23" y="10"/>
                  </a:cubicBezTo>
                  <a:cubicBezTo>
                    <a:pt x="22" y="9"/>
                    <a:pt x="21" y="8"/>
                    <a:pt x="20" y="8"/>
                  </a:cubicBezTo>
                  <a:cubicBezTo>
                    <a:pt x="19" y="7"/>
                    <a:pt x="18" y="7"/>
                    <a:pt x="16" y="7"/>
                  </a:cubicBezTo>
                  <a:cubicBezTo>
                    <a:pt x="15" y="7"/>
                    <a:pt x="14" y="7"/>
                    <a:pt x="13" y="8"/>
                  </a:cubicBezTo>
                  <a:cubicBezTo>
                    <a:pt x="12" y="8"/>
                    <a:pt x="11" y="9"/>
                    <a:pt x="10" y="9"/>
                  </a:cubicBezTo>
                  <a:cubicBezTo>
                    <a:pt x="10" y="10"/>
                    <a:pt x="9" y="11"/>
                    <a:pt x="9" y="12"/>
                  </a:cubicBezTo>
                  <a:cubicBezTo>
                    <a:pt x="8" y="14"/>
                    <a:pt x="8" y="15"/>
                    <a:pt x="8"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4" name="Freeform 51">
              <a:extLst>
                <a:ext uri="{FF2B5EF4-FFF2-40B4-BE49-F238E27FC236}">
                  <a16:creationId xmlns:a16="http://schemas.microsoft.com/office/drawing/2014/main" id="{01AD00CA-8BC7-4B62-AC64-03851855A7AE}"/>
                </a:ext>
              </a:extLst>
            </p:cNvPr>
            <p:cNvSpPr>
              <a:spLocks noEditPoints="1"/>
            </p:cNvSpPr>
            <p:nvPr userDrawn="1"/>
          </p:nvSpPr>
          <p:spPr bwMode="auto">
            <a:xfrm>
              <a:off x="857320" y="6383459"/>
              <a:ext cx="83698" cy="137753"/>
            </a:xfrm>
            <a:custGeom>
              <a:avLst/>
              <a:gdLst>
                <a:gd name="T0" fmla="*/ 33 w 33"/>
                <a:gd name="T1" fmla="*/ 35 h 54"/>
                <a:gd name="T2" fmla="*/ 31 w 33"/>
                <a:gd name="T3" fmla="*/ 43 h 54"/>
                <a:gd name="T4" fmla="*/ 28 w 33"/>
                <a:gd name="T5" fmla="*/ 49 h 54"/>
                <a:gd name="T6" fmla="*/ 23 w 33"/>
                <a:gd name="T7" fmla="*/ 53 h 54"/>
                <a:gd name="T8" fmla="*/ 17 w 33"/>
                <a:gd name="T9" fmla="*/ 54 h 54"/>
                <a:gd name="T10" fmla="*/ 12 w 33"/>
                <a:gd name="T11" fmla="*/ 53 h 54"/>
                <a:gd name="T12" fmla="*/ 8 w 33"/>
                <a:gd name="T13" fmla="*/ 50 h 54"/>
                <a:gd name="T14" fmla="*/ 8 w 33"/>
                <a:gd name="T15" fmla="*/ 53 h 54"/>
                <a:gd name="T16" fmla="*/ 0 w 33"/>
                <a:gd name="T17" fmla="*/ 53 h 54"/>
                <a:gd name="T18" fmla="*/ 0 w 33"/>
                <a:gd name="T19" fmla="*/ 4 h 54"/>
                <a:gd name="T20" fmla="*/ 8 w 33"/>
                <a:gd name="T21" fmla="*/ 0 h 54"/>
                <a:gd name="T22" fmla="*/ 8 w 33"/>
                <a:gd name="T23" fmla="*/ 19 h 54"/>
                <a:gd name="T24" fmla="*/ 10 w 33"/>
                <a:gd name="T25" fmla="*/ 17 h 54"/>
                <a:gd name="T26" fmla="*/ 12 w 33"/>
                <a:gd name="T27" fmla="*/ 16 h 54"/>
                <a:gd name="T28" fmla="*/ 14 w 33"/>
                <a:gd name="T29" fmla="*/ 14 h 54"/>
                <a:gd name="T30" fmla="*/ 18 w 33"/>
                <a:gd name="T31" fmla="*/ 14 h 54"/>
                <a:gd name="T32" fmla="*/ 24 w 33"/>
                <a:gd name="T33" fmla="*/ 15 h 54"/>
                <a:gd name="T34" fmla="*/ 28 w 33"/>
                <a:gd name="T35" fmla="*/ 19 h 54"/>
                <a:gd name="T36" fmla="*/ 31 w 33"/>
                <a:gd name="T37" fmla="*/ 25 h 54"/>
                <a:gd name="T38" fmla="*/ 33 w 33"/>
                <a:gd name="T39" fmla="*/ 35 h 54"/>
                <a:gd name="T40" fmla="*/ 25 w 33"/>
                <a:gd name="T41" fmla="*/ 35 h 54"/>
                <a:gd name="T42" fmla="*/ 23 w 33"/>
                <a:gd name="T43" fmla="*/ 24 h 54"/>
                <a:gd name="T44" fmla="*/ 16 w 33"/>
                <a:gd name="T45" fmla="*/ 21 h 54"/>
                <a:gd name="T46" fmla="*/ 14 w 33"/>
                <a:gd name="T47" fmla="*/ 21 h 54"/>
                <a:gd name="T48" fmla="*/ 11 w 33"/>
                <a:gd name="T49" fmla="*/ 23 h 54"/>
                <a:gd name="T50" fmla="*/ 9 w 33"/>
                <a:gd name="T51" fmla="*/ 24 h 54"/>
                <a:gd name="T52" fmla="*/ 8 w 33"/>
                <a:gd name="T53" fmla="*/ 26 h 54"/>
                <a:gd name="T54" fmla="*/ 8 w 33"/>
                <a:gd name="T55" fmla="*/ 42 h 54"/>
                <a:gd name="T56" fmla="*/ 9 w 33"/>
                <a:gd name="T57" fmla="*/ 44 h 54"/>
                <a:gd name="T58" fmla="*/ 11 w 33"/>
                <a:gd name="T59" fmla="*/ 45 h 54"/>
                <a:gd name="T60" fmla="*/ 14 w 33"/>
                <a:gd name="T61" fmla="*/ 47 h 54"/>
                <a:gd name="T62" fmla="*/ 17 w 33"/>
                <a:gd name="T63" fmla="*/ 47 h 54"/>
                <a:gd name="T64" fmla="*/ 23 w 33"/>
                <a:gd name="T65" fmla="*/ 44 h 54"/>
                <a:gd name="T66" fmla="*/ 25 w 33"/>
                <a:gd name="T6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 h="54">
                  <a:moveTo>
                    <a:pt x="33" y="35"/>
                  </a:moveTo>
                  <a:cubicBezTo>
                    <a:pt x="33" y="38"/>
                    <a:pt x="32" y="41"/>
                    <a:pt x="31" y="43"/>
                  </a:cubicBezTo>
                  <a:cubicBezTo>
                    <a:pt x="30" y="46"/>
                    <a:pt x="29" y="48"/>
                    <a:pt x="28" y="49"/>
                  </a:cubicBezTo>
                  <a:cubicBezTo>
                    <a:pt x="27" y="51"/>
                    <a:pt x="25" y="52"/>
                    <a:pt x="23" y="53"/>
                  </a:cubicBezTo>
                  <a:cubicBezTo>
                    <a:pt x="21" y="54"/>
                    <a:pt x="19" y="54"/>
                    <a:pt x="17" y="54"/>
                  </a:cubicBezTo>
                  <a:cubicBezTo>
                    <a:pt x="16" y="54"/>
                    <a:pt x="14" y="54"/>
                    <a:pt x="12" y="53"/>
                  </a:cubicBezTo>
                  <a:cubicBezTo>
                    <a:pt x="10" y="52"/>
                    <a:pt x="9" y="51"/>
                    <a:pt x="8" y="50"/>
                  </a:cubicBezTo>
                  <a:cubicBezTo>
                    <a:pt x="8" y="53"/>
                    <a:pt x="8" y="53"/>
                    <a:pt x="8" y="53"/>
                  </a:cubicBezTo>
                  <a:cubicBezTo>
                    <a:pt x="0" y="53"/>
                    <a:pt x="0" y="53"/>
                    <a:pt x="0" y="53"/>
                  </a:cubicBezTo>
                  <a:cubicBezTo>
                    <a:pt x="0" y="4"/>
                    <a:pt x="0" y="4"/>
                    <a:pt x="0" y="4"/>
                  </a:cubicBezTo>
                  <a:cubicBezTo>
                    <a:pt x="8" y="0"/>
                    <a:pt x="8" y="0"/>
                    <a:pt x="8" y="0"/>
                  </a:cubicBezTo>
                  <a:cubicBezTo>
                    <a:pt x="8" y="19"/>
                    <a:pt x="8" y="19"/>
                    <a:pt x="8" y="19"/>
                  </a:cubicBezTo>
                  <a:cubicBezTo>
                    <a:pt x="9" y="18"/>
                    <a:pt x="9" y="17"/>
                    <a:pt x="10" y="17"/>
                  </a:cubicBezTo>
                  <a:cubicBezTo>
                    <a:pt x="11" y="16"/>
                    <a:pt x="11" y="16"/>
                    <a:pt x="12" y="16"/>
                  </a:cubicBezTo>
                  <a:cubicBezTo>
                    <a:pt x="13" y="15"/>
                    <a:pt x="13" y="15"/>
                    <a:pt x="14" y="14"/>
                  </a:cubicBezTo>
                  <a:cubicBezTo>
                    <a:pt x="15" y="14"/>
                    <a:pt x="16" y="14"/>
                    <a:pt x="18" y="14"/>
                  </a:cubicBezTo>
                  <a:cubicBezTo>
                    <a:pt x="20" y="14"/>
                    <a:pt x="22" y="14"/>
                    <a:pt x="24" y="15"/>
                  </a:cubicBezTo>
                  <a:cubicBezTo>
                    <a:pt x="25" y="16"/>
                    <a:pt x="27" y="17"/>
                    <a:pt x="28" y="19"/>
                  </a:cubicBezTo>
                  <a:cubicBezTo>
                    <a:pt x="30" y="21"/>
                    <a:pt x="31" y="23"/>
                    <a:pt x="31" y="25"/>
                  </a:cubicBezTo>
                  <a:cubicBezTo>
                    <a:pt x="32" y="28"/>
                    <a:pt x="33" y="31"/>
                    <a:pt x="33" y="35"/>
                  </a:cubicBezTo>
                  <a:close/>
                  <a:moveTo>
                    <a:pt x="25" y="35"/>
                  </a:moveTo>
                  <a:cubicBezTo>
                    <a:pt x="25" y="30"/>
                    <a:pt x="24" y="27"/>
                    <a:pt x="23" y="24"/>
                  </a:cubicBezTo>
                  <a:cubicBezTo>
                    <a:pt x="21" y="22"/>
                    <a:pt x="19" y="21"/>
                    <a:pt x="16" y="21"/>
                  </a:cubicBezTo>
                  <a:cubicBezTo>
                    <a:pt x="15" y="21"/>
                    <a:pt x="15" y="21"/>
                    <a:pt x="14" y="21"/>
                  </a:cubicBezTo>
                  <a:cubicBezTo>
                    <a:pt x="13" y="22"/>
                    <a:pt x="12" y="22"/>
                    <a:pt x="11" y="23"/>
                  </a:cubicBezTo>
                  <a:cubicBezTo>
                    <a:pt x="11" y="23"/>
                    <a:pt x="10" y="24"/>
                    <a:pt x="9" y="24"/>
                  </a:cubicBezTo>
                  <a:cubicBezTo>
                    <a:pt x="9" y="25"/>
                    <a:pt x="8" y="25"/>
                    <a:pt x="8" y="26"/>
                  </a:cubicBezTo>
                  <a:cubicBezTo>
                    <a:pt x="8" y="42"/>
                    <a:pt x="8" y="42"/>
                    <a:pt x="8" y="42"/>
                  </a:cubicBezTo>
                  <a:cubicBezTo>
                    <a:pt x="8" y="43"/>
                    <a:pt x="9" y="43"/>
                    <a:pt x="9" y="44"/>
                  </a:cubicBezTo>
                  <a:cubicBezTo>
                    <a:pt x="10" y="44"/>
                    <a:pt x="11" y="45"/>
                    <a:pt x="11" y="45"/>
                  </a:cubicBezTo>
                  <a:cubicBezTo>
                    <a:pt x="12" y="46"/>
                    <a:pt x="13" y="46"/>
                    <a:pt x="14" y="47"/>
                  </a:cubicBezTo>
                  <a:cubicBezTo>
                    <a:pt x="15" y="47"/>
                    <a:pt x="16" y="47"/>
                    <a:pt x="17" y="47"/>
                  </a:cubicBezTo>
                  <a:cubicBezTo>
                    <a:pt x="19" y="47"/>
                    <a:pt x="21" y="46"/>
                    <a:pt x="23" y="44"/>
                  </a:cubicBezTo>
                  <a:cubicBezTo>
                    <a:pt x="24" y="42"/>
                    <a:pt x="25" y="39"/>
                    <a:pt x="25" y="3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5" name="Freeform 52">
              <a:extLst>
                <a:ext uri="{FF2B5EF4-FFF2-40B4-BE49-F238E27FC236}">
                  <a16:creationId xmlns:a16="http://schemas.microsoft.com/office/drawing/2014/main" id="{BC957590-E3D7-48BF-A1DF-73DCD7673857}"/>
                </a:ext>
              </a:extLst>
            </p:cNvPr>
            <p:cNvSpPr>
              <a:spLocks noEditPoints="1"/>
            </p:cNvSpPr>
            <p:nvPr userDrawn="1"/>
          </p:nvSpPr>
          <p:spPr bwMode="auto">
            <a:xfrm>
              <a:off x="956713"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30 w 33"/>
                <a:gd name="T25" fmla="*/ 35 h 40"/>
                <a:gd name="T26" fmla="*/ 27 w 33"/>
                <a:gd name="T27" fmla="*/ 37 h 40"/>
                <a:gd name="T28" fmla="*/ 24 w 33"/>
                <a:gd name="T29" fmla="*/ 39 h 40"/>
                <a:gd name="T30" fmla="*/ 21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1" y="33"/>
                    <a:pt x="21" y="32"/>
                  </a:cubicBezTo>
                  <a:cubicBezTo>
                    <a:pt x="22" y="32"/>
                    <a:pt x="22" y="32"/>
                    <a:pt x="23" y="32"/>
                  </a:cubicBezTo>
                  <a:cubicBezTo>
                    <a:pt x="24" y="31"/>
                    <a:pt x="24" y="31"/>
                    <a:pt x="25" y="30"/>
                  </a:cubicBezTo>
                  <a:cubicBezTo>
                    <a:pt x="30" y="35"/>
                    <a:pt x="30" y="35"/>
                    <a:pt x="30" y="35"/>
                  </a:cubicBezTo>
                  <a:cubicBezTo>
                    <a:pt x="29" y="36"/>
                    <a:pt x="28" y="37"/>
                    <a:pt x="27" y="37"/>
                  </a:cubicBezTo>
                  <a:cubicBezTo>
                    <a:pt x="26" y="38"/>
                    <a:pt x="25" y="38"/>
                    <a:pt x="24" y="39"/>
                  </a:cubicBezTo>
                  <a:cubicBezTo>
                    <a:pt x="23" y="39"/>
                    <a:pt x="22" y="40"/>
                    <a:pt x="21"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8"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6" name="Freeform 53">
              <a:extLst>
                <a:ext uri="{FF2B5EF4-FFF2-40B4-BE49-F238E27FC236}">
                  <a16:creationId xmlns:a16="http://schemas.microsoft.com/office/drawing/2014/main" id="{9BC2125B-AF0E-4411-AFA7-3F79B873BFBA}"/>
                </a:ext>
              </a:extLst>
            </p:cNvPr>
            <p:cNvSpPr>
              <a:spLocks/>
            </p:cNvSpPr>
            <p:nvPr userDrawn="1"/>
          </p:nvSpPr>
          <p:spPr bwMode="auto">
            <a:xfrm>
              <a:off x="1050873" y="6383459"/>
              <a:ext cx="55799" cy="137753"/>
            </a:xfrm>
            <a:custGeom>
              <a:avLst/>
              <a:gdLst>
                <a:gd name="T0" fmla="*/ 21 w 22"/>
                <a:gd name="T1" fmla="*/ 52 h 54"/>
                <a:gd name="T2" fmla="*/ 18 w 22"/>
                <a:gd name="T3" fmla="*/ 54 h 54"/>
                <a:gd name="T4" fmla="*/ 14 w 22"/>
                <a:gd name="T5" fmla="*/ 54 h 54"/>
                <a:gd name="T6" fmla="*/ 11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2" y="54"/>
                    <a:pt x="11" y="54"/>
                  </a:cubicBezTo>
                  <a:cubicBezTo>
                    <a:pt x="10" y="53"/>
                    <a:pt x="9" y="53"/>
                    <a:pt x="8" y="52"/>
                  </a:cubicBezTo>
                  <a:cubicBezTo>
                    <a:pt x="7" y="51"/>
                    <a:pt x="6" y="50"/>
                    <a:pt x="6" y="49"/>
                  </a:cubicBezTo>
                  <a:cubicBezTo>
                    <a:pt x="6"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2"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7" name="Freeform 54">
              <a:extLst>
                <a:ext uri="{FF2B5EF4-FFF2-40B4-BE49-F238E27FC236}">
                  <a16:creationId xmlns:a16="http://schemas.microsoft.com/office/drawing/2014/main" id="{1E5BE33C-9675-423A-802C-0A789DB1851B}"/>
                </a:ext>
              </a:extLst>
            </p:cNvPr>
            <p:cNvSpPr>
              <a:spLocks/>
            </p:cNvSpPr>
            <p:nvPr userDrawn="1"/>
          </p:nvSpPr>
          <p:spPr bwMode="auto">
            <a:xfrm>
              <a:off x="1118877"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8" name="Freeform 55">
              <a:extLst>
                <a:ext uri="{FF2B5EF4-FFF2-40B4-BE49-F238E27FC236}">
                  <a16:creationId xmlns:a16="http://schemas.microsoft.com/office/drawing/2014/main" id="{FB04A8AC-9DA2-4FB3-985A-DD8E6439135C}"/>
                </a:ext>
              </a:extLst>
            </p:cNvPr>
            <p:cNvSpPr>
              <a:spLocks noEditPoints="1"/>
            </p:cNvSpPr>
            <p:nvPr userDrawn="1"/>
          </p:nvSpPr>
          <p:spPr bwMode="auto">
            <a:xfrm>
              <a:off x="1190370" y="6418333"/>
              <a:ext cx="83698" cy="102879"/>
            </a:xfrm>
            <a:custGeom>
              <a:avLst/>
              <a:gdLst>
                <a:gd name="T0" fmla="*/ 33 w 33"/>
                <a:gd name="T1" fmla="*/ 19 h 40"/>
                <a:gd name="T2" fmla="*/ 33 w 33"/>
                <a:gd name="T3" fmla="*/ 21 h 40"/>
                <a:gd name="T4" fmla="*/ 32 w 33"/>
                <a:gd name="T5" fmla="*/ 23 h 40"/>
                <a:gd name="T6" fmla="*/ 7 w 33"/>
                <a:gd name="T7" fmla="*/ 23 h 40"/>
                <a:gd name="T8" fmla="*/ 8 w 33"/>
                <a:gd name="T9" fmla="*/ 28 h 40"/>
                <a:gd name="T10" fmla="*/ 10 w 33"/>
                <a:gd name="T11" fmla="*/ 31 h 40"/>
                <a:gd name="T12" fmla="*/ 13 w 33"/>
                <a:gd name="T13" fmla="*/ 33 h 40"/>
                <a:gd name="T14" fmla="*/ 17 w 33"/>
                <a:gd name="T15" fmla="*/ 33 h 40"/>
                <a:gd name="T16" fmla="*/ 19 w 33"/>
                <a:gd name="T17" fmla="*/ 33 h 40"/>
                <a:gd name="T18" fmla="*/ 21 w 33"/>
                <a:gd name="T19" fmla="*/ 32 h 40"/>
                <a:gd name="T20" fmla="*/ 23 w 33"/>
                <a:gd name="T21" fmla="*/ 32 h 40"/>
                <a:gd name="T22" fmla="*/ 25 w 33"/>
                <a:gd name="T23" fmla="*/ 30 h 40"/>
                <a:gd name="T24" fmla="*/ 29 w 33"/>
                <a:gd name="T25" fmla="*/ 35 h 40"/>
                <a:gd name="T26" fmla="*/ 27 w 33"/>
                <a:gd name="T27" fmla="*/ 37 h 40"/>
                <a:gd name="T28" fmla="*/ 24 w 33"/>
                <a:gd name="T29" fmla="*/ 39 h 40"/>
                <a:gd name="T30" fmla="*/ 20 w 33"/>
                <a:gd name="T31" fmla="*/ 40 h 40"/>
                <a:gd name="T32" fmla="*/ 16 w 33"/>
                <a:gd name="T33" fmla="*/ 40 h 40"/>
                <a:gd name="T34" fmla="*/ 12 w 33"/>
                <a:gd name="T35" fmla="*/ 39 h 40"/>
                <a:gd name="T36" fmla="*/ 8 w 33"/>
                <a:gd name="T37" fmla="*/ 38 h 40"/>
                <a:gd name="T38" fmla="*/ 5 w 33"/>
                <a:gd name="T39" fmla="*/ 35 h 40"/>
                <a:gd name="T40" fmla="*/ 2 w 33"/>
                <a:gd name="T41" fmla="*/ 31 h 40"/>
                <a:gd name="T42" fmla="*/ 0 w 33"/>
                <a:gd name="T43" fmla="*/ 26 h 40"/>
                <a:gd name="T44" fmla="*/ 0 w 33"/>
                <a:gd name="T45" fmla="*/ 20 h 40"/>
                <a:gd name="T46" fmla="*/ 1 w 33"/>
                <a:gd name="T47" fmla="*/ 12 h 40"/>
                <a:gd name="T48" fmla="*/ 4 w 33"/>
                <a:gd name="T49" fmla="*/ 5 h 40"/>
                <a:gd name="T50" fmla="*/ 10 w 33"/>
                <a:gd name="T51" fmla="*/ 1 h 40"/>
                <a:gd name="T52" fmla="*/ 16 w 33"/>
                <a:gd name="T53" fmla="*/ 0 h 40"/>
                <a:gd name="T54" fmla="*/ 24 w 33"/>
                <a:gd name="T55" fmla="*/ 2 h 40"/>
                <a:gd name="T56" fmla="*/ 29 w 33"/>
                <a:gd name="T57" fmla="*/ 6 h 40"/>
                <a:gd name="T58" fmla="*/ 32 w 33"/>
                <a:gd name="T59" fmla="*/ 12 h 40"/>
                <a:gd name="T60" fmla="*/ 33 w 33"/>
                <a:gd name="T61" fmla="*/ 19 h 40"/>
                <a:gd name="T62" fmla="*/ 25 w 33"/>
                <a:gd name="T63" fmla="*/ 17 h 40"/>
                <a:gd name="T64" fmla="*/ 24 w 33"/>
                <a:gd name="T65" fmla="*/ 13 h 40"/>
                <a:gd name="T66" fmla="*/ 23 w 33"/>
                <a:gd name="T67" fmla="*/ 10 h 40"/>
                <a:gd name="T68" fmla="*/ 20 w 33"/>
                <a:gd name="T69" fmla="*/ 8 h 40"/>
                <a:gd name="T70" fmla="*/ 16 w 33"/>
                <a:gd name="T71" fmla="*/ 7 h 40"/>
                <a:gd name="T72" fmla="*/ 12 w 33"/>
                <a:gd name="T73" fmla="*/ 8 h 40"/>
                <a:gd name="T74" fmla="*/ 10 w 33"/>
                <a:gd name="T75" fmla="*/ 9 h 40"/>
                <a:gd name="T76" fmla="*/ 8 w 33"/>
                <a:gd name="T77" fmla="*/ 12 h 40"/>
                <a:gd name="T78" fmla="*/ 7 w 33"/>
                <a:gd name="T79" fmla="*/ 17 h 40"/>
                <a:gd name="T80" fmla="*/ 25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2" y="22"/>
                    <a:pt x="32" y="22"/>
                    <a:pt x="32" y="23"/>
                  </a:cubicBezTo>
                  <a:cubicBezTo>
                    <a:pt x="7" y="23"/>
                    <a:pt x="7" y="23"/>
                    <a:pt x="7" y="23"/>
                  </a:cubicBezTo>
                  <a:cubicBezTo>
                    <a:pt x="7" y="25"/>
                    <a:pt x="8" y="26"/>
                    <a:pt x="8" y="28"/>
                  </a:cubicBezTo>
                  <a:cubicBezTo>
                    <a:pt x="9" y="29"/>
                    <a:pt x="10" y="30"/>
                    <a:pt x="10" y="31"/>
                  </a:cubicBezTo>
                  <a:cubicBezTo>
                    <a:pt x="11" y="32"/>
                    <a:pt x="12" y="32"/>
                    <a:pt x="13" y="33"/>
                  </a:cubicBezTo>
                  <a:cubicBezTo>
                    <a:pt x="14" y="33"/>
                    <a:pt x="16" y="33"/>
                    <a:pt x="17" y="33"/>
                  </a:cubicBezTo>
                  <a:cubicBezTo>
                    <a:pt x="18" y="33"/>
                    <a:pt x="18" y="33"/>
                    <a:pt x="19" y="33"/>
                  </a:cubicBezTo>
                  <a:cubicBezTo>
                    <a:pt x="20" y="33"/>
                    <a:pt x="20" y="33"/>
                    <a:pt x="21" y="32"/>
                  </a:cubicBezTo>
                  <a:cubicBezTo>
                    <a:pt x="22" y="32"/>
                    <a:pt x="22" y="32"/>
                    <a:pt x="23" y="32"/>
                  </a:cubicBezTo>
                  <a:cubicBezTo>
                    <a:pt x="23" y="31"/>
                    <a:pt x="24" y="31"/>
                    <a:pt x="25" y="30"/>
                  </a:cubicBezTo>
                  <a:cubicBezTo>
                    <a:pt x="29" y="35"/>
                    <a:pt x="29" y="35"/>
                    <a:pt x="29" y="35"/>
                  </a:cubicBezTo>
                  <a:cubicBezTo>
                    <a:pt x="29" y="36"/>
                    <a:pt x="28" y="37"/>
                    <a:pt x="27" y="37"/>
                  </a:cubicBezTo>
                  <a:cubicBezTo>
                    <a:pt x="26" y="38"/>
                    <a:pt x="25" y="38"/>
                    <a:pt x="24" y="39"/>
                  </a:cubicBezTo>
                  <a:cubicBezTo>
                    <a:pt x="23" y="39"/>
                    <a:pt x="22" y="40"/>
                    <a:pt x="20" y="40"/>
                  </a:cubicBezTo>
                  <a:cubicBezTo>
                    <a:pt x="19" y="40"/>
                    <a:pt x="18" y="40"/>
                    <a:pt x="16" y="40"/>
                  </a:cubicBezTo>
                  <a:cubicBezTo>
                    <a:pt x="15" y="40"/>
                    <a:pt x="13" y="40"/>
                    <a:pt x="12" y="39"/>
                  </a:cubicBezTo>
                  <a:cubicBezTo>
                    <a:pt x="10" y="39"/>
                    <a:pt x="9" y="38"/>
                    <a:pt x="8" y="38"/>
                  </a:cubicBezTo>
                  <a:cubicBezTo>
                    <a:pt x="7" y="37"/>
                    <a:pt x="6" y="36"/>
                    <a:pt x="5" y="35"/>
                  </a:cubicBezTo>
                  <a:cubicBezTo>
                    <a:pt x="4" y="34"/>
                    <a:pt x="3" y="33"/>
                    <a:pt x="2" y="31"/>
                  </a:cubicBezTo>
                  <a:cubicBezTo>
                    <a:pt x="1" y="30"/>
                    <a:pt x="1" y="28"/>
                    <a:pt x="0" y="26"/>
                  </a:cubicBezTo>
                  <a:cubicBezTo>
                    <a:pt x="0" y="24"/>
                    <a:pt x="0" y="22"/>
                    <a:pt x="0" y="20"/>
                  </a:cubicBezTo>
                  <a:cubicBezTo>
                    <a:pt x="0" y="17"/>
                    <a:pt x="0" y="14"/>
                    <a:pt x="1" y="12"/>
                  </a:cubicBezTo>
                  <a:cubicBezTo>
                    <a:pt x="2" y="9"/>
                    <a:pt x="3" y="7"/>
                    <a:pt x="4" y="5"/>
                  </a:cubicBezTo>
                  <a:cubicBezTo>
                    <a:pt x="6" y="4"/>
                    <a:pt x="8" y="2"/>
                    <a:pt x="10" y="1"/>
                  </a:cubicBezTo>
                  <a:cubicBezTo>
                    <a:pt x="12" y="1"/>
                    <a:pt x="14" y="0"/>
                    <a:pt x="16" y="0"/>
                  </a:cubicBezTo>
                  <a:cubicBezTo>
                    <a:pt x="19" y="0"/>
                    <a:pt x="22" y="1"/>
                    <a:pt x="24" y="2"/>
                  </a:cubicBezTo>
                  <a:cubicBezTo>
                    <a:pt x="26" y="3"/>
                    <a:pt x="27" y="4"/>
                    <a:pt x="29" y="6"/>
                  </a:cubicBezTo>
                  <a:cubicBezTo>
                    <a:pt x="30" y="8"/>
                    <a:pt x="31" y="10"/>
                    <a:pt x="32" y="12"/>
                  </a:cubicBezTo>
                  <a:cubicBezTo>
                    <a:pt x="32" y="14"/>
                    <a:pt x="33" y="17"/>
                    <a:pt x="33" y="19"/>
                  </a:cubicBezTo>
                  <a:close/>
                  <a:moveTo>
                    <a:pt x="25" y="17"/>
                  </a:moveTo>
                  <a:cubicBezTo>
                    <a:pt x="25" y="15"/>
                    <a:pt x="25" y="14"/>
                    <a:pt x="24" y="13"/>
                  </a:cubicBezTo>
                  <a:cubicBezTo>
                    <a:pt x="24" y="12"/>
                    <a:pt x="23" y="11"/>
                    <a:pt x="23" y="10"/>
                  </a:cubicBezTo>
                  <a:cubicBezTo>
                    <a:pt x="22" y="9"/>
                    <a:pt x="21" y="8"/>
                    <a:pt x="20" y="8"/>
                  </a:cubicBezTo>
                  <a:cubicBezTo>
                    <a:pt x="19" y="7"/>
                    <a:pt x="17" y="7"/>
                    <a:pt x="16" y="7"/>
                  </a:cubicBezTo>
                  <a:cubicBezTo>
                    <a:pt x="15" y="7"/>
                    <a:pt x="13" y="7"/>
                    <a:pt x="12" y="8"/>
                  </a:cubicBezTo>
                  <a:cubicBezTo>
                    <a:pt x="11" y="8"/>
                    <a:pt x="11" y="9"/>
                    <a:pt x="10" y="9"/>
                  </a:cubicBezTo>
                  <a:cubicBezTo>
                    <a:pt x="9" y="10"/>
                    <a:pt x="9" y="11"/>
                    <a:pt x="8" y="12"/>
                  </a:cubicBezTo>
                  <a:cubicBezTo>
                    <a:pt x="8" y="14"/>
                    <a:pt x="7" y="15"/>
                    <a:pt x="7" y="17"/>
                  </a:cubicBezTo>
                  <a:lnTo>
                    <a:pt x="25"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19" name="Freeform 56">
              <a:extLst>
                <a:ext uri="{FF2B5EF4-FFF2-40B4-BE49-F238E27FC236}">
                  <a16:creationId xmlns:a16="http://schemas.microsoft.com/office/drawing/2014/main" id="{F365BB87-C861-4F40-A844-477BAA1EAA55}"/>
                </a:ext>
              </a:extLst>
            </p:cNvPr>
            <p:cNvSpPr>
              <a:spLocks/>
            </p:cNvSpPr>
            <p:nvPr userDrawn="1"/>
          </p:nvSpPr>
          <p:spPr bwMode="auto">
            <a:xfrm>
              <a:off x="1294993" y="6418333"/>
              <a:ext cx="55799" cy="101135"/>
            </a:xfrm>
            <a:custGeom>
              <a:avLst/>
              <a:gdLst>
                <a:gd name="T0" fmla="*/ 20 w 22"/>
                <a:gd name="T1" fmla="*/ 9 h 39"/>
                <a:gd name="T2" fmla="*/ 18 w 22"/>
                <a:gd name="T3" fmla="*/ 8 h 39"/>
                <a:gd name="T4" fmla="*/ 15 w 22"/>
                <a:gd name="T5" fmla="*/ 7 h 39"/>
                <a:gd name="T6" fmla="*/ 9 w 22"/>
                <a:gd name="T7" fmla="*/ 10 h 39"/>
                <a:gd name="T8" fmla="*/ 7 w 22"/>
                <a:gd name="T9" fmla="*/ 17 h 39"/>
                <a:gd name="T10" fmla="*/ 7 w 22"/>
                <a:gd name="T11" fmla="*/ 39 h 39"/>
                <a:gd name="T12" fmla="*/ 0 w 22"/>
                <a:gd name="T13" fmla="*/ 39 h 39"/>
                <a:gd name="T14" fmla="*/ 0 w 22"/>
                <a:gd name="T15" fmla="*/ 1 h 39"/>
                <a:gd name="T16" fmla="*/ 7 w 22"/>
                <a:gd name="T17" fmla="*/ 1 h 39"/>
                <a:gd name="T18" fmla="*/ 7 w 22"/>
                <a:gd name="T19" fmla="*/ 5 h 39"/>
                <a:gd name="T20" fmla="*/ 9 w 22"/>
                <a:gd name="T21" fmla="*/ 3 h 39"/>
                <a:gd name="T22" fmla="*/ 11 w 22"/>
                <a:gd name="T23" fmla="*/ 1 h 39"/>
                <a:gd name="T24" fmla="*/ 13 w 22"/>
                <a:gd name="T25" fmla="*/ 0 h 39"/>
                <a:gd name="T26" fmla="*/ 16 w 22"/>
                <a:gd name="T27" fmla="*/ 0 h 39"/>
                <a:gd name="T28" fmla="*/ 20 w 22"/>
                <a:gd name="T29" fmla="*/ 1 h 39"/>
                <a:gd name="T30" fmla="*/ 22 w 22"/>
                <a:gd name="T31" fmla="*/ 2 h 39"/>
                <a:gd name="T32" fmla="*/ 20 w 22"/>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39">
                  <a:moveTo>
                    <a:pt x="20" y="9"/>
                  </a:moveTo>
                  <a:cubicBezTo>
                    <a:pt x="20" y="8"/>
                    <a:pt x="19" y="8"/>
                    <a:pt x="18" y="8"/>
                  </a:cubicBezTo>
                  <a:cubicBezTo>
                    <a:pt x="17" y="8"/>
                    <a:pt x="16" y="7"/>
                    <a:pt x="15" y="7"/>
                  </a:cubicBezTo>
                  <a:cubicBezTo>
                    <a:pt x="12" y="7"/>
                    <a:pt x="10" y="8"/>
                    <a:pt x="9" y="10"/>
                  </a:cubicBezTo>
                  <a:cubicBezTo>
                    <a:pt x="8" y="12"/>
                    <a:pt x="7" y="14"/>
                    <a:pt x="7" y="17"/>
                  </a:cubicBezTo>
                  <a:cubicBezTo>
                    <a:pt x="7" y="39"/>
                    <a:pt x="7" y="39"/>
                    <a:pt x="7" y="39"/>
                  </a:cubicBezTo>
                  <a:cubicBezTo>
                    <a:pt x="0" y="39"/>
                    <a:pt x="0" y="39"/>
                    <a:pt x="0" y="39"/>
                  </a:cubicBezTo>
                  <a:cubicBezTo>
                    <a:pt x="0" y="1"/>
                    <a:pt x="0" y="1"/>
                    <a:pt x="0" y="1"/>
                  </a:cubicBezTo>
                  <a:cubicBezTo>
                    <a:pt x="7" y="1"/>
                    <a:pt x="7" y="1"/>
                    <a:pt x="7" y="1"/>
                  </a:cubicBezTo>
                  <a:cubicBezTo>
                    <a:pt x="7" y="5"/>
                    <a:pt x="7" y="5"/>
                    <a:pt x="7" y="5"/>
                  </a:cubicBezTo>
                  <a:cubicBezTo>
                    <a:pt x="8" y="4"/>
                    <a:pt x="8" y="3"/>
                    <a:pt x="9" y="3"/>
                  </a:cubicBezTo>
                  <a:cubicBezTo>
                    <a:pt x="9" y="2"/>
                    <a:pt x="10" y="2"/>
                    <a:pt x="11" y="1"/>
                  </a:cubicBezTo>
                  <a:cubicBezTo>
                    <a:pt x="11" y="1"/>
                    <a:pt x="12" y="1"/>
                    <a:pt x="13" y="0"/>
                  </a:cubicBezTo>
                  <a:cubicBezTo>
                    <a:pt x="14" y="0"/>
                    <a:pt x="15" y="0"/>
                    <a:pt x="16" y="0"/>
                  </a:cubicBezTo>
                  <a:cubicBezTo>
                    <a:pt x="17" y="0"/>
                    <a:pt x="19" y="0"/>
                    <a:pt x="20" y="1"/>
                  </a:cubicBezTo>
                  <a:cubicBezTo>
                    <a:pt x="21" y="1"/>
                    <a:pt x="22" y="1"/>
                    <a:pt x="22" y="2"/>
                  </a:cubicBezTo>
                  <a:lnTo>
                    <a:pt x="20"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0" name="Freeform 57">
              <a:extLst>
                <a:ext uri="{FF2B5EF4-FFF2-40B4-BE49-F238E27FC236}">
                  <a16:creationId xmlns:a16="http://schemas.microsoft.com/office/drawing/2014/main" id="{8B7E2806-AAFA-45B5-B801-55C79A927799}"/>
                </a:ext>
              </a:extLst>
            </p:cNvPr>
            <p:cNvSpPr>
              <a:spLocks/>
            </p:cNvSpPr>
            <p:nvPr userDrawn="1"/>
          </p:nvSpPr>
          <p:spPr bwMode="auto">
            <a:xfrm>
              <a:off x="1406591" y="6383459"/>
              <a:ext cx="55799" cy="137753"/>
            </a:xfrm>
            <a:custGeom>
              <a:avLst/>
              <a:gdLst>
                <a:gd name="T0" fmla="*/ 21 w 22"/>
                <a:gd name="T1" fmla="*/ 52 h 54"/>
                <a:gd name="T2" fmla="*/ 18 w 22"/>
                <a:gd name="T3" fmla="*/ 54 h 54"/>
                <a:gd name="T4" fmla="*/ 14 w 22"/>
                <a:gd name="T5" fmla="*/ 54 h 54"/>
                <a:gd name="T6" fmla="*/ 10 w 22"/>
                <a:gd name="T7" fmla="*/ 54 h 54"/>
                <a:gd name="T8" fmla="*/ 8 w 22"/>
                <a:gd name="T9" fmla="*/ 52 h 54"/>
                <a:gd name="T10" fmla="*/ 6 w 22"/>
                <a:gd name="T11" fmla="*/ 49 h 54"/>
                <a:gd name="T12" fmla="*/ 5 w 22"/>
                <a:gd name="T13" fmla="*/ 44 h 54"/>
                <a:gd name="T14" fmla="*/ 5 w 22"/>
                <a:gd name="T15" fmla="*/ 22 h 54"/>
                <a:gd name="T16" fmla="*/ 0 w 22"/>
                <a:gd name="T17" fmla="*/ 22 h 54"/>
                <a:gd name="T18" fmla="*/ 0 w 22"/>
                <a:gd name="T19" fmla="*/ 15 h 54"/>
                <a:gd name="T20" fmla="*/ 5 w 22"/>
                <a:gd name="T21" fmla="*/ 15 h 54"/>
                <a:gd name="T22" fmla="*/ 5 w 22"/>
                <a:gd name="T23" fmla="*/ 4 h 54"/>
                <a:gd name="T24" fmla="*/ 13 w 22"/>
                <a:gd name="T25" fmla="*/ 0 h 54"/>
                <a:gd name="T26" fmla="*/ 13 w 22"/>
                <a:gd name="T27" fmla="*/ 15 h 54"/>
                <a:gd name="T28" fmla="*/ 22 w 22"/>
                <a:gd name="T29" fmla="*/ 15 h 54"/>
                <a:gd name="T30" fmla="*/ 22 w 22"/>
                <a:gd name="T31" fmla="*/ 22 h 54"/>
                <a:gd name="T32" fmla="*/ 13 w 22"/>
                <a:gd name="T33" fmla="*/ 22 h 54"/>
                <a:gd name="T34" fmla="*/ 13 w 22"/>
                <a:gd name="T35" fmla="*/ 43 h 54"/>
                <a:gd name="T36" fmla="*/ 13 w 22"/>
                <a:gd name="T37" fmla="*/ 45 h 54"/>
                <a:gd name="T38" fmla="*/ 14 w 22"/>
                <a:gd name="T39" fmla="*/ 46 h 54"/>
                <a:gd name="T40" fmla="*/ 15 w 22"/>
                <a:gd name="T41" fmla="*/ 47 h 54"/>
                <a:gd name="T42" fmla="*/ 17 w 22"/>
                <a:gd name="T43" fmla="*/ 47 h 54"/>
                <a:gd name="T44" fmla="*/ 20 w 22"/>
                <a:gd name="T45" fmla="*/ 47 h 54"/>
                <a:gd name="T46" fmla="*/ 22 w 22"/>
                <a:gd name="T47" fmla="*/ 46 h 54"/>
                <a:gd name="T48" fmla="*/ 21 w 22"/>
                <a:gd name="T49"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 h="54">
                  <a:moveTo>
                    <a:pt x="21" y="52"/>
                  </a:moveTo>
                  <a:cubicBezTo>
                    <a:pt x="20" y="53"/>
                    <a:pt x="19" y="53"/>
                    <a:pt x="18" y="54"/>
                  </a:cubicBezTo>
                  <a:cubicBezTo>
                    <a:pt x="17" y="54"/>
                    <a:pt x="15" y="54"/>
                    <a:pt x="14" y="54"/>
                  </a:cubicBezTo>
                  <a:cubicBezTo>
                    <a:pt x="13" y="54"/>
                    <a:pt x="11" y="54"/>
                    <a:pt x="10" y="54"/>
                  </a:cubicBezTo>
                  <a:cubicBezTo>
                    <a:pt x="9" y="53"/>
                    <a:pt x="9" y="53"/>
                    <a:pt x="8" y="52"/>
                  </a:cubicBezTo>
                  <a:cubicBezTo>
                    <a:pt x="7" y="51"/>
                    <a:pt x="6" y="50"/>
                    <a:pt x="6" y="49"/>
                  </a:cubicBezTo>
                  <a:cubicBezTo>
                    <a:pt x="5" y="47"/>
                    <a:pt x="5" y="46"/>
                    <a:pt x="5" y="44"/>
                  </a:cubicBezTo>
                  <a:cubicBezTo>
                    <a:pt x="5" y="22"/>
                    <a:pt x="5" y="22"/>
                    <a:pt x="5" y="22"/>
                  </a:cubicBezTo>
                  <a:cubicBezTo>
                    <a:pt x="0" y="22"/>
                    <a:pt x="0" y="22"/>
                    <a:pt x="0" y="22"/>
                  </a:cubicBezTo>
                  <a:cubicBezTo>
                    <a:pt x="0" y="15"/>
                    <a:pt x="0" y="15"/>
                    <a:pt x="0" y="15"/>
                  </a:cubicBezTo>
                  <a:cubicBezTo>
                    <a:pt x="5" y="15"/>
                    <a:pt x="5" y="15"/>
                    <a:pt x="5" y="15"/>
                  </a:cubicBezTo>
                  <a:cubicBezTo>
                    <a:pt x="5" y="4"/>
                    <a:pt x="5" y="4"/>
                    <a:pt x="5" y="4"/>
                  </a:cubicBezTo>
                  <a:cubicBezTo>
                    <a:pt x="13" y="0"/>
                    <a:pt x="13" y="0"/>
                    <a:pt x="13" y="0"/>
                  </a:cubicBezTo>
                  <a:cubicBezTo>
                    <a:pt x="13" y="15"/>
                    <a:pt x="13" y="15"/>
                    <a:pt x="13" y="15"/>
                  </a:cubicBezTo>
                  <a:cubicBezTo>
                    <a:pt x="22" y="15"/>
                    <a:pt x="22" y="15"/>
                    <a:pt x="22" y="15"/>
                  </a:cubicBezTo>
                  <a:cubicBezTo>
                    <a:pt x="22" y="22"/>
                    <a:pt x="22" y="22"/>
                    <a:pt x="22" y="22"/>
                  </a:cubicBezTo>
                  <a:cubicBezTo>
                    <a:pt x="13" y="22"/>
                    <a:pt x="13" y="22"/>
                    <a:pt x="13" y="22"/>
                  </a:cubicBezTo>
                  <a:cubicBezTo>
                    <a:pt x="13" y="43"/>
                    <a:pt x="13" y="43"/>
                    <a:pt x="13" y="43"/>
                  </a:cubicBezTo>
                  <a:cubicBezTo>
                    <a:pt x="13" y="44"/>
                    <a:pt x="13" y="44"/>
                    <a:pt x="13" y="45"/>
                  </a:cubicBezTo>
                  <a:cubicBezTo>
                    <a:pt x="13" y="45"/>
                    <a:pt x="13" y="46"/>
                    <a:pt x="14" y="46"/>
                  </a:cubicBezTo>
                  <a:cubicBezTo>
                    <a:pt x="14" y="47"/>
                    <a:pt x="14" y="47"/>
                    <a:pt x="15" y="47"/>
                  </a:cubicBezTo>
                  <a:cubicBezTo>
                    <a:pt x="15" y="47"/>
                    <a:pt x="16" y="47"/>
                    <a:pt x="17" y="47"/>
                  </a:cubicBezTo>
                  <a:cubicBezTo>
                    <a:pt x="18" y="47"/>
                    <a:pt x="19" y="47"/>
                    <a:pt x="20" y="47"/>
                  </a:cubicBezTo>
                  <a:cubicBezTo>
                    <a:pt x="21" y="46"/>
                    <a:pt x="21" y="46"/>
                    <a:pt x="22" y="46"/>
                  </a:cubicBezTo>
                  <a:lnTo>
                    <a:pt x="21" y="5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1" name="Freeform 58">
              <a:extLst>
                <a:ext uri="{FF2B5EF4-FFF2-40B4-BE49-F238E27FC236}">
                  <a16:creationId xmlns:a16="http://schemas.microsoft.com/office/drawing/2014/main" id="{7A49B80F-B4C0-4F31-9238-8123D3E20D16}"/>
                </a:ext>
              </a:extLst>
            </p:cNvPr>
            <p:cNvSpPr>
              <a:spLocks/>
            </p:cNvSpPr>
            <p:nvPr userDrawn="1"/>
          </p:nvSpPr>
          <p:spPr bwMode="auto">
            <a:xfrm>
              <a:off x="1485058" y="6383459"/>
              <a:ext cx="80211" cy="136010"/>
            </a:xfrm>
            <a:custGeom>
              <a:avLst/>
              <a:gdLst>
                <a:gd name="T0" fmla="*/ 23 w 31"/>
                <a:gd name="T1" fmla="*/ 53 h 53"/>
                <a:gd name="T2" fmla="*/ 23 w 31"/>
                <a:gd name="T3" fmla="*/ 32 h 53"/>
                <a:gd name="T4" fmla="*/ 21 w 31"/>
                <a:gd name="T5" fmla="*/ 24 h 53"/>
                <a:gd name="T6" fmla="*/ 15 w 31"/>
                <a:gd name="T7" fmla="*/ 21 h 53"/>
                <a:gd name="T8" fmla="*/ 12 w 31"/>
                <a:gd name="T9" fmla="*/ 22 h 53"/>
                <a:gd name="T10" fmla="*/ 10 w 31"/>
                <a:gd name="T11" fmla="*/ 24 h 53"/>
                <a:gd name="T12" fmla="*/ 8 w 31"/>
                <a:gd name="T13" fmla="*/ 27 h 53"/>
                <a:gd name="T14" fmla="*/ 7 w 31"/>
                <a:gd name="T15" fmla="*/ 31 h 53"/>
                <a:gd name="T16" fmla="*/ 7 w 31"/>
                <a:gd name="T17" fmla="*/ 53 h 53"/>
                <a:gd name="T18" fmla="*/ 0 w 31"/>
                <a:gd name="T19" fmla="*/ 53 h 53"/>
                <a:gd name="T20" fmla="*/ 0 w 31"/>
                <a:gd name="T21" fmla="*/ 4 h 53"/>
                <a:gd name="T22" fmla="*/ 7 w 31"/>
                <a:gd name="T23" fmla="*/ 0 h 53"/>
                <a:gd name="T24" fmla="*/ 7 w 31"/>
                <a:gd name="T25" fmla="*/ 19 h 53"/>
                <a:gd name="T26" fmla="*/ 9 w 31"/>
                <a:gd name="T27" fmla="*/ 17 h 53"/>
                <a:gd name="T28" fmla="*/ 12 w 31"/>
                <a:gd name="T29" fmla="*/ 15 h 53"/>
                <a:gd name="T30" fmla="*/ 14 w 31"/>
                <a:gd name="T31" fmla="*/ 14 h 53"/>
                <a:gd name="T32" fmla="*/ 17 w 31"/>
                <a:gd name="T33" fmla="*/ 14 h 53"/>
                <a:gd name="T34" fmla="*/ 23 w 31"/>
                <a:gd name="T35" fmla="*/ 15 h 53"/>
                <a:gd name="T36" fmla="*/ 27 w 31"/>
                <a:gd name="T37" fmla="*/ 18 h 53"/>
                <a:gd name="T38" fmla="*/ 30 w 31"/>
                <a:gd name="T39" fmla="*/ 24 h 53"/>
                <a:gd name="T40" fmla="*/ 31 w 31"/>
                <a:gd name="T41" fmla="*/ 31 h 53"/>
                <a:gd name="T42" fmla="*/ 31 w 31"/>
                <a:gd name="T43" fmla="*/ 53 h 53"/>
                <a:gd name="T44" fmla="*/ 23 w 31"/>
                <a:gd name="T45"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53">
                  <a:moveTo>
                    <a:pt x="23" y="53"/>
                  </a:moveTo>
                  <a:cubicBezTo>
                    <a:pt x="23" y="32"/>
                    <a:pt x="23" y="32"/>
                    <a:pt x="23" y="32"/>
                  </a:cubicBezTo>
                  <a:cubicBezTo>
                    <a:pt x="23" y="28"/>
                    <a:pt x="23" y="25"/>
                    <a:pt x="21" y="24"/>
                  </a:cubicBezTo>
                  <a:cubicBezTo>
                    <a:pt x="20" y="22"/>
                    <a:pt x="18" y="21"/>
                    <a:pt x="15" y="21"/>
                  </a:cubicBezTo>
                  <a:cubicBezTo>
                    <a:pt x="14" y="21"/>
                    <a:pt x="13" y="21"/>
                    <a:pt x="12" y="22"/>
                  </a:cubicBezTo>
                  <a:cubicBezTo>
                    <a:pt x="11" y="22"/>
                    <a:pt x="10" y="23"/>
                    <a:pt x="10" y="24"/>
                  </a:cubicBezTo>
                  <a:cubicBezTo>
                    <a:pt x="9" y="24"/>
                    <a:pt x="8" y="25"/>
                    <a:pt x="8" y="27"/>
                  </a:cubicBezTo>
                  <a:cubicBezTo>
                    <a:pt x="8" y="28"/>
                    <a:pt x="7" y="29"/>
                    <a:pt x="7" y="31"/>
                  </a:cubicBezTo>
                  <a:cubicBezTo>
                    <a:pt x="7" y="53"/>
                    <a:pt x="7" y="53"/>
                    <a:pt x="7" y="53"/>
                  </a:cubicBezTo>
                  <a:cubicBezTo>
                    <a:pt x="0" y="53"/>
                    <a:pt x="0" y="53"/>
                    <a:pt x="0" y="53"/>
                  </a:cubicBezTo>
                  <a:cubicBezTo>
                    <a:pt x="0" y="4"/>
                    <a:pt x="0" y="4"/>
                    <a:pt x="0" y="4"/>
                  </a:cubicBezTo>
                  <a:cubicBezTo>
                    <a:pt x="7" y="0"/>
                    <a:pt x="7" y="0"/>
                    <a:pt x="7" y="0"/>
                  </a:cubicBezTo>
                  <a:cubicBezTo>
                    <a:pt x="7" y="19"/>
                    <a:pt x="7" y="19"/>
                    <a:pt x="7" y="19"/>
                  </a:cubicBezTo>
                  <a:cubicBezTo>
                    <a:pt x="8" y="18"/>
                    <a:pt x="9" y="17"/>
                    <a:pt x="9" y="17"/>
                  </a:cubicBezTo>
                  <a:cubicBezTo>
                    <a:pt x="10" y="16"/>
                    <a:pt x="11" y="16"/>
                    <a:pt x="12" y="15"/>
                  </a:cubicBezTo>
                  <a:cubicBezTo>
                    <a:pt x="12" y="15"/>
                    <a:pt x="13" y="15"/>
                    <a:pt x="14" y="14"/>
                  </a:cubicBezTo>
                  <a:cubicBezTo>
                    <a:pt x="15" y="14"/>
                    <a:pt x="16" y="14"/>
                    <a:pt x="17" y="14"/>
                  </a:cubicBezTo>
                  <a:cubicBezTo>
                    <a:pt x="19" y="14"/>
                    <a:pt x="21" y="14"/>
                    <a:pt x="23" y="15"/>
                  </a:cubicBezTo>
                  <a:cubicBezTo>
                    <a:pt x="25" y="16"/>
                    <a:pt x="26" y="17"/>
                    <a:pt x="27" y="18"/>
                  </a:cubicBezTo>
                  <a:cubicBezTo>
                    <a:pt x="29" y="20"/>
                    <a:pt x="29" y="22"/>
                    <a:pt x="30" y="24"/>
                  </a:cubicBezTo>
                  <a:cubicBezTo>
                    <a:pt x="31" y="26"/>
                    <a:pt x="31" y="29"/>
                    <a:pt x="31" y="31"/>
                  </a:cubicBezTo>
                  <a:cubicBezTo>
                    <a:pt x="31" y="53"/>
                    <a:pt x="31" y="53"/>
                    <a:pt x="31" y="53"/>
                  </a:cubicBezTo>
                  <a:lnTo>
                    <a:pt x="23" y="5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2" name="Freeform 59">
              <a:extLst>
                <a:ext uri="{FF2B5EF4-FFF2-40B4-BE49-F238E27FC236}">
                  <a16:creationId xmlns:a16="http://schemas.microsoft.com/office/drawing/2014/main" id="{9C60C45F-865F-4118-A4B0-174C696B472F}"/>
                </a:ext>
              </a:extLst>
            </p:cNvPr>
            <p:cNvSpPr>
              <a:spLocks noEditPoints="1"/>
            </p:cNvSpPr>
            <p:nvPr userDrawn="1"/>
          </p:nvSpPr>
          <p:spPr bwMode="auto">
            <a:xfrm>
              <a:off x="1582706" y="6418333"/>
              <a:ext cx="83698" cy="102879"/>
            </a:xfrm>
            <a:custGeom>
              <a:avLst/>
              <a:gdLst>
                <a:gd name="T0" fmla="*/ 33 w 33"/>
                <a:gd name="T1" fmla="*/ 19 h 40"/>
                <a:gd name="T2" fmla="*/ 33 w 33"/>
                <a:gd name="T3" fmla="*/ 21 h 40"/>
                <a:gd name="T4" fmla="*/ 33 w 33"/>
                <a:gd name="T5" fmla="*/ 23 h 40"/>
                <a:gd name="T6" fmla="*/ 8 w 33"/>
                <a:gd name="T7" fmla="*/ 23 h 40"/>
                <a:gd name="T8" fmla="*/ 9 w 33"/>
                <a:gd name="T9" fmla="*/ 28 h 40"/>
                <a:gd name="T10" fmla="*/ 11 w 33"/>
                <a:gd name="T11" fmla="*/ 31 h 40"/>
                <a:gd name="T12" fmla="*/ 14 w 33"/>
                <a:gd name="T13" fmla="*/ 33 h 40"/>
                <a:gd name="T14" fmla="*/ 17 w 33"/>
                <a:gd name="T15" fmla="*/ 33 h 40"/>
                <a:gd name="T16" fmla="*/ 20 w 33"/>
                <a:gd name="T17" fmla="*/ 33 h 40"/>
                <a:gd name="T18" fmla="*/ 22 w 33"/>
                <a:gd name="T19" fmla="*/ 32 h 40"/>
                <a:gd name="T20" fmla="*/ 24 w 33"/>
                <a:gd name="T21" fmla="*/ 32 h 40"/>
                <a:gd name="T22" fmla="*/ 26 w 33"/>
                <a:gd name="T23" fmla="*/ 30 h 40"/>
                <a:gd name="T24" fmla="*/ 30 w 33"/>
                <a:gd name="T25" fmla="*/ 35 h 40"/>
                <a:gd name="T26" fmla="*/ 27 w 33"/>
                <a:gd name="T27" fmla="*/ 37 h 40"/>
                <a:gd name="T28" fmla="*/ 25 w 33"/>
                <a:gd name="T29" fmla="*/ 39 h 40"/>
                <a:gd name="T30" fmla="*/ 21 w 33"/>
                <a:gd name="T31" fmla="*/ 40 h 40"/>
                <a:gd name="T32" fmla="*/ 17 w 33"/>
                <a:gd name="T33" fmla="*/ 40 h 40"/>
                <a:gd name="T34" fmla="*/ 12 w 33"/>
                <a:gd name="T35" fmla="*/ 39 h 40"/>
                <a:gd name="T36" fmla="*/ 8 w 33"/>
                <a:gd name="T37" fmla="*/ 38 h 40"/>
                <a:gd name="T38" fmla="*/ 5 w 33"/>
                <a:gd name="T39" fmla="*/ 35 h 40"/>
                <a:gd name="T40" fmla="*/ 3 w 33"/>
                <a:gd name="T41" fmla="*/ 31 h 40"/>
                <a:gd name="T42" fmla="*/ 1 w 33"/>
                <a:gd name="T43" fmla="*/ 26 h 40"/>
                <a:gd name="T44" fmla="*/ 0 w 33"/>
                <a:gd name="T45" fmla="*/ 20 h 40"/>
                <a:gd name="T46" fmla="*/ 2 w 33"/>
                <a:gd name="T47" fmla="*/ 12 h 40"/>
                <a:gd name="T48" fmla="*/ 5 w 33"/>
                <a:gd name="T49" fmla="*/ 5 h 40"/>
                <a:gd name="T50" fmla="*/ 10 w 33"/>
                <a:gd name="T51" fmla="*/ 1 h 40"/>
                <a:gd name="T52" fmla="*/ 17 w 33"/>
                <a:gd name="T53" fmla="*/ 0 h 40"/>
                <a:gd name="T54" fmla="*/ 24 w 33"/>
                <a:gd name="T55" fmla="*/ 2 h 40"/>
                <a:gd name="T56" fmla="*/ 29 w 33"/>
                <a:gd name="T57" fmla="*/ 6 h 40"/>
                <a:gd name="T58" fmla="*/ 32 w 33"/>
                <a:gd name="T59" fmla="*/ 12 h 40"/>
                <a:gd name="T60" fmla="*/ 33 w 33"/>
                <a:gd name="T61" fmla="*/ 19 h 40"/>
                <a:gd name="T62" fmla="*/ 26 w 33"/>
                <a:gd name="T63" fmla="*/ 17 h 40"/>
                <a:gd name="T64" fmla="*/ 25 w 33"/>
                <a:gd name="T65" fmla="*/ 13 h 40"/>
                <a:gd name="T66" fmla="*/ 23 w 33"/>
                <a:gd name="T67" fmla="*/ 10 h 40"/>
                <a:gd name="T68" fmla="*/ 21 w 33"/>
                <a:gd name="T69" fmla="*/ 8 h 40"/>
                <a:gd name="T70" fmla="*/ 17 w 33"/>
                <a:gd name="T71" fmla="*/ 7 h 40"/>
                <a:gd name="T72" fmla="*/ 13 w 33"/>
                <a:gd name="T73" fmla="*/ 8 h 40"/>
                <a:gd name="T74" fmla="*/ 11 w 33"/>
                <a:gd name="T75" fmla="*/ 9 h 40"/>
                <a:gd name="T76" fmla="*/ 9 w 33"/>
                <a:gd name="T77" fmla="*/ 12 h 40"/>
                <a:gd name="T78" fmla="*/ 8 w 33"/>
                <a:gd name="T79" fmla="*/ 17 h 40"/>
                <a:gd name="T80" fmla="*/ 26 w 33"/>
                <a:gd name="T81"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3" h="40">
                  <a:moveTo>
                    <a:pt x="33" y="19"/>
                  </a:moveTo>
                  <a:cubicBezTo>
                    <a:pt x="33" y="20"/>
                    <a:pt x="33" y="21"/>
                    <a:pt x="33" y="21"/>
                  </a:cubicBezTo>
                  <a:cubicBezTo>
                    <a:pt x="33" y="22"/>
                    <a:pt x="33" y="22"/>
                    <a:pt x="33" y="23"/>
                  </a:cubicBezTo>
                  <a:cubicBezTo>
                    <a:pt x="8" y="23"/>
                    <a:pt x="8" y="23"/>
                    <a:pt x="8" y="23"/>
                  </a:cubicBezTo>
                  <a:cubicBezTo>
                    <a:pt x="8" y="25"/>
                    <a:pt x="8" y="26"/>
                    <a:pt x="9" y="28"/>
                  </a:cubicBezTo>
                  <a:cubicBezTo>
                    <a:pt x="10" y="29"/>
                    <a:pt x="10" y="30"/>
                    <a:pt x="11" y="31"/>
                  </a:cubicBezTo>
                  <a:cubicBezTo>
                    <a:pt x="12" y="32"/>
                    <a:pt x="13" y="32"/>
                    <a:pt x="14" y="33"/>
                  </a:cubicBezTo>
                  <a:cubicBezTo>
                    <a:pt x="15" y="33"/>
                    <a:pt x="16" y="33"/>
                    <a:pt x="17" y="33"/>
                  </a:cubicBezTo>
                  <a:cubicBezTo>
                    <a:pt x="18" y="33"/>
                    <a:pt x="19" y="33"/>
                    <a:pt x="20" y="33"/>
                  </a:cubicBezTo>
                  <a:cubicBezTo>
                    <a:pt x="20" y="33"/>
                    <a:pt x="21" y="33"/>
                    <a:pt x="22" y="32"/>
                  </a:cubicBezTo>
                  <a:cubicBezTo>
                    <a:pt x="23" y="32"/>
                    <a:pt x="23" y="32"/>
                    <a:pt x="24" y="32"/>
                  </a:cubicBezTo>
                  <a:cubicBezTo>
                    <a:pt x="24" y="31"/>
                    <a:pt x="25" y="31"/>
                    <a:pt x="26" y="30"/>
                  </a:cubicBezTo>
                  <a:cubicBezTo>
                    <a:pt x="30" y="35"/>
                    <a:pt x="30" y="35"/>
                    <a:pt x="30" y="35"/>
                  </a:cubicBezTo>
                  <a:cubicBezTo>
                    <a:pt x="29" y="36"/>
                    <a:pt x="28" y="37"/>
                    <a:pt x="27" y="37"/>
                  </a:cubicBezTo>
                  <a:cubicBezTo>
                    <a:pt x="27" y="38"/>
                    <a:pt x="26" y="38"/>
                    <a:pt x="25" y="39"/>
                  </a:cubicBezTo>
                  <a:cubicBezTo>
                    <a:pt x="24" y="39"/>
                    <a:pt x="22" y="40"/>
                    <a:pt x="21" y="40"/>
                  </a:cubicBezTo>
                  <a:cubicBezTo>
                    <a:pt x="20" y="40"/>
                    <a:pt x="18" y="40"/>
                    <a:pt x="17" y="40"/>
                  </a:cubicBezTo>
                  <a:cubicBezTo>
                    <a:pt x="15" y="40"/>
                    <a:pt x="14" y="40"/>
                    <a:pt x="12" y="39"/>
                  </a:cubicBezTo>
                  <a:cubicBezTo>
                    <a:pt x="11" y="39"/>
                    <a:pt x="10" y="38"/>
                    <a:pt x="8" y="38"/>
                  </a:cubicBezTo>
                  <a:cubicBezTo>
                    <a:pt x="7" y="37"/>
                    <a:pt x="6" y="36"/>
                    <a:pt x="5" y="35"/>
                  </a:cubicBezTo>
                  <a:cubicBezTo>
                    <a:pt x="4" y="34"/>
                    <a:pt x="4" y="33"/>
                    <a:pt x="3" y="31"/>
                  </a:cubicBezTo>
                  <a:cubicBezTo>
                    <a:pt x="2" y="30"/>
                    <a:pt x="1" y="28"/>
                    <a:pt x="1" y="26"/>
                  </a:cubicBezTo>
                  <a:cubicBezTo>
                    <a:pt x="1" y="24"/>
                    <a:pt x="0" y="22"/>
                    <a:pt x="0" y="20"/>
                  </a:cubicBezTo>
                  <a:cubicBezTo>
                    <a:pt x="0" y="17"/>
                    <a:pt x="1" y="14"/>
                    <a:pt x="2" y="12"/>
                  </a:cubicBezTo>
                  <a:cubicBezTo>
                    <a:pt x="2" y="9"/>
                    <a:pt x="4" y="7"/>
                    <a:pt x="5" y="5"/>
                  </a:cubicBezTo>
                  <a:cubicBezTo>
                    <a:pt x="6" y="4"/>
                    <a:pt x="8" y="2"/>
                    <a:pt x="10" y="1"/>
                  </a:cubicBezTo>
                  <a:cubicBezTo>
                    <a:pt x="12" y="1"/>
                    <a:pt x="15" y="0"/>
                    <a:pt x="17" y="0"/>
                  </a:cubicBezTo>
                  <a:cubicBezTo>
                    <a:pt x="20" y="0"/>
                    <a:pt x="22" y="1"/>
                    <a:pt x="24" y="2"/>
                  </a:cubicBezTo>
                  <a:cubicBezTo>
                    <a:pt x="26" y="3"/>
                    <a:pt x="28" y="4"/>
                    <a:pt x="29" y="6"/>
                  </a:cubicBezTo>
                  <a:cubicBezTo>
                    <a:pt x="31" y="8"/>
                    <a:pt x="32" y="10"/>
                    <a:pt x="32" y="12"/>
                  </a:cubicBezTo>
                  <a:cubicBezTo>
                    <a:pt x="33" y="14"/>
                    <a:pt x="33" y="17"/>
                    <a:pt x="33" y="19"/>
                  </a:cubicBezTo>
                  <a:close/>
                  <a:moveTo>
                    <a:pt x="26" y="17"/>
                  </a:moveTo>
                  <a:cubicBezTo>
                    <a:pt x="26" y="15"/>
                    <a:pt x="25" y="14"/>
                    <a:pt x="25" y="13"/>
                  </a:cubicBezTo>
                  <a:cubicBezTo>
                    <a:pt x="25" y="12"/>
                    <a:pt x="24" y="11"/>
                    <a:pt x="23" y="10"/>
                  </a:cubicBezTo>
                  <a:cubicBezTo>
                    <a:pt x="23" y="9"/>
                    <a:pt x="22" y="8"/>
                    <a:pt x="21" y="8"/>
                  </a:cubicBezTo>
                  <a:cubicBezTo>
                    <a:pt x="20" y="7"/>
                    <a:pt x="18" y="7"/>
                    <a:pt x="17" y="7"/>
                  </a:cubicBezTo>
                  <a:cubicBezTo>
                    <a:pt x="15" y="7"/>
                    <a:pt x="14" y="7"/>
                    <a:pt x="13" y="8"/>
                  </a:cubicBezTo>
                  <a:cubicBezTo>
                    <a:pt x="12" y="8"/>
                    <a:pt x="11" y="9"/>
                    <a:pt x="11" y="9"/>
                  </a:cubicBezTo>
                  <a:cubicBezTo>
                    <a:pt x="10" y="10"/>
                    <a:pt x="9" y="11"/>
                    <a:pt x="9" y="12"/>
                  </a:cubicBezTo>
                  <a:cubicBezTo>
                    <a:pt x="8" y="14"/>
                    <a:pt x="8" y="15"/>
                    <a:pt x="8" y="17"/>
                  </a:cubicBezTo>
                  <a:lnTo>
                    <a:pt x="26" y="1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3" name="Freeform 60">
              <a:extLst>
                <a:ext uri="{FF2B5EF4-FFF2-40B4-BE49-F238E27FC236}">
                  <a16:creationId xmlns:a16="http://schemas.microsoft.com/office/drawing/2014/main" id="{15FBF980-B96C-472B-A46B-A731CA164E92}"/>
                </a:ext>
              </a:extLst>
            </p:cNvPr>
            <p:cNvSpPr>
              <a:spLocks/>
            </p:cNvSpPr>
            <p:nvPr userDrawn="1"/>
          </p:nvSpPr>
          <p:spPr bwMode="auto">
            <a:xfrm>
              <a:off x="1727435" y="6421821"/>
              <a:ext cx="122060" cy="97648"/>
            </a:xfrm>
            <a:custGeom>
              <a:avLst/>
              <a:gdLst>
                <a:gd name="T0" fmla="*/ 56 w 70"/>
                <a:gd name="T1" fmla="*/ 56 h 56"/>
                <a:gd name="T2" fmla="*/ 46 w 70"/>
                <a:gd name="T3" fmla="*/ 56 h 56"/>
                <a:gd name="T4" fmla="*/ 35 w 70"/>
                <a:gd name="T5" fmla="*/ 16 h 56"/>
                <a:gd name="T6" fmla="*/ 25 w 70"/>
                <a:gd name="T7" fmla="*/ 56 h 56"/>
                <a:gd name="T8" fmla="*/ 15 w 70"/>
                <a:gd name="T9" fmla="*/ 56 h 56"/>
                <a:gd name="T10" fmla="*/ 0 w 70"/>
                <a:gd name="T11" fmla="*/ 0 h 56"/>
                <a:gd name="T12" fmla="*/ 10 w 70"/>
                <a:gd name="T13" fmla="*/ 0 h 56"/>
                <a:gd name="T14" fmla="*/ 21 w 70"/>
                <a:gd name="T15" fmla="*/ 38 h 56"/>
                <a:gd name="T16" fmla="*/ 31 w 70"/>
                <a:gd name="T17" fmla="*/ 0 h 56"/>
                <a:gd name="T18" fmla="*/ 40 w 70"/>
                <a:gd name="T19" fmla="*/ 0 h 56"/>
                <a:gd name="T20" fmla="*/ 50 w 70"/>
                <a:gd name="T21" fmla="*/ 38 h 56"/>
                <a:gd name="T22" fmla="*/ 60 w 70"/>
                <a:gd name="T23" fmla="*/ 0 h 56"/>
                <a:gd name="T24" fmla="*/ 70 w 70"/>
                <a:gd name="T25" fmla="*/ 0 h 56"/>
                <a:gd name="T26" fmla="*/ 56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6" y="56"/>
                  </a:moveTo>
                  <a:lnTo>
                    <a:pt x="46" y="56"/>
                  </a:lnTo>
                  <a:lnTo>
                    <a:pt x="35" y="16"/>
                  </a:lnTo>
                  <a:lnTo>
                    <a:pt x="25" y="56"/>
                  </a:lnTo>
                  <a:lnTo>
                    <a:pt x="15" y="56"/>
                  </a:lnTo>
                  <a:lnTo>
                    <a:pt x="0" y="0"/>
                  </a:lnTo>
                  <a:lnTo>
                    <a:pt x="10" y="0"/>
                  </a:lnTo>
                  <a:lnTo>
                    <a:pt x="21" y="38"/>
                  </a:lnTo>
                  <a:lnTo>
                    <a:pt x="31" y="0"/>
                  </a:lnTo>
                  <a:lnTo>
                    <a:pt x="40" y="0"/>
                  </a:lnTo>
                  <a:lnTo>
                    <a:pt x="50" y="38"/>
                  </a:lnTo>
                  <a:lnTo>
                    <a:pt x="60" y="0"/>
                  </a:lnTo>
                  <a:lnTo>
                    <a:pt x="70" y="0"/>
                  </a:lnTo>
                  <a:lnTo>
                    <a:pt x="56"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4" name="Freeform 61">
              <a:extLst>
                <a:ext uri="{FF2B5EF4-FFF2-40B4-BE49-F238E27FC236}">
                  <a16:creationId xmlns:a16="http://schemas.microsoft.com/office/drawing/2014/main" id="{64F1DD18-05EE-4F9F-9E6B-E03C4C500F21}"/>
                </a:ext>
              </a:extLst>
            </p:cNvPr>
            <p:cNvSpPr>
              <a:spLocks noEditPoints="1"/>
            </p:cNvSpPr>
            <p:nvPr userDrawn="1"/>
          </p:nvSpPr>
          <p:spPr bwMode="auto">
            <a:xfrm>
              <a:off x="1859957" y="6418333"/>
              <a:ext cx="87186" cy="102879"/>
            </a:xfrm>
            <a:custGeom>
              <a:avLst/>
              <a:gdLst>
                <a:gd name="T0" fmla="*/ 34 w 34"/>
                <a:gd name="T1" fmla="*/ 20 h 40"/>
                <a:gd name="T2" fmla="*/ 33 w 34"/>
                <a:gd name="T3" fmla="*/ 28 h 40"/>
                <a:gd name="T4" fmla="*/ 29 w 34"/>
                <a:gd name="T5" fmla="*/ 35 h 40"/>
                <a:gd name="T6" fmla="*/ 24 w 34"/>
                <a:gd name="T7" fmla="*/ 39 h 40"/>
                <a:gd name="T8" fmla="*/ 17 w 34"/>
                <a:gd name="T9" fmla="*/ 40 h 40"/>
                <a:gd name="T10" fmla="*/ 10 w 34"/>
                <a:gd name="T11" fmla="*/ 39 h 40"/>
                <a:gd name="T12" fmla="*/ 5 w 34"/>
                <a:gd name="T13" fmla="*/ 35 h 40"/>
                <a:gd name="T14" fmla="*/ 1 w 34"/>
                <a:gd name="T15" fmla="*/ 28 h 40"/>
                <a:gd name="T16" fmla="*/ 0 w 34"/>
                <a:gd name="T17" fmla="*/ 20 h 40"/>
                <a:gd name="T18" fmla="*/ 1 w 34"/>
                <a:gd name="T19" fmla="*/ 12 h 40"/>
                <a:gd name="T20" fmla="*/ 5 w 34"/>
                <a:gd name="T21" fmla="*/ 5 h 40"/>
                <a:gd name="T22" fmla="*/ 11 w 34"/>
                <a:gd name="T23" fmla="*/ 1 h 40"/>
                <a:gd name="T24" fmla="*/ 17 w 34"/>
                <a:gd name="T25" fmla="*/ 0 h 40"/>
                <a:gd name="T26" fmla="*/ 24 w 34"/>
                <a:gd name="T27" fmla="*/ 1 h 40"/>
                <a:gd name="T28" fmla="*/ 29 w 34"/>
                <a:gd name="T29" fmla="*/ 5 h 40"/>
                <a:gd name="T30" fmla="*/ 33 w 34"/>
                <a:gd name="T31" fmla="*/ 12 h 40"/>
                <a:gd name="T32" fmla="*/ 34 w 34"/>
                <a:gd name="T33" fmla="*/ 20 h 40"/>
                <a:gd name="T34" fmla="*/ 27 w 34"/>
                <a:gd name="T35" fmla="*/ 20 h 40"/>
                <a:gd name="T36" fmla="*/ 26 w 34"/>
                <a:gd name="T37" fmla="*/ 15 h 40"/>
                <a:gd name="T38" fmla="*/ 24 w 34"/>
                <a:gd name="T39" fmla="*/ 11 h 40"/>
                <a:gd name="T40" fmla="*/ 21 w 34"/>
                <a:gd name="T41" fmla="*/ 8 h 40"/>
                <a:gd name="T42" fmla="*/ 17 w 34"/>
                <a:gd name="T43" fmla="*/ 7 h 40"/>
                <a:gd name="T44" fmla="*/ 13 w 34"/>
                <a:gd name="T45" fmla="*/ 8 h 40"/>
                <a:gd name="T46" fmla="*/ 10 w 34"/>
                <a:gd name="T47" fmla="*/ 11 h 40"/>
                <a:gd name="T48" fmla="*/ 8 w 34"/>
                <a:gd name="T49" fmla="*/ 15 h 40"/>
                <a:gd name="T50" fmla="*/ 8 w 34"/>
                <a:gd name="T51" fmla="*/ 20 h 40"/>
                <a:gd name="T52" fmla="*/ 8 w 34"/>
                <a:gd name="T53" fmla="*/ 26 h 40"/>
                <a:gd name="T54" fmla="*/ 10 w 34"/>
                <a:gd name="T55" fmla="*/ 30 h 40"/>
                <a:gd name="T56" fmla="*/ 13 w 34"/>
                <a:gd name="T57" fmla="*/ 32 h 40"/>
                <a:gd name="T58" fmla="*/ 17 w 34"/>
                <a:gd name="T59" fmla="*/ 33 h 40"/>
                <a:gd name="T60" fmla="*/ 21 w 34"/>
                <a:gd name="T61" fmla="*/ 32 h 40"/>
                <a:gd name="T62" fmla="*/ 24 w 34"/>
                <a:gd name="T63" fmla="*/ 29 h 40"/>
                <a:gd name="T64" fmla="*/ 26 w 34"/>
                <a:gd name="T65" fmla="*/ 25 h 40"/>
                <a:gd name="T66" fmla="*/ 27 w 34"/>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0">
                  <a:moveTo>
                    <a:pt x="34" y="20"/>
                  </a:moveTo>
                  <a:cubicBezTo>
                    <a:pt x="34" y="23"/>
                    <a:pt x="34" y="26"/>
                    <a:pt x="33" y="28"/>
                  </a:cubicBezTo>
                  <a:cubicBezTo>
                    <a:pt x="32" y="31"/>
                    <a:pt x="31" y="33"/>
                    <a:pt x="29" y="35"/>
                  </a:cubicBezTo>
                  <a:cubicBezTo>
                    <a:pt x="28" y="37"/>
                    <a:pt x="26" y="38"/>
                    <a:pt x="24" y="39"/>
                  </a:cubicBezTo>
                  <a:cubicBezTo>
                    <a:pt x="22" y="40"/>
                    <a:pt x="20" y="40"/>
                    <a:pt x="17" y="40"/>
                  </a:cubicBezTo>
                  <a:cubicBezTo>
                    <a:pt x="15" y="40"/>
                    <a:pt x="12" y="40"/>
                    <a:pt x="10" y="39"/>
                  </a:cubicBezTo>
                  <a:cubicBezTo>
                    <a:pt x="8" y="38"/>
                    <a:pt x="6" y="36"/>
                    <a:pt x="5" y="35"/>
                  </a:cubicBezTo>
                  <a:cubicBezTo>
                    <a:pt x="3" y="33"/>
                    <a:pt x="2" y="31"/>
                    <a:pt x="1" y="28"/>
                  </a:cubicBezTo>
                  <a:cubicBezTo>
                    <a:pt x="1" y="26"/>
                    <a:pt x="0" y="23"/>
                    <a:pt x="0" y="20"/>
                  </a:cubicBezTo>
                  <a:cubicBezTo>
                    <a:pt x="0" y="17"/>
                    <a:pt x="1" y="14"/>
                    <a:pt x="1" y="12"/>
                  </a:cubicBezTo>
                  <a:cubicBezTo>
                    <a:pt x="2" y="9"/>
                    <a:pt x="4" y="7"/>
                    <a:pt x="5" y="5"/>
                  </a:cubicBezTo>
                  <a:cubicBezTo>
                    <a:pt x="7" y="4"/>
                    <a:pt x="8" y="2"/>
                    <a:pt x="11" y="1"/>
                  </a:cubicBezTo>
                  <a:cubicBezTo>
                    <a:pt x="13" y="1"/>
                    <a:pt x="15" y="0"/>
                    <a:pt x="17" y="0"/>
                  </a:cubicBezTo>
                  <a:cubicBezTo>
                    <a:pt x="20" y="0"/>
                    <a:pt x="22" y="1"/>
                    <a:pt x="24" y="1"/>
                  </a:cubicBezTo>
                  <a:cubicBezTo>
                    <a:pt x="26" y="2"/>
                    <a:pt x="28" y="4"/>
                    <a:pt x="29" y="5"/>
                  </a:cubicBezTo>
                  <a:cubicBezTo>
                    <a:pt x="31" y="7"/>
                    <a:pt x="32" y="9"/>
                    <a:pt x="33" y="12"/>
                  </a:cubicBezTo>
                  <a:cubicBezTo>
                    <a:pt x="34" y="14"/>
                    <a:pt x="34" y="17"/>
                    <a:pt x="34" y="20"/>
                  </a:cubicBezTo>
                  <a:close/>
                  <a:moveTo>
                    <a:pt x="27" y="20"/>
                  </a:moveTo>
                  <a:cubicBezTo>
                    <a:pt x="27" y="18"/>
                    <a:pt x="27" y="16"/>
                    <a:pt x="26" y="15"/>
                  </a:cubicBezTo>
                  <a:cubicBezTo>
                    <a:pt x="26" y="13"/>
                    <a:pt x="25" y="12"/>
                    <a:pt x="24" y="11"/>
                  </a:cubicBezTo>
                  <a:cubicBezTo>
                    <a:pt x="23" y="10"/>
                    <a:pt x="22" y="9"/>
                    <a:pt x="21" y="8"/>
                  </a:cubicBezTo>
                  <a:cubicBezTo>
                    <a:pt x="20" y="8"/>
                    <a:pt x="18" y="7"/>
                    <a:pt x="17" y="7"/>
                  </a:cubicBezTo>
                  <a:cubicBezTo>
                    <a:pt x="16" y="7"/>
                    <a:pt x="14" y="8"/>
                    <a:pt x="13" y="8"/>
                  </a:cubicBezTo>
                  <a:cubicBezTo>
                    <a:pt x="12" y="9"/>
                    <a:pt x="11" y="10"/>
                    <a:pt x="10" y="11"/>
                  </a:cubicBezTo>
                  <a:cubicBezTo>
                    <a:pt x="9" y="12"/>
                    <a:pt x="9" y="13"/>
                    <a:pt x="8" y="15"/>
                  </a:cubicBezTo>
                  <a:cubicBezTo>
                    <a:pt x="8" y="16"/>
                    <a:pt x="8" y="18"/>
                    <a:pt x="8" y="20"/>
                  </a:cubicBezTo>
                  <a:cubicBezTo>
                    <a:pt x="8" y="22"/>
                    <a:pt x="8" y="24"/>
                    <a:pt x="8" y="26"/>
                  </a:cubicBezTo>
                  <a:cubicBezTo>
                    <a:pt x="9" y="27"/>
                    <a:pt x="10" y="28"/>
                    <a:pt x="10" y="30"/>
                  </a:cubicBezTo>
                  <a:cubicBezTo>
                    <a:pt x="11" y="31"/>
                    <a:pt x="12" y="32"/>
                    <a:pt x="13" y="32"/>
                  </a:cubicBezTo>
                  <a:cubicBezTo>
                    <a:pt x="15" y="33"/>
                    <a:pt x="16" y="33"/>
                    <a:pt x="17" y="33"/>
                  </a:cubicBezTo>
                  <a:cubicBezTo>
                    <a:pt x="19" y="33"/>
                    <a:pt x="20" y="33"/>
                    <a:pt x="21" y="32"/>
                  </a:cubicBezTo>
                  <a:cubicBezTo>
                    <a:pt x="22" y="31"/>
                    <a:pt x="23"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5" name="Freeform 62">
              <a:extLst>
                <a:ext uri="{FF2B5EF4-FFF2-40B4-BE49-F238E27FC236}">
                  <a16:creationId xmlns:a16="http://schemas.microsoft.com/office/drawing/2014/main" id="{6051CC00-BFF2-4334-9855-62AD588546F7}"/>
                </a:ext>
              </a:extLst>
            </p:cNvPr>
            <p:cNvSpPr>
              <a:spLocks/>
            </p:cNvSpPr>
            <p:nvPr userDrawn="1"/>
          </p:nvSpPr>
          <p:spPr bwMode="auto">
            <a:xfrm>
              <a:off x="1968067" y="6418333"/>
              <a:ext cx="57543" cy="101135"/>
            </a:xfrm>
            <a:custGeom>
              <a:avLst/>
              <a:gdLst>
                <a:gd name="T0" fmla="*/ 21 w 23"/>
                <a:gd name="T1" fmla="*/ 9 h 39"/>
                <a:gd name="T2" fmla="*/ 18 w 23"/>
                <a:gd name="T3" fmla="*/ 8 h 39"/>
                <a:gd name="T4" fmla="*/ 15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9 w 23"/>
                <a:gd name="T21" fmla="*/ 3 h 39"/>
                <a:gd name="T22" fmla="*/ 11 w 23"/>
                <a:gd name="T23" fmla="*/ 1 h 39"/>
                <a:gd name="T24" fmla="*/ 14 w 23"/>
                <a:gd name="T25" fmla="*/ 0 h 39"/>
                <a:gd name="T26" fmla="*/ 17 w 23"/>
                <a:gd name="T27" fmla="*/ 0 h 39"/>
                <a:gd name="T28" fmla="*/ 20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19" y="8"/>
                    <a:pt x="18" y="8"/>
                  </a:cubicBezTo>
                  <a:cubicBezTo>
                    <a:pt x="18" y="8"/>
                    <a:pt x="17" y="7"/>
                    <a:pt x="15" y="7"/>
                  </a:cubicBezTo>
                  <a:cubicBezTo>
                    <a:pt x="13" y="7"/>
                    <a:pt x="11" y="8"/>
                    <a:pt x="10" y="10"/>
                  </a:cubicBezTo>
                  <a:cubicBezTo>
                    <a:pt x="8"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9" y="3"/>
                  </a:cubicBezTo>
                  <a:cubicBezTo>
                    <a:pt x="10" y="2"/>
                    <a:pt x="11" y="2"/>
                    <a:pt x="11" y="1"/>
                  </a:cubicBezTo>
                  <a:cubicBezTo>
                    <a:pt x="12" y="1"/>
                    <a:pt x="13" y="1"/>
                    <a:pt x="14" y="0"/>
                  </a:cubicBezTo>
                  <a:cubicBezTo>
                    <a:pt x="15" y="0"/>
                    <a:pt x="16" y="0"/>
                    <a:pt x="17" y="0"/>
                  </a:cubicBezTo>
                  <a:cubicBezTo>
                    <a:pt x="18" y="0"/>
                    <a:pt x="19" y="0"/>
                    <a:pt x="20" y="1"/>
                  </a:cubicBezTo>
                  <a:cubicBezTo>
                    <a:pt x="21" y="1"/>
                    <a:pt x="22"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6" name="Freeform 63">
              <a:extLst>
                <a:ext uri="{FF2B5EF4-FFF2-40B4-BE49-F238E27FC236}">
                  <a16:creationId xmlns:a16="http://schemas.microsoft.com/office/drawing/2014/main" id="{905DD261-B224-46ED-8CEE-E8D180BA4B72}"/>
                </a:ext>
              </a:extLst>
            </p:cNvPr>
            <p:cNvSpPr>
              <a:spLocks/>
            </p:cNvSpPr>
            <p:nvPr userDrawn="1"/>
          </p:nvSpPr>
          <p:spPr bwMode="auto">
            <a:xfrm>
              <a:off x="2043046" y="6383459"/>
              <a:ext cx="19181" cy="136010"/>
            </a:xfrm>
            <a:custGeom>
              <a:avLst/>
              <a:gdLst>
                <a:gd name="T0" fmla="*/ 0 w 11"/>
                <a:gd name="T1" fmla="*/ 78 h 78"/>
                <a:gd name="T2" fmla="*/ 0 w 11"/>
                <a:gd name="T3" fmla="*/ 6 h 78"/>
                <a:gd name="T4" fmla="*/ 11 w 11"/>
                <a:gd name="T5" fmla="*/ 0 h 78"/>
                <a:gd name="T6" fmla="*/ 11 w 11"/>
                <a:gd name="T7" fmla="*/ 78 h 78"/>
                <a:gd name="T8" fmla="*/ 0 w 11"/>
                <a:gd name="T9" fmla="*/ 78 h 78"/>
              </a:gdLst>
              <a:ahLst/>
              <a:cxnLst>
                <a:cxn ang="0">
                  <a:pos x="T0" y="T1"/>
                </a:cxn>
                <a:cxn ang="0">
                  <a:pos x="T2" y="T3"/>
                </a:cxn>
                <a:cxn ang="0">
                  <a:pos x="T4" y="T5"/>
                </a:cxn>
                <a:cxn ang="0">
                  <a:pos x="T6" y="T7"/>
                </a:cxn>
                <a:cxn ang="0">
                  <a:pos x="T8" y="T9"/>
                </a:cxn>
              </a:cxnLst>
              <a:rect l="0" t="0" r="r" b="b"/>
              <a:pathLst>
                <a:path w="11" h="78">
                  <a:moveTo>
                    <a:pt x="0" y="78"/>
                  </a:moveTo>
                  <a:lnTo>
                    <a:pt x="0" y="6"/>
                  </a:lnTo>
                  <a:lnTo>
                    <a:pt x="11" y="0"/>
                  </a:lnTo>
                  <a:lnTo>
                    <a:pt x="11" y="78"/>
                  </a:lnTo>
                  <a:lnTo>
                    <a:pt x="0"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7" name="Freeform 64">
              <a:extLst>
                <a:ext uri="{FF2B5EF4-FFF2-40B4-BE49-F238E27FC236}">
                  <a16:creationId xmlns:a16="http://schemas.microsoft.com/office/drawing/2014/main" id="{A23129DF-0296-4CA9-9723-124682F0A70E}"/>
                </a:ext>
              </a:extLst>
            </p:cNvPr>
            <p:cNvSpPr>
              <a:spLocks noEditPoints="1"/>
            </p:cNvSpPr>
            <p:nvPr userDrawn="1"/>
          </p:nvSpPr>
          <p:spPr bwMode="auto">
            <a:xfrm>
              <a:off x="2084896" y="6383459"/>
              <a:ext cx="80211" cy="137753"/>
            </a:xfrm>
            <a:custGeom>
              <a:avLst/>
              <a:gdLst>
                <a:gd name="T0" fmla="*/ 24 w 32"/>
                <a:gd name="T1" fmla="*/ 53 h 54"/>
                <a:gd name="T2" fmla="*/ 24 w 32"/>
                <a:gd name="T3" fmla="*/ 50 h 54"/>
                <a:gd name="T4" fmla="*/ 22 w 32"/>
                <a:gd name="T5" fmla="*/ 51 h 54"/>
                <a:gd name="T6" fmla="*/ 20 w 32"/>
                <a:gd name="T7" fmla="*/ 53 h 54"/>
                <a:gd name="T8" fmla="*/ 17 w 32"/>
                <a:gd name="T9" fmla="*/ 54 h 54"/>
                <a:gd name="T10" fmla="*/ 14 w 32"/>
                <a:gd name="T11" fmla="*/ 54 h 54"/>
                <a:gd name="T12" fmla="*/ 9 w 32"/>
                <a:gd name="T13" fmla="*/ 53 h 54"/>
                <a:gd name="T14" fmla="*/ 4 w 32"/>
                <a:gd name="T15" fmla="*/ 49 h 54"/>
                <a:gd name="T16" fmla="*/ 1 w 32"/>
                <a:gd name="T17" fmla="*/ 43 h 54"/>
                <a:gd name="T18" fmla="*/ 0 w 32"/>
                <a:gd name="T19" fmla="*/ 33 h 54"/>
                <a:gd name="T20" fmla="*/ 1 w 32"/>
                <a:gd name="T21" fmla="*/ 25 h 54"/>
                <a:gd name="T22" fmla="*/ 4 w 32"/>
                <a:gd name="T23" fmla="*/ 19 h 54"/>
                <a:gd name="T24" fmla="*/ 9 w 32"/>
                <a:gd name="T25" fmla="*/ 15 h 54"/>
                <a:gd name="T26" fmla="*/ 15 w 32"/>
                <a:gd name="T27" fmla="*/ 14 h 54"/>
                <a:gd name="T28" fmla="*/ 18 w 32"/>
                <a:gd name="T29" fmla="*/ 14 h 54"/>
                <a:gd name="T30" fmla="*/ 20 w 32"/>
                <a:gd name="T31" fmla="*/ 15 h 54"/>
                <a:gd name="T32" fmla="*/ 22 w 32"/>
                <a:gd name="T33" fmla="*/ 17 h 54"/>
                <a:gd name="T34" fmla="*/ 24 w 32"/>
                <a:gd name="T35" fmla="*/ 18 h 54"/>
                <a:gd name="T36" fmla="*/ 24 w 32"/>
                <a:gd name="T37" fmla="*/ 4 h 54"/>
                <a:gd name="T38" fmla="*/ 32 w 32"/>
                <a:gd name="T39" fmla="*/ 0 h 54"/>
                <a:gd name="T40" fmla="*/ 32 w 32"/>
                <a:gd name="T41" fmla="*/ 53 h 54"/>
                <a:gd name="T42" fmla="*/ 24 w 32"/>
                <a:gd name="T43" fmla="*/ 53 h 54"/>
                <a:gd name="T44" fmla="*/ 24 w 32"/>
                <a:gd name="T45" fmla="*/ 26 h 54"/>
                <a:gd name="T46" fmla="*/ 23 w 32"/>
                <a:gd name="T47" fmla="*/ 24 h 54"/>
                <a:gd name="T48" fmla="*/ 21 w 32"/>
                <a:gd name="T49" fmla="*/ 23 h 54"/>
                <a:gd name="T50" fmla="*/ 18 w 32"/>
                <a:gd name="T51" fmla="*/ 22 h 54"/>
                <a:gd name="T52" fmla="*/ 15 w 32"/>
                <a:gd name="T53" fmla="*/ 21 h 54"/>
                <a:gd name="T54" fmla="*/ 9 w 32"/>
                <a:gd name="T55" fmla="*/ 24 h 54"/>
                <a:gd name="T56" fmla="*/ 7 w 32"/>
                <a:gd name="T57" fmla="*/ 33 h 54"/>
                <a:gd name="T58" fmla="*/ 8 w 32"/>
                <a:gd name="T59" fmla="*/ 39 h 54"/>
                <a:gd name="T60" fmla="*/ 9 w 32"/>
                <a:gd name="T61" fmla="*/ 44 h 54"/>
                <a:gd name="T62" fmla="*/ 12 w 32"/>
                <a:gd name="T63" fmla="*/ 46 h 54"/>
                <a:gd name="T64" fmla="*/ 16 w 32"/>
                <a:gd name="T65" fmla="*/ 47 h 54"/>
                <a:gd name="T66" fmla="*/ 18 w 32"/>
                <a:gd name="T67" fmla="*/ 47 h 54"/>
                <a:gd name="T68" fmla="*/ 21 w 32"/>
                <a:gd name="T69" fmla="*/ 46 h 54"/>
                <a:gd name="T70" fmla="*/ 23 w 32"/>
                <a:gd name="T71" fmla="*/ 44 h 54"/>
                <a:gd name="T72" fmla="*/ 24 w 32"/>
                <a:gd name="T73" fmla="*/ 42 h 54"/>
                <a:gd name="T74" fmla="*/ 24 w 32"/>
                <a:gd name="T75"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54">
                  <a:moveTo>
                    <a:pt x="24" y="53"/>
                  </a:moveTo>
                  <a:cubicBezTo>
                    <a:pt x="24" y="50"/>
                    <a:pt x="24" y="50"/>
                    <a:pt x="24" y="50"/>
                  </a:cubicBezTo>
                  <a:cubicBezTo>
                    <a:pt x="24" y="50"/>
                    <a:pt x="23" y="51"/>
                    <a:pt x="22" y="51"/>
                  </a:cubicBezTo>
                  <a:cubicBezTo>
                    <a:pt x="21" y="52"/>
                    <a:pt x="21" y="52"/>
                    <a:pt x="20" y="53"/>
                  </a:cubicBezTo>
                  <a:cubicBezTo>
                    <a:pt x="19" y="53"/>
                    <a:pt x="18" y="54"/>
                    <a:pt x="17" y="54"/>
                  </a:cubicBezTo>
                  <a:cubicBezTo>
                    <a:pt x="16" y="54"/>
                    <a:pt x="15" y="54"/>
                    <a:pt x="14" y="54"/>
                  </a:cubicBezTo>
                  <a:cubicBezTo>
                    <a:pt x="12" y="54"/>
                    <a:pt x="10" y="54"/>
                    <a:pt x="9" y="53"/>
                  </a:cubicBezTo>
                  <a:cubicBezTo>
                    <a:pt x="7" y="52"/>
                    <a:pt x="5" y="51"/>
                    <a:pt x="4" y="49"/>
                  </a:cubicBezTo>
                  <a:cubicBezTo>
                    <a:pt x="3" y="48"/>
                    <a:pt x="1" y="45"/>
                    <a:pt x="1" y="43"/>
                  </a:cubicBezTo>
                  <a:cubicBezTo>
                    <a:pt x="0" y="40"/>
                    <a:pt x="0" y="37"/>
                    <a:pt x="0" y="33"/>
                  </a:cubicBezTo>
                  <a:cubicBezTo>
                    <a:pt x="0" y="30"/>
                    <a:pt x="0" y="27"/>
                    <a:pt x="1" y="25"/>
                  </a:cubicBezTo>
                  <a:cubicBezTo>
                    <a:pt x="2" y="22"/>
                    <a:pt x="3" y="20"/>
                    <a:pt x="4" y="19"/>
                  </a:cubicBezTo>
                  <a:cubicBezTo>
                    <a:pt x="6" y="17"/>
                    <a:pt x="7" y="16"/>
                    <a:pt x="9" y="15"/>
                  </a:cubicBezTo>
                  <a:cubicBezTo>
                    <a:pt x="11" y="14"/>
                    <a:pt x="13" y="14"/>
                    <a:pt x="15" y="14"/>
                  </a:cubicBezTo>
                  <a:cubicBezTo>
                    <a:pt x="16" y="14"/>
                    <a:pt x="17" y="14"/>
                    <a:pt x="18" y="14"/>
                  </a:cubicBezTo>
                  <a:cubicBezTo>
                    <a:pt x="18" y="15"/>
                    <a:pt x="19" y="15"/>
                    <a:pt x="20" y="15"/>
                  </a:cubicBezTo>
                  <a:cubicBezTo>
                    <a:pt x="21" y="16"/>
                    <a:pt x="22" y="16"/>
                    <a:pt x="22" y="17"/>
                  </a:cubicBezTo>
                  <a:cubicBezTo>
                    <a:pt x="23" y="17"/>
                    <a:pt x="24" y="18"/>
                    <a:pt x="24" y="18"/>
                  </a:cubicBezTo>
                  <a:cubicBezTo>
                    <a:pt x="24" y="4"/>
                    <a:pt x="24" y="4"/>
                    <a:pt x="24" y="4"/>
                  </a:cubicBezTo>
                  <a:cubicBezTo>
                    <a:pt x="32" y="0"/>
                    <a:pt x="32" y="0"/>
                    <a:pt x="32" y="0"/>
                  </a:cubicBezTo>
                  <a:cubicBezTo>
                    <a:pt x="32" y="53"/>
                    <a:pt x="32" y="53"/>
                    <a:pt x="32" y="53"/>
                  </a:cubicBezTo>
                  <a:lnTo>
                    <a:pt x="24" y="53"/>
                  </a:lnTo>
                  <a:close/>
                  <a:moveTo>
                    <a:pt x="24" y="26"/>
                  </a:moveTo>
                  <a:cubicBezTo>
                    <a:pt x="24" y="26"/>
                    <a:pt x="23" y="25"/>
                    <a:pt x="23" y="24"/>
                  </a:cubicBezTo>
                  <a:cubicBezTo>
                    <a:pt x="22" y="24"/>
                    <a:pt x="22" y="23"/>
                    <a:pt x="21" y="23"/>
                  </a:cubicBezTo>
                  <a:cubicBezTo>
                    <a:pt x="20" y="22"/>
                    <a:pt x="19" y="22"/>
                    <a:pt x="18" y="22"/>
                  </a:cubicBezTo>
                  <a:cubicBezTo>
                    <a:pt x="17" y="21"/>
                    <a:pt x="16" y="21"/>
                    <a:pt x="15" y="21"/>
                  </a:cubicBezTo>
                  <a:cubicBezTo>
                    <a:pt x="13" y="21"/>
                    <a:pt x="11" y="22"/>
                    <a:pt x="9" y="24"/>
                  </a:cubicBezTo>
                  <a:cubicBezTo>
                    <a:pt x="8" y="26"/>
                    <a:pt x="7" y="29"/>
                    <a:pt x="7" y="33"/>
                  </a:cubicBezTo>
                  <a:cubicBezTo>
                    <a:pt x="7" y="36"/>
                    <a:pt x="7" y="38"/>
                    <a:pt x="8" y="39"/>
                  </a:cubicBezTo>
                  <a:cubicBezTo>
                    <a:pt x="8" y="41"/>
                    <a:pt x="9" y="43"/>
                    <a:pt x="9" y="44"/>
                  </a:cubicBezTo>
                  <a:cubicBezTo>
                    <a:pt x="10" y="45"/>
                    <a:pt x="11" y="46"/>
                    <a:pt x="12" y="46"/>
                  </a:cubicBezTo>
                  <a:cubicBezTo>
                    <a:pt x="13" y="47"/>
                    <a:pt x="14" y="47"/>
                    <a:pt x="16" y="47"/>
                  </a:cubicBezTo>
                  <a:cubicBezTo>
                    <a:pt x="17" y="47"/>
                    <a:pt x="18" y="47"/>
                    <a:pt x="18" y="47"/>
                  </a:cubicBezTo>
                  <a:cubicBezTo>
                    <a:pt x="19" y="46"/>
                    <a:pt x="20" y="46"/>
                    <a:pt x="21" y="46"/>
                  </a:cubicBezTo>
                  <a:cubicBezTo>
                    <a:pt x="21" y="45"/>
                    <a:pt x="22" y="45"/>
                    <a:pt x="23" y="44"/>
                  </a:cubicBezTo>
                  <a:cubicBezTo>
                    <a:pt x="23" y="43"/>
                    <a:pt x="24" y="43"/>
                    <a:pt x="24" y="42"/>
                  </a:cubicBezTo>
                  <a:lnTo>
                    <a:pt x="24"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8" name="Freeform 65">
              <a:extLst>
                <a:ext uri="{FF2B5EF4-FFF2-40B4-BE49-F238E27FC236}">
                  <a16:creationId xmlns:a16="http://schemas.microsoft.com/office/drawing/2014/main" id="{A2A2BF8E-DA3A-4AC0-B7EB-7CAABFC9E699}"/>
                </a:ext>
              </a:extLst>
            </p:cNvPr>
            <p:cNvSpPr>
              <a:spLocks/>
            </p:cNvSpPr>
            <p:nvPr userDrawn="1"/>
          </p:nvSpPr>
          <p:spPr bwMode="auto">
            <a:xfrm>
              <a:off x="2229624" y="6421821"/>
              <a:ext cx="122060" cy="97648"/>
            </a:xfrm>
            <a:custGeom>
              <a:avLst/>
              <a:gdLst>
                <a:gd name="T0" fmla="*/ 55 w 70"/>
                <a:gd name="T1" fmla="*/ 56 h 56"/>
                <a:gd name="T2" fmla="*/ 45 w 70"/>
                <a:gd name="T3" fmla="*/ 56 h 56"/>
                <a:gd name="T4" fmla="*/ 35 w 70"/>
                <a:gd name="T5" fmla="*/ 16 h 56"/>
                <a:gd name="T6" fmla="*/ 25 w 70"/>
                <a:gd name="T7" fmla="*/ 56 h 56"/>
                <a:gd name="T8" fmla="*/ 16 w 70"/>
                <a:gd name="T9" fmla="*/ 56 h 56"/>
                <a:gd name="T10" fmla="*/ 0 w 70"/>
                <a:gd name="T11" fmla="*/ 0 h 56"/>
                <a:gd name="T12" fmla="*/ 12 w 70"/>
                <a:gd name="T13" fmla="*/ 0 h 56"/>
                <a:gd name="T14" fmla="*/ 20 w 70"/>
                <a:gd name="T15" fmla="*/ 38 h 56"/>
                <a:gd name="T16" fmla="*/ 31 w 70"/>
                <a:gd name="T17" fmla="*/ 0 h 56"/>
                <a:gd name="T18" fmla="*/ 39 w 70"/>
                <a:gd name="T19" fmla="*/ 0 h 56"/>
                <a:gd name="T20" fmla="*/ 51 w 70"/>
                <a:gd name="T21" fmla="*/ 38 h 56"/>
                <a:gd name="T22" fmla="*/ 60 w 70"/>
                <a:gd name="T23" fmla="*/ 0 h 56"/>
                <a:gd name="T24" fmla="*/ 70 w 70"/>
                <a:gd name="T25" fmla="*/ 0 h 56"/>
                <a:gd name="T26" fmla="*/ 55 w 70"/>
                <a:gd name="T2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56">
                  <a:moveTo>
                    <a:pt x="55" y="56"/>
                  </a:moveTo>
                  <a:lnTo>
                    <a:pt x="45" y="56"/>
                  </a:lnTo>
                  <a:lnTo>
                    <a:pt x="35" y="16"/>
                  </a:lnTo>
                  <a:lnTo>
                    <a:pt x="25" y="56"/>
                  </a:lnTo>
                  <a:lnTo>
                    <a:pt x="16" y="56"/>
                  </a:lnTo>
                  <a:lnTo>
                    <a:pt x="0" y="0"/>
                  </a:lnTo>
                  <a:lnTo>
                    <a:pt x="12" y="0"/>
                  </a:lnTo>
                  <a:lnTo>
                    <a:pt x="20" y="38"/>
                  </a:lnTo>
                  <a:lnTo>
                    <a:pt x="31" y="0"/>
                  </a:lnTo>
                  <a:lnTo>
                    <a:pt x="39" y="0"/>
                  </a:lnTo>
                  <a:lnTo>
                    <a:pt x="51" y="38"/>
                  </a:lnTo>
                  <a:lnTo>
                    <a:pt x="60" y="0"/>
                  </a:lnTo>
                  <a:lnTo>
                    <a:pt x="70" y="0"/>
                  </a:lnTo>
                  <a:lnTo>
                    <a:pt x="55" y="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29" name="Freeform 66">
              <a:extLst>
                <a:ext uri="{FF2B5EF4-FFF2-40B4-BE49-F238E27FC236}">
                  <a16:creationId xmlns:a16="http://schemas.microsoft.com/office/drawing/2014/main" id="{BEBFC1A4-92B9-418F-A0A9-2E210A37BCFF}"/>
                </a:ext>
              </a:extLst>
            </p:cNvPr>
            <p:cNvSpPr>
              <a:spLocks noEditPoints="1"/>
            </p:cNvSpPr>
            <p:nvPr userDrawn="1"/>
          </p:nvSpPr>
          <p:spPr bwMode="auto">
            <a:xfrm>
              <a:off x="2362147" y="6418333"/>
              <a:ext cx="88930" cy="102879"/>
            </a:xfrm>
            <a:custGeom>
              <a:avLst/>
              <a:gdLst>
                <a:gd name="T0" fmla="*/ 35 w 35"/>
                <a:gd name="T1" fmla="*/ 20 h 40"/>
                <a:gd name="T2" fmla="*/ 33 w 35"/>
                <a:gd name="T3" fmla="*/ 28 h 40"/>
                <a:gd name="T4" fmla="*/ 30 w 35"/>
                <a:gd name="T5" fmla="*/ 35 h 40"/>
                <a:gd name="T6" fmla="*/ 24 w 35"/>
                <a:gd name="T7" fmla="*/ 39 h 40"/>
                <a:gd name="T8" fmla="*/ 17 w 35"/>
                <a:gd name="T9" fmla="*/ 40 h 40"/>
                <a:gd name="T10" fmla="*/ 11 w 35"/>
                <a:gd name="T11" fmla="*/ 39 h 40"/>
                <a:gd name="T12" fmla="*/ 5 w 35"/>
                <a:gd name="T13" fmla="*/ 35 h 40"/>
                <a:gd name="T14" fmla="*/ 2 w 35"/>
                <a:gd name="T15" fmla="*/ 28 h 40"/>
                <a:gd name="T16" fmla="*/ 0 w 35"/>
                <a:gd name="T17" fmla="*/ 20 h 40"/>
                <a:gd name="T18" fmla="*/ 2 w 35"/>
                <a:gd name="T19" fmla="*/ 12 h 40"/>
                <a:gd name="T20" fmla="*/ 5 w 35"/>
                <a:gd name="T21" fmla="*/ 5 h 40"/>
                <a:gd name="T22" fmla="*/ 11 w 35"/>
                <a:gd name="T23" fmla="*/ 1 h 40"/>
                <a:gd name="T24" fmla="*/ 18 w 35"/>
                <a:gd name="T25" fmla="*/ 0 h 40"/>
                <a:gd name="T26" fmla="*/ 24 w 35"/>
                <a:gd name="T27" fmla="*/ 1 h 40"/>
                <a:gd name="T28" fmla="*/ 30 w 35"/>
                <a:gd name="T29" fmla="*/ 5 h 40"/>
                <a:gd name="T30" fmla="*/ 33 w 35"/>
                <a:gd name="T31" fmla="*/ 12 h 40"/>
                <a:gd name="T32" fmla="*/ 35 w 35"/>
                <a:gd name="T33" fmla="*/ 20 h 40"/>
                <a:gd name="T34" fmla="*/ 27 w 35"/>
                <a:gd name="T35" fmla="*/ 20 h 40"/>
                <a:gd name="T36" fmla="*/ 26 w 35"/>
                <a:gd name="T37" fmla="*/ 15 h 40"/>
                <a:gd name="T38" fmla="*/ 24 w 35"/>
                <a:gd name="T39" fmla="*/ 11 h 40"/>
                <a:gd name="T40" fmla="*/ 21 w 35"/>
                <a:gd name="T41" fmla="*/ 8 h 40"/>
                <a:gd name="T42" fmla="*/ 17 w 35"/>
                <a:gd name="T43" fmla="*/ 7 h 40"/>
                <a:gd name="T44" fmla="*/ 13 w 35"/>
                <a:gd name="T45" fmla="*/ 8 h 40"/>
                <a:gd name="T46" fmla="*/ 10 w 35"/>
                <a:gd name="T47" fmla="*/ 11 h 40"/>
                <a:gd name="T48" fmla="*/ 9 w 35"/>
                <a:gd name="T49" fmla="*/ 15 h 40"/>
                <a:gd name="T50" fmla="*/ 8 w 35"/>
                <a:gd name="T51" fmla="*/ 20 h 40"/>
                <a:gd name="T52" fmla="*/ 9 w 35"/>
                <a:gd name="T53" fmla="*/ 26 h 40"/>
                <a:gd name="T54" fmla="*/ 11 w 35"/>
                <a:gd name="T55" fmla="*/ 30 h 40"/>
                <a:gd name="T56" fmla="*/ 14 w 35"/>
                <a:gd name="T57" fmla="*/ 32 h 40"/>
                <a:gd name="T58" fmla="*/ 18 w 35"/>
                <a:gd name="T59" fmla="*/ 33 h 40"/>
                <a:gd name="T60" fmla="*/ 21 w 35"/>
                <a:gd name="T61" fmla="*/ 32 h 40"/>
                <a:gd name="T62" fmla="*/ 24 w 35"/>
                <a:gd name="T63" fmla="*/ 29 h 40"/>
                <a:gd name="T64" fmla="*/ 26 w 35"/>
                <a:gd name="T65" fmla="*/ 25 h 40"/>
                <a:gd name="T66" fmla="*/ 27 w 35"/>
                <a:gd name="T67" fmla="*/ 2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 h="40">
                  <a:moveTo>
                    <a:pt x="35" y="20"/>
                  </a:moveTo>
                  <a:cubicBezTo>
                    <a:pt x="35" y="23"/>
                    <a:pt x="34" y="26"/>
                    <a:pt x="33" y="28"/>
                  </a:cubicBezTo>
                  <a:cubicBezTo>
                    <a:pt x="32" y="31"/>
                    <a:pt x="31" y="33"/>
                    <a:pt x="30" y="35"/>
                  </a:cubicBezTo>
                  <a:cubicBezTo>
                    <a:pt x="28" y="37"/>
                    <a:pt x="26" y="38"/>
                    <a:pt x="24" y="39"/>
                  </a:cubicBezTo>
                  <a:cubicBezTo>
                    <a:pt x="22" y="40"/>
                    <a:pt x="20" y="40"/>
                    <a:pt x="17" y="40"/>
                  </a:cubicBezTo>
                  <a:cubicBezTo>
                    <a:pt x="15" y="40"/>
                    <a:pt x="13" y="40"/>
                    <a:pt x="11" y="39"/>
                  </a:cubicBezTo>
                  <a:cubicBezTo>
                    <a:pt x="8" y="38"/>
                    <a:pt x="7" y="36"/>
                    <a:pt x="5" y="35"/>
                  </a:cubicBezTo>
                  <a:cubicBezTo>
                    <a:pt x="4" y="33"/>
                    <a:pt x="2" y="31"/>
                    <a:pt x="2" y="28"/>
                  </a:cubicBezTo>
                  <a:cubicBezTo>
                    <a:pt x="1" y="26"/>
                    <a:pt x="0" y="23"/>
                    <a:pt x="0" y="20"/>
                  </a:cubicBezTo>
                  <a:cubicBezTo>
                    <a:pt x="0" y="17"/>
                    <a:pt x="1" y="14"/>
                    <a:pt x="2" y="12"/>
                  </a:cubicBezTo>
                  <a:cubicBezTo>
                    <a:pt x="3" y="9"/>
                    <a:pt x="4" y="7"/>
                    <a:pt x="5" y="5"/>
                  </a:cubicBezTo>
                  <a:cubicBezTo>
                    <a:pt x="7" y="4"/>
                    <a:pt x="9" y="2"/>
                    <a:pt x="11" y="1"/>
                  </a:cubicBezTo>
                  <a:cubicBezTo>
                    <a:pt x="13" y="1"/>
                    <a:pt x="15" y="0"/>
                    <a:pt x="18" y="0"/>
                  </a:cubicBezTo>
                  <a:cubicBezTo>
                    <a:pt x="20" y="0"/>
                    <a:pt x="22" y="1"/>
                    <a:pt x="24" y="1"/>
                  </a:cubicBezTo>
                  <a:cubicBezTo>
                    <a:pt x="26" y="2"/>
                    <a:pt x="28" y="4"/>
                    <a:pt x="30" y="5"/>
                  </a:cubicBezTo>
                  <a:cubicBezTo>
                    <a:pt x="31" y="7"/>
                    <a:pt x="32" y="9"/>
                    <a:pt x="33" y="12"/>
                  </a:cubicBezTo>
                  <a:cubicBezTo>
                    <a:pt x="34" y="14"/>
                    <a:pt x="35" y="17"/>
                    <a:pt x="35" y="20"/>
                  </a:cubicBezTo>
                  <a:close/>
                  <a:moveTo>
                    <a:pt x="27" y="20"/>
                  </a:moveTo>
                  <a:cubicBezTo>
                    <a:pt x="27" y="18"/>
                    <a:pt x="27" y="16"/>
                    <a:pt x="26" y="15"/>
                  </a:cubicBezTo>
                  <a:cubicBezTo>
                    <a:pt x="26" y="13"/>
                    <a:pt x="25" y="12"/>
                    <a:pt x="24" y="11"/>
                  </a:cubicBezTo>
                  <a:cubicBezTo>
                    <a:pt x="24" y="10"/>
                    <a:pt x="23" y="9"/>
                    <a:pt x="21" y="8"/>
                  </a:cubicBezTo>
                  <a:cubicBezTo>
                    <a:pt x="20" y="8"/>
                    <a:pt x="19" y="7"/>
                    <a:pt x="17" y="7"/>
                  </a:cubicBezTo>
                  <a:cubicBezTo>
                    <a:pt x="16" y="7"/>
                    <a:pt x="14" y="8"/>
                    <a:pt x="13" y="8"/>
                  </a:cubicBezTo>
                  <a:cubicBezTo>
                    <a:pt x="12" y="9"/>
                    <a:pt x="11" y="10"/>
                    <a:pt x="10" y="11"/>
                  </a:cubicBezTo>
                  <a:cubicBezTo>
                    <a:pt x="10" y="12"/>
                    <a:pt x="9" y="13"/>
                    <a:pt x="9" y="15"/>
                  </a:cubicBezTo>
                  <a:cubicBezTo>
                    <a:pt x="8" y="16"/>
                    <a:pt x="8" y="18"/>
                    <a:pt x="8" y="20"/>
                  </a:cubicBezTo>
                  <a:cubicBezTo>
                    <a:pt x="8" y="22"/>
                    <a:pt x="8" y="24"/>
                    <a:pt x="9" y="26"/>
                  </a:cubicBezTo>
                  <a:cubicBezTo>
                    <a:pt x="9" y="27"/>
                    <a:pt x="10" y="28"/>
                    <a:pt x="11" y="30"/>
                  </a:cubicBezTo>
                  <a:cubicBezTo>
                    <a:pt x="11" y="31"/>
                    <a:pt x="12" y="32"/>
                    <a:pt x="14" y="32"/>
                  </a:cubicBezTo>
                  <a:cubicBezTo>
                    <a:pt x="15" y="33"/>
                    <a:pt x="16" y="33"/>
                    <a:pt x="18" y="33"/>
                  </a:cubicBezTo>
                  <a:cubicBezTo>
                    <a:pt x="19" y="33"/>
                    <a:pt x="20" y="33"/>
                    <a:pt x="21" y="32"/>
                  </a:cubicBezTo>
                  <a:cubicBezTo>
                    <a:pt x="23" y="31"/>
                    <a:pt x="24" y="30"/>
                    <a:pt x="24" y="29"/>
                  </a:cubicBezTo>
                  <a:cubicBezTo>
                    <a:pt x="25" y="28"/>
                    <a:pt x="26" y="27"/>
                    <a:pt x="26" y="25"/>
                  </a:cubicBezTo>
                  <a:cubicBezTo>
                    <a:pt x="27" y="24"/>
                    <a:pt x="27" y="22"/>
                    <a:pt x="27" y="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0" name="Freeform 67">
              <a:extLst>
                <a:ext uri="{FF2B5EF4-FFF2-40B4-BE49-F238E27FC236}">
                  <a16:creationId xmlns:a16="http://schemas.microsoft.com/office/drawing/2014/main" id="{A28B9FD0-8354-4DD6-856A-157C5F8768EB}"/>
                </a:ext>
              </a:extLst>
            </p:cNvPr>
            <p:cNvSpPr>
              <a:spLocks/>
            </p:cNvSpPr>
            <p:nvPr userDrawn="1"/>
          </p:nvSpPr>
          <p:spPr bwMode="auto">
            <a:xfrm>
              <a:off x="2468514" y="6418333"/>
              <a:ext cx="59286" cy="101135"/>
            </a:xfrm>
            <a:custGeom>
              <a:avLst/>
              <a:gdLst>
                <a:gd name="T0" fmla="*/ 21 w 23"/>
                <a:gd name="T1" fmla="*/ 9 h 39"/>
                <a:gd name="T2" fmla="*/ 19 w 23"/>
                <a:gd name="T3" fmla="*/ 8 h 39"/>
                <a:gd name="T4" fmla="*/ 16 w 23"/>
                <a:gd name="T5" fmla="*/ 7 h 39"/>
                <a:gd name="T6" fmla="*/ 10 w 23"/>
                <a:gd name="T7" fmla="*/ 10 h 39"/>
                <a:gd name="T8" fmla="*/ 8 w 23"/>
                <a:gd name="T9" fmla="*/ 17 h 39"/>
                <a:gd name="T10" fmla="*/ 8 w 23"/>
                <a:gd name="T11" fmla="*/ 39 h 39"/>
                <a:gd name="T12" fmla="*/ 0 w 23"/>
                <a:gd name="T13" fmla="*/ 39 h 39"/>
                <a:gd name="T14" fmla="*/ 0 w 23"/>
                <a:gd name="T15" fmla="*/ 1 h 39"/>
                <a:gd name="T16" fmla="*/ 8 w 23"/>
                <a:gd name="T17" fmla="*/ 1 h 39"/>
                <a:gd name="T18" fmla="*/ 8 w 23"/>
                <a:gd name="T19" fmla="*/ 5 h 39"/>
                <a:gd name="T20" fmla="*/ 10 w 23"/>
                <a:gd name="T21" fmla="*/ 3 h 39"/>
                <a:gd name="T22" fmla="*/ 12 w 23"/>
                <a:gd name="T23" fmla="*/ 1 h 39"/>
                <a:gd name="T24" fmla="*/ 14 w 23"/>
                <a:gd name="T25" fmla="*/ 0 h 39"/>
                <a:gd name="T26" fmla="*/ 17 w 23"/>
                <a:gd name="T27" fmla="*/ 0 h 39"/>
                <a:gd name="T28" fmla="*/ 21 w 23"/>
                <a:gd name="T29" fmla="*/ 1 h 39"/>
                <a:gd name="T30" fmla="*/ 23 w 23"/>
                <a:gd name="T31" fmla="*/ 2 h 39"/>
                <a:gd name="T32" fmla="*/ 21 w 23"/>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3" h="39">
                  <a:moveTo>
                    <a:pt x="21" y="9"/>
                  </a:moveTo>
                  <a:cubicBezTo>
                    <a:pt x="20" y="8"/>
                    <a:pt x="20" y="8"/>
                    <a:pt x="19" y="8"/>
                  </a:cubicBezTo>
                  <a:cubicBezTo>
                    <a:pt x="18" y="8"/>
                    <a:pt x="17" y="7"/>
                    <a:pt x="16" y="7"/>
                  </a:cubicBezTo>
                  <a:cubicBezTo>
                    <a:pt x="13" y="7"/>
                    <a:pt x="11" y="8"/>
                    <a:pt x="10" y="10"/>
                  </a:cubicBezTo>
                  <a:cubicBezTo>
                    <a:pt x="9" y="12"/>
                    <a:pt x="8" y="14"/>
                    <a:pt x="8" y="17"/>
                  </a:cubicBezTo>
                  <a:cubicBezTo>
                    <a:pt x="8" y="39"/>
                    <a:pt x="8" y="39"/>
                    <a:pt x="8" y="39"/>
                  </a:cubicBezTo>
                  <a:cubicBezTo>
                    <a:pt x="0" y="39"/>
                    <a:pt x="0" y="39"/>
                    <a:pt x="0" y="39"/>
                  </a:cubicBezTo>
                  <a:cubicBezTo>
                    <a:pt x="0" y="1"/>
                    <a:pt x="0" y="1"/>
                    <a:pt x="0" y="1"/>
                  </a:cubicBezTo>
                  <a:cubicBezTo>
                    <a:pt x="8" y="1"/>
                    <a:pt x="8" y="1"/>
                    <a:pt x="8" y="1"/>
                  </a:cubicBezTo>
                  <a:cubicBezTo>
                    <a:pt x="8" y="5"/>
                    <a:pt x="8" y="5"/>
                    <a:pt x="8" y="5"/>
                  </a:cubicBezTo>
                  <a:cubicBezTo>
                    <a:pt x="8" y="4"/>
                    <a:pt x="9" y="3"/>
                    <a:pt x="10" y="3"/>
                  </a:cubicBezTo>
                  <a:cubicBezTo>
                    <a:pt x="10" y="2"/>
                    <a:pt x="11" y="2"/>
                    <a:pt x="12" y="1"/>
                  </a:cubicBezTo>
                  <a:cubicBezTo>
                    <a:pt x="12" y="1"/>
                    <a:pt x="13" y="1"/>
                    <a:pt x="14" y="0"/>
                  </a:cubicBezTo>
                  <a:cubicBezTo>
                    <a:pt x="15" y="0"/>
                    <a:pt x="16" y="0"/>
                    <a:pt x="17" y="0"/>
                  </a:cubicBezTo>
                  <a:cubicBezTo>
                    <a:pt x="18" y="0"/>
                    <a:pt x="20" y="0"/>
                    <a:pt x="21" y="1"/>
                  </a:cubicBezTo>
                  <a:cubicBezTo>
                    <a:pt x="22" y="1"/>
                    <a:pt x="23" y="1"/>
                    <a:pt x="23" y="2"/>
                  </a:cubicBezTo>
                  <a:lnTo>
                    <a:pt x="21" y="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1" name="Freeform 68">
              <a:extLst>
                <a:ext uri="{FF2B5EF4-FFF2-40B4-BE49-F238E27FC236}">
                  <a16:creationId xmlns:a16="http://schemas.microsoft.com/office/drawing/2014/main" id="{83D3DEEE-A610-48BE-BADD-6BA188B5B86D}"/>
                </a:ext>
              </a:extLst>
            </p:cNvPr>
            <p:cNvSpPr>
              <a:spLocks/>
            </p:cNvSpPr>
            <p:nvPr userDrawn="1"/>
          </p:nvSpPr>
          <p:spPr bwMode="auto">
            <a:xfrm>
              <a:off x="2545237" y="6383459"/>
              <a:ext cx="76723" cy="136010"/>
            </a:xfrm>
            <a:custGeom>
              <a:avLst/>
              <a:gdLst>
                <a:gd name="T0" fmla="*/ 31 w 44"/>
                <a:gd name="T1" fmla="*/ 78 h 78"/>
                <a:gd name="T2" fmla="*/ 19 w 44"/>
                <a:gd name="T3" fmla="*/ 50 h 78"/>
                <a:gd name="T4" fmla="*/ 10 w 44"/>
                <a:gd name="T5" fmla="*/ 61 h 78"/>
                <a:gd name="T6" fmla="*/ 10 w 44"/>
                <a:gd name="T7" fmla="*/ 78 h 78"/>
                <a:gd name="T8" fmla="*/ 0 w 44"/>
                <a:gd name="T9" fmla="*/ 78 h 78"/>
                <a:gd name="T10" fmla="*/ 0 w 44"/>
                <a:gd name="T11" fmla="*/ 6 h 78"/>
                <a:gd name="T12" fmla="*/ 10 w 44"/>
                <a:gd name="T13" fmla="*/ 0 h 78"/>
                <a:gd name="T14" fmla="*/ 10 w 44"/>
                <a:gd name="T15" fmla="*/ 47 h 78"/>
                <a:gd name="T16" fmla="*/ 28 w 44"/>
                <a:gd name="T17" fmla="*/ 22 h 78"/>
                <a:gd name="T18" fmla="*/ 41 w 44"/>
                <a:gd name="T19" fmla="*/ 22 h 78"/>
                <a:gd name="T20" fmla="*/ 26 w 44"/>
                <a:gd name="T21" fmla="*/ 41 h 78"/>
                <a:gd name="T22" fmla="*/ 44 w 44"/>
                <a:gd name="T23" fmla="*/ 78 h 78"/>
                <a:gd name="T24" fmla="*/ 31 w 44"/>
                <a:gd name="T25"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78">
                  <a:moveTo>
                    <a:pt x="31" y="78"/>
                  </a:moveTo>
                  <a:lnTo>
                    <a:pt x="19" y="50"/>
                  </a:lnTo>
                  <a:lnTo>
                    <a:pt x="10" y="61"/>
                  </a:lnTo>
                  <a:lnTo>
                    <a:pt x="10" y="78"/>
                  </a:lnTo>
                  <a:lnTo>
                    <a:pt x="0" y="78"/>
                  </a:lnTo>
                  <a:lnTo>
                    <a:pt x="0" y="6"/>
                  </a:lnTo>
                  <a:lnTo>
                    <a:pt x="10" y="0"/>
                  </a:lnTo>
                  <a:lnTo>
                    <a:pt x="10" y="47"/>
                  </a:lnTo>
                  <a:lnTo>
                    <a:pt x="28" y="22"/>
                  </a:lnTo>
                  <a:lnTo>
                    <a:pt x="41" y="22"/>
                  </a:lnTo>
                  <a:lnTo>
                    <a:pt x="26" y="41"/>
                  </a:lnTo>
                  <a:lnTo>
                    <a:pt x="44" y="78"/>
                  </a:lnTo>
                  <a:lnTo>
                    <a:pt x="31" y="7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2" name="Freeform 69">
              <a:extLst>
                <a:ext uri="{FF2B5EF4-FFF2-40B4-BE49-F238E27FC236}">
                  <a16:creationId xmlns:a16="http://schemas.microsoft.com/office/drawing/2014/main" id="{463C7ADB-C654-4D24-9055-0B6003A770A3}"/>
                </a:ext>
              </a:extLst>
            </p:cNvPr>
            <p:cNvSpPr>
              <a:spLocks/>
            </p:cNvSpPr>
            <p:nvPr userDrawn="1"/>
          </p:nvSpPr>
          <p:spPr bwMode="auto">
            <a:xfrm>
              <a:off x="2628936" y="6418333"/>
              <a:ext cx="74980" cy="102879"/>
            </a:xfrm>
            <a:custGeom>
              <a:avLst/>
              <a:gdLst>
                <a:gd name="T0" fmla="*/ 28 w 29"/>
                <a:gd name="T1" fmla="*/ 4 h 40"/>
                <a:gd name="T2" fmla="*/ 25 w 29"/>
                <a:gd name="T3" fmla="*/ 10 h 40"/>
                <a:gd name="T4" fmla="*/ 20 w 29"/>
                <a:gd name="T5" fmla="*/ 8 h 40"/>
                <a:gd name="T6" fmla="*/ 15 w 29"/>
                <a:gd name="T7" fmla="*/ 7 h 40"/>
                <a:gd name="T8" fmla="*/ 11 w 29"/>
                <a:gd name="T9" fmla="*/ 8 h 40"/>
                <a:gd name="T10" fmla="*/ 9 w 29"/>
                <a:gd name="T11" fmla="*/ 10 h 40"/>
                <a:gd name="T12" fmla="*/ 10 w 29"/>
                <a:gd name="T13" fmla="*/ 12 h 40"/>
                <a:gd name="T14" fmla="*/ 11 w 29"/>
                <a:gd name="T15" fmla="*/ 13 h 40"/>
                <a:gd name="T16" fmla="*/ 13 w 29"/>
                <a:gd name="T17" fmla="*/ 14 h 40"/>
                <a:gd name="T18" fmla="*/ 17 w 29"/>
                <a:gd name="T19" fmla="*/ 16 h 40"/>
                <a:gd name="T20" fmla="*/ 22 w 29"/>
                <a:gd name="T21" fmla="*/ 18 h 40"/>
                <a:gd name="T22" fmla="*/ 26 w 29"/>
                <a:gd name="T23" fmla="*/ 21 h 40"/>
                <a:gd name="T24" fmla="*/ 29 w 29"/>
                <a:gd name="T25" fmla="*/ 24 h 40"/>
                <a:gd name="T26" fmla="*/ 29 w 29"/>
                <a:gd name="T27" fmla="*/ 29 h 40"/>
                <a:gd name="T28" fmla="*/ 28 w 29"/>
                <a:gd name="T29" fmla="*/ 34 h 40"/>
                <a:gd name="T30" fmla="*/ 25 w 29"/>
                <a:gd name="T31" fmla="*/ 38 h 40"/>
                <a:gd name="T32" fmla="*/ 21 w 29"/>
                <a:gd name="T33" fmla="*/ 40 h 40"/>
                <a:gd name="T34" fmla="*/ 15 w 29"/>
                <a:gd name="T35" fmla="*/ 40 h 40"/>
                <a:gd name="T36" fmla="*/ 7 w 29"/>
                <a:gd name="T37" fmla="*/ 39 h 40"/>
                <a:gd name="T38" fmla="*/ 0 w 29"/>
                <a:gd name="T39" fmla="*/ 35 h 40"/>
                <a:gd name="T40" fmla="*/ 4 w 29"/>
                <a:gd name="T41" fmla="*/ 30 h 40"/>
                <a:gd name="T42" fmla="*/ 9 w 29"/>
                <a:gd name="T43" fmla="*/ 32 h 40"/>
                <a:gd name="T44" fmla="*/ 15 w 29"/>
                <a:gd name="T45" fmla="*/ 33 h 40"/>
                <a:gd name="T46" fmla="*/ 20 w 29"/>
                <a:gd name="T47" fmla="*/ 32 h 40"/>
                <a:gd name="T48" fmla="*/ 22 w 29"/>
                <a:gd name="T49" fmla="*/ 29 h 40"/>
                <a:gd name="T50" fmla="*/ 21 w 29"/>
                <a:gd name="T51" fmla="*/ 27 h 40"/>
                <a:gd name="T52" fmla="*/ 20 w 29"/>
                <a:gd name="T53" fmla="*/ 26 h 40"/>
                <a:gd name="T54" fmla="*/ 17 w 29"/>
                <a:gd name="T55" fmla="*/ 24 h 40"/>
                <a:gd name="T56" fmla="*/ 13 w 29"/>
                <a:gd name="T57" fmla="*/ 23 h 40"/>
                <a:gd name="T58" fmla="*/ 8 w 29"/>
                <a:gd name="T59" fmla="*/ 20 h 40"/>
                <a:gd name="T60" fmla="*/ 4 w 29"/>
                <a:gd name="T61" fmla="*/ 18 h 40"/>
                <a:gd name="T62" fmla="*/ 2 w 29"/>
                <a:gd name="T63" fmla="*/ 15 h 40"/>
                <a:gd name="T64" fmla="*/ 2 w 29"/>
                <a:gd name="T65" fmla="*/ 11 h 40"/>
                <a:gd name="T66" fmla="*/ 3 w 29"/>
                <a:gd name="T67" fmla="*/ 6 h 40"/>
                <a:gd name="T68" fmla="*/ 6 w 29"/>
                <a:gd name="T69" fmla="*/ 3 h 40"/>
                <a:gd name="T70" fmla="*/ 10 w 29"/>
                <a:gd name="T71" fmla="*/ 1 h 40"/>
                <a:gd name="T72" fmla="*/ 15 w 29"/>
                <a:gd name="T73" fmla="*/ 0 h 40"/>
                <a:gd name="T74" fmla="*/ 22 w 29"/>
                <a:gd name="T75" fmla="*/ 1 h 40"/>
                <a:gd name="T76" fmla="*/ 28 w 29"/>
                <a:gd name="T77" fmla="*/ 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9" h="40">
                  <a:moveTo>
                    <a:pt x="28" y="4"/>
                  </a:moveTo>
                  <a:cubicBezTo>
                    <a:pt x="25" y="10"/>
                    <a:pt x="25" y="10"/>
                    <a:pt x="25" y="10"/>
                  </a:cubicBezTo>
                  <a:cubicBezTo>
                    <a:pt x="23" y="9"/>
                    <a:pt x="22" y="8"/>
                    <a:pt x="20" y="8"/>
                  </a:cubicBezTo>
                  <a:cubicBezTo>
                    <a:pt x="18" y="7"/>
                    <a:pt x="17" y="7"/>
                    <a:pt x="15" y="7"/>
                  </a:cubicBezTo>
                  <a:cubicBezTo>
                    <a:pt x="13" y="7"/>
                    <a:pt x="12" y="7"/>
                    <a:pt x="11" y="8"/>
                  </a:cubicBezTo>
                  <a:cubicBezTo>
                    <a:pt x="10" y="8"/>
                    <a:pt x="9" y="9"/>
                    <a:pt x="9" y="10"/>
                  </a:cubicBezTo>
                  <a:cubicBezTo>
                    <a:pt x="9" y="11"/>
                    <a:pt x="10" y="11"/>
                    <a:pt x="10" y="12"/>
                  </a:cubicBezTo>
                  <a:cubicBezTo>
                    <a:pt x="10" y="12"/>
                    <a:pt x="10" y="13"/>
                    <a:pt x="11" y="13"/>
                  </a:cubicBezTo>
                  <a:cubicBezTo>
                    <a:pt x="11" y="13"/>
                    <a:pt x="12" y="14"/>
                    <a:pt x="13" y="14"/>
                  </a:cubicBezTo>
                  <a:cubicBezTo>
                    <a:pt x="14" y="15"/>
                    <a:pt x="15" y="15"/>
                    <a:pt x="17" y="16"/>
                  </a:cubicBezTo>
                  <a:cubicBezTo>
                    <a:pt x="19" y="17"/>
                    <a:pt x="21" y="18"/>
                    <a:pt x="22" y="18"/>
                  </a:cubicBezTo>
                  <a:cubicBezTo>
                    <a:pt x="24" y="19"/>
                    <a:pt x="25" y="20"/>
                    <a:pt x="26" y="21"/>
                  </a:cubicBezTo>
                  <a:cubicBezTo>
                    <a:pt x="27" y="22"/>
                    <a:pt x="28" y="23"/>
                    <a:pt x="29" y="24"/>
                  </a:cubicBezTo>
                  <a:cubicBezTo>
                    <a:pt x="29" y="25"/>
                    <a:pt x="29" y="27"/>
                    <a:pt x="29" y="29"/>
                  </a:cubicBezTo>
                  <a:cubicBezTo>
                    <a:pt x="29" y="31"/>
                    <a:pt x="29" y="33"/>
                    <a:pt x="28" y="34"/>
                  </a:cubicBezTo>
                  <a:cubicBezTo>
                    <a:pt x="28" y="36"/>
                    <a:pt x="26" y="37"/>
                    <a:pt x="25" y="38"/>
                  </a:cubicBezTo>
                  <a:cubicBezTo>
                    <a:pt x="24" y="39"/>
                    <a:pt x="22" y="39"/>
                    <a:pt x="21" y="40"/>
                  </a:cubicBezTo>
                  <a:cubicBezTo>
                    <a:pt x="19" y="40"/>
                    <a:pt x="17" y="40"/>
                    <a:pt x="15" y="40"/>
                  </a:cubicBezTo>
                  <a:cubicBezTo>
                    <a:pt x="13" y="40"/>
                    <a:pt x="10" y="40"/>
                    <a:pt x="7" y="39"/>
                  </a:cubicBezTo>
                  <a:cubicBezTo>
                    <a:pt x="5" y="38"/>
                    <a:pt x="2" y="37"/>
                    <a:pt x="0" y="35"/>
                  </a:cubicBezTo>
                  <a:cubicBezTo>
                    <a:pt x="4" y="30"/>
                    <a:pt x="4" y="30"/>
                    <a:pt x="4" y="30"/>
                  </a:cubicBezTo>
                  <a:cubicBezTo>
                    <a:pt x="6" y="31"/>
                    <a:pt x="7" y="32"/>
                    <a:pt x="9" y="32"/>
                  </a:cubicBezTo>
                  <a:cubicBezTo>
                    <a:pt x="11" y="33"/>
                    <a:pt x="13" y="33"/>
                    <a:pt x="15" y="33"/>
                  </a:cubicBezTo>
                  <a:cubicBezTo>
                    <a:pt x="17" y="33"/>
                    <a:pt x="19" y="33"/>
                    <a:pt x="20" y="32"/>
                  </a:cubicBezTo>
                  <a:cubicBezTo>
                    <a:pt x="21" y="31"/>
                    <a:pt x="22" y="30"/>
                    <a:pt x="22" y="29"/>
                  </a:cubicBezTo>
                  <a:cubicBezTo>
                    <a:pt x="22" y="28"/>
                    <a:pt x="22" y="28"/>
                    <a:pt x="21" y="27"/>
                  </a:cubicBezTo>
                  <a:cubicBezTo>
                    <a:pt x="21" y="27"/>
                    <a:pt x="20" y="26"/>
                    <a:pt x="20" y="26"/>
                  </a:cubicBezTo>
                  <a:cubicBezTo>
                    <a:pt x="19" y="25"/>
                    <a:pt x="18" y="25"/>
                    <a:pt x="17" y="24"/>
                  </a:cubicBezTo>
                  <a:cubicBezTo>
                    <a:pt x="16" y="24"/>
                    <a:pt x="15" y="23"/>
                    <a:pt x="13" y="23"/>
                  </a:cubicBezTo>
                  <a:cubicBezTo>
                    <a:pt x="11" y="22"/>
                    <a:pt x="9" y="21"/>
                    <a:pt x="8" y="20"/>
                  </a:cubicBezTo>
                  <a:cubicBezTo>
                    <a:pt x="6" y="19"/>
                    <a:pt x="5" y="19"/>
                    <a:pt x="4" y="18"/>
                  </a:cubicBezTo>
                  <a:cubicBezTo>
                    <a:pt x="3" y="17"/>
                    <a:pt x="3" y="16"/>
                    <a:pt x="2" y="15"/>
                  </a:cubicBezTo>
                  <a:cubicBezTo>
                    <a:pt x="2" y="13"/>
                    <a:pt x="2" y="12"/>
                    <a:pt x="2" y="11"/>
                  </a:cubicBezTo>
                  <a:cubicBezTo>
                    <a:pt x="2" y="9"/>
                    <a:pt x="2" y="7"/>
                    <a:pt x="3" y="6"/>
                  </a:cubicBezTo>
                  <a:cubicBezTo>
                    <a:pt x="3" y="5"/>
                    <a:pt x="4" y="4"/>
                    <a:pt x="6" y="3"/>
                  </a:cubicBezTo>
                  <a:cubicBezTo>
                    <a:pt x="7" y="2"/>
                    <a:pt x="8" y="1"/>
                    <a:pt x="10" y="1"/>
                  </a:cubicBezTo>
                  <a:cubicBezTo>
                    <a:pt x="11" y="0"/>
                    <a:pt x="13" y="0"/>
                    <a:pt x="15" y="0"/>
                  </a:cubicBezTo>
                  <a:cubicBezTo>
                    <a:pt x="17" y="0"/>
                    <a:pt x="20" y="0"/>
                    <a:pt x="22" y="1"/>
                  </a:cubicBezTo>
                  <a:cubicBezTo>
                    <a:pt x="24" y="2"/>
                    <a:pt x="26" y="3"/>
                    <a:pt x="28"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sp>
          <p:nvSpPr>
            <p:cNvPr id="233" name="Freeform 70">
              <a:extLst>
                <a:ext uri="{FF2B5EF4-FFF2-40B4-BE49-F238E27FC236}">
                  <a16:creationId xmlns:a16="http://schemas.microsoft.com/office/drawing/2014/main" id="{40CF3793-E792-4DB3-8064-4B43F4706A3D}"/>
                </a:ext>
              </a:extLst>
            </p:cNvPr>
            <p:cNvSpPr>
              <a:spLocks/>
            </p:cNvSpPr>
            <p:nvPr userDrawn="1"/>
          </p:nvSpPr>
          <p:spPr bwMode="auto">
            <a:xfrm>
              <a:off x="2723096" y="6489826"/>
              <a:ext cx="27899" cy="31387"/>
            </a:xfrm>
            <a:custGeom>
              <a:avLst/>
              <a:gdLst>
                <a:gd name="T0" fmla="*/ 11 w 11"/>
                <a:gd name="T1" fmla="*/ 6 h 12"/>
                <a:gd name="T2" fmla="*/ 11 w 11"/>
                <a:gd name="T3" fmla="*/ 9 h 12"/>
                <a:gd name="T4" fmla="*/ 10 w 11"/>
                <a:gd name="T5" fmla="*/ 10 h 12"/>
                <a:gd name="T6" fmla="*/ 8 w 11"/>
                <a:gd name="T7" fmla="*/ 12 h 12"/>
                <a:gd name="T8" fmla="*/ 6 w 11"/>
                <a:gd name="T9" fmla="*/ 12 h 12"/>
                <a:gd name="T10" fmla="*/ 3 w 11"/>
                <a:gd name="T11" fmla="*/ 12 h 12"/>
                <a:gd name="T12" fmla="*/ 1 w 11"/>
                <a:gd name="T13" fmla="*/ 10 h 12"/>
                <a:gd name="T14" fmla="*/ 0 w 11"/>
                <a:gd name="T15" fmla="*/ 9 h 12"/>
                <a:gd name="T16" fmla="*/ 0 w 11"/>
                <a:gd name="T17" fmla="*/ 6 h 12"/>
                <a:gd name="T18" fmla="*/ 0 w 11"/>
                <a:gd name="T19" fmla="*/ 4 h 12"/>
                <a:gd name="T20" fmla="*/ 1 w 11"/>
                <a:gd name="T21" fmla="*/ 2 h 12"/>
                <a:gd name="T22" fmla="*/ 3 w 11"/>
                <a:gd name="T23" fmla="*/ 1 h 12"/>
                <a:gd name="T24" fmla="*/ 6 w 11"/>
                <a:gd name="T25" fmla="*/ 0 h 12"/>
                <a:gd name="T26" fmla="*/ 8 w 11"/>
                <a:gd name="T27" fmla="*/ 1 h 12"/>
                <a:gd name="T28" fmla="*/ 10 w 11"/>
                <a:gd name="T29" fmla="*/ 2 h 12"/>
                <a:gd name="T30" fmla="*/ 11 w 11"/>
                <a:gd name="T31" fmla="*/ 4 h 12"/>
                <a:gd name="T32" fmla="*/ 11 w 11"/>
                <a:gd name="T33" fmla="*/ 6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2">
                  <a:moveTo>
                    <a:pt x="11" y="6"/>
                  </a:moveTo>
                  <a:cubicBezTo>
                    <a:pt x="11" y="7"/>
                    <a:pt x="11" y="8"/>
                    <a:pt x="11" y="9"/>
                  </a:cubicBezTo>
                  <a:cubicBezTo>
                    <a:pt x="11" y="9"/>
                    <a:pt x="10" y="10"/>
                    <a:pt x="10" y="10"/>
                  </a:cubicBezTo>
                  <a:cubicBezTo>
                    <a:pt x="9" y="11"/>
                    <a:pt x="9" y="11"/>
                    <a:pt x="8" y="12"/>
                  </a:cubicBezTo>
                  <a:cubicBezTo>
                    <a:pt x="7" y="12"/>
                    <a:pt x="6" y="12"/>
                    <a:pt x="6" y="12"/>
                  </a:cubicBezTo>
                  <a:cubicBezTo>
                    <a:pt x="5" y="12"/>
                    <a:pt x="4" y="12"/>
                    <a:pt x="3" y="12"/>
                  </a:cubicBezTo>
                  <a:cubicBezTo>
                    <a:pt x="3" y="11"/>
                    <a:pt x="2" y="11"/>
                    <a:pt x="1" y="10"/>
                  </a:cubicBezTo>
                  <a:cubicBezTo>
                    <a:pt x="1" y="10"/>
                    <a:pt x="1" y="9"/>
                    <a:pt x="0" y="9"/>
                  </a:cubicBezTo>
                  <a:cubicBezTo>
                    <a:pt x="0" y="8"/>
                    <a:pt x="0" y="7"/>
                    <a:pt x="0" y="6"/>
                  </a:cubicBezTo>
                  <a:cubicBezTo>
                    <a:pt x="0" y="6"/>
                    <a:pt x="0" y="5"/>
                    <a:pt x="0" y="4"/>
                  </a:cubicBezTo>
                  <a:cubicBezTo>
                    <a:pt x="1" y="3"/>
                    <a:pt x="1" y="3"/>
                    <a:pt x="1" y="2"/>
                  </a:cubicBezTo>
                  <a:cubicBezTo>
                    <a:pt x="2" y="2"/>
                    <a:pt x="3" y="1"/>
                    <a:pt x="3" y="1"/>
                  </a:cubicBezTo>
                  <a:cubicBezTo>
                    <a:pt x="4" y="1"/>
                    <a:pt x="5" y="0"/>
                    <a:pt x="6" y="0"/>
                  </a:cubicBezTo>
                  <a:cubicBezTo>
                    <a:pt x="6" y="0"/>
                    <a:pt x="7" y="1"/>
                    <a:pt x="8" y="1"/>
                  </a:cubicBezTo>
                  <a:cubicBezTo>
                    <a:pt x="9" y="1"/>
                    <a:pt x="9" y="2"/>
                    <a:pt x="10" y="2"/>
                  </a:cubicBezTo>
                  <a:cubicBezTo>
                    <a:pt x="10" y="3"/>
                    <a:pt x="11" y="3"/>
                    <a:pt x="11" y="4"/>
                  </a:cubicBezTo>
                  <a:cubicBezTo>
                    <a:pt x="11" y="5"/>
                    <a:pt x="11" y="6"/>
                    <a:pt x="11"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IN" sz="1799">
                <a:solidFill>
                  <a:schemeClr val="bg1"/>
                </a:solidFill>
              </a:endParaRPr>
            </a:p>
          </p:txBody>
        </p:sp>
      </p:grpSp>
      <p:sp>
        <p:nvSpPr>
          <p:cNvPr id="18" name="Title 1"/>
          <p:cNvSpPr>
            <a:spLocks noGrp="1"/>
          </p:cNvSpPr>
          <p:nvPr userDrawn="1">
            <p:ph type="ctrTitle"/>
          </p:nvPr>
        </p:nvSpPr>
        <p:spPr>
          <a:xfrm>
            <a:off x="944388" y="2158329"/>
            <a:ext cx="4781392" cy="860400"/>
          </a:xfrm>
          <a:prstGeom prst="rect">
            <a:avLst/>
          </a:prstGeo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9" name="Subtitle 2"/>
          <p:cNvSpPr>
            <a:spLocks noGrp="1"/>
          </p:cNvSpPr>
          <p:nvPr userDrawn="1">
            <p:ph type="subTitle" idx="1"/>
          </p:nvPr>
        </p:nvSpPr>
        <p:spPr>
          <a:xfrm>
            <a:off x="944580" y="3200329"/>
            <a:ext cx="4805525" cy="645742"/>
          </a:xfrm>
          <a:prstGeom prst="rect">
            <a:avLst/>
          </a:prstGeom>
        </p:spPr>
        <p:txBody>
          <a:bodyPr/>
          <a:lstStyle>
            <a:lvl1pPr marL="0" indent="0" algn="l">
              <a:buNone/>
              <a:defRPr sz="1999">
                <a:solidFill>
                  <a:schemeClr val="bg1"/>
                </a:solidFill>
                <a:latin typeface="EYInterstate Light" panose="02000506000000020004" pitchFamily="2" charset="0"/>
                <a:cs typeface="Arial" pitchFamily="34" charset="0"/>
              </a:defRPr>
            </a:lvl1pPr>
            <a:lvl2pPr marL="0" indent="0" algn="l">
              <a:buNone/>
              <a:defRPr sz="1599">
                <a:solidFill>
                  <a:schemeClr val="tx1">
                    <a:lumMod val="75000"/>
                    <a:lumOff val="25000"/>
                  </a:schemeClr>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sp>
        <p:nvSpPr>
          <p:cNvPr id="3" name="Freeform: Shape 2">
            <a:extLst>
              <a:ext uri="{FF2B5EF4-FFF2-40B4-BE49-F238E27FC236}">
                <a16:creationId xmlns:a16="http://schemas.microsoft.com/office/drawing/2014/main" id="{44A731D0-020D-4D8E-955D-2354AF0FE452}"/>
              </a:ext>
            </a:extLst>
          </p:cNvPr>
          <p:cNvSpPr/>
          <p:nvPr userDrawn="1"/>
        </p:nvSpPr>
        <p:spPr>
          <a:xfrm>
            <a:off x="489112" y="723658"/>
            <a:ext cx="5677988" cy="3452894"/>
          </a:xfrm>
          <a:custGeom>
            <a:avLst/>
            <a:gdLst>
              <a:gd name="connsiteX0" fmla="*/ 8749 w 5680945"/>
              <a:gd name="connsiteY0" fmla="*/ 1021520 h 3452894"/>
              <a:gd name="connsiteX1" fmla="*/ 8749 w 5680945"/>
              <a:gd name="connsiteY1" fmla="*/ 3164181 h 3452894"/>
              <a:gd name="connsiteX2" fmla="*/ 151414 w 5680945"/>
              <a:gd name="connsiteY2" fmla="*/ 3164181 h 3452894"/>
              <a:gd name="connsiteX3" fmla="*/ 151414 w 5680945"/>
              <a:gd name="connsiteY3" fmla="*/ 1140155 h 3452894"/>
              <a:gd name="connsiteX4" fmla="*/ 5534897 w 5680945"/>
              <a:gd name="connsiteY4" fmla="*/ 179294 h 3452894"/>
              <a:gd name="connsiteX5" fmla="*/ 5534897 w 5680945"/>
              <a:gd name="connsiteY5" fmla="*/ 3306846 h 3452894"/>
              <a:gd name="connsiteX6" fmla="*/ 864624 w 5680945"/>
              <a:gd name="connsiteY6" fmla="*/ 3306846 h 3452894"/>
              <a:gd name="connsiteX7" fmla="*/ 864624 w 5680945"/>
              <a:gd name="connsiteY7" fmla="*/ 3449395 h 3452894"/>
              <a:gd name="connsiteX8" fmla="*/ 5677562 w 5680945"/>
              <a:gd name="connsiteY8" fmla="*/ 3449395 h 3452894"/>
              <a:gd name="connsiteX9" fmla="*/ 5677562 w 5680945"/>
              <a:gd name="connsiteY9" fmla="*/ 8749 h 3452894"/>
              <a:gd name="connsiteX10" fmla="*/ 8749 w 5680945"/>
              <a:gd name="connsiteY10" fmla="*/ 1021520 h 345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80945" h="3452894">
                <a:moveTo>
                  <a:pt x="8749" y="1021520"/>
                </a:moveTo>
                <a:lnTo>
                  <a:pt x="8749" y="3164181"/>
                </a:lnTo>
                <a:lnTo>
                  <a:pt x="151414" y="3164181"/>
                </a:lnTo>
                <a:lnTo>
                  <a:pt x="151414" y="1140155"/>
                </a:lnTo>
                <a:lnTo>
                  <a:pt x="5534897" y="179294"/>
                </a:lnTo>
                <a:lnTo>
                  <a:pt x="5534897" y="3306846"/>
                </a:lnTo>
                <a:lnTo>
                  <a:pt x="864624" y="3306846"/>
                </a:lnTo>
                <a:lnTo>
                  <a:pt x="864624" y="3449395"/>
                </a:lnTo>
                <a:lnTo>
                  <a:pt x="5677562" y="3449395"/>
                </a:lnTo>
                <a:lnTo>
                  <a:pt x="5677562" y="8749"/>
                </a:lnTo>
                <a:lnTo>
                  <a:pt x="8749" y="1021520"/>
                </a:lnTo>
                <a:close/>
              </a:path>
            </a:pathLst>
          </a:custGeom>
          <a:solidFill>
            <a:schemeClr val="tx2"/>
          </a:solidFill>
          <a:ln w="9525" cap="flat">
            <a:noFill/>
            <a:prstDash val="solid"/>
            <a:miter/>
          </a:ln>
        </p:spPr>
        <p:txBody>
          <a:bodyPr rtlCol="0" anchor="ctr"/>
          <a:lstStyle/>
          <a:p>
            <a:endParaRPr lang="en-IN" sz="1799"/>
          </a:p>
        </p:txBody>
      </p:sp>
      <p:sp>
        <p:nvSpPr>
          <p:cNvPr id="4" name="Freeform: Shape 3">
            <a:extLst>
              <a:ext uri="{FF2B5EF4-FFF2-40B4-BE49-F238E27FC236}">
                <a16:creationId xmlns:a16="http://schemas.microsoft.com/office/drawing/2014/main" id="{15324C54-B75E-4AC0-90C2-FA558C7716F7}"/>
              </a:ext>
            </a:extLst>
          </p:cNvPr>
          <p:cNvSpPr/>
          <p:nvPr/>
        </p:nvSpPr>
        <p:spPr>
          <a:xfrm>
            <a:off x="489112"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5" name="Freeform: Shape 4">
            <a:extLst>
              <a:ext uri="{FF2B5EF4-FFF2-40B4-BE49-F238E27FC236}">
                <a16:creationId xmlns:a16="http://schemas.microsoft.com/office/drawing/2014/main" id="{CAA95478-C099-485F-AD95-A617656C6C7C}"/>
              </a:ext>
            </a:extLst>
          </p:cNvPr>
          <p:cNvSpPr/>
          <p:nvPr/>
        </p:nvSpPr>
        <p:spPr>
          <a:xfrm>
            <a:off x="774294"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sp>
        <p:nvSpPr>
          <p:cNvPr id="6" name="Freeform: Shape 5">
            <a:extLst>
              <a:ext uri="{FF2B5EF4-FFF2-40B4-BE49-F238E27FC236}">
                <a16:creationId xmlns:a16="http://schemas.microsoft.com/office/drawing/2014/main" id="{D65680A1-86D1-44C2-AA38-0DF5735F1F26}"/>
              </a:ext>
            </a:extLst>
          </p:cNvPr>
          <p:cNvSpPr/>
          <p:nvPr/>
        </p:nvSpPr>
        <p:spPr>
          <a:xfrm>
            <a:off x="1059359" y="4021756"/>
            <a:ext cx="151568" cy="151647"/>
          </a:xfrm>
          <a:custGeom>
            <a:avLst/>
            <a:gdLst>
              <a:gd name="connsiteX0" fmla="*/ 8749 w 151647"/>
              <a:gd name="connsiteY0" fmla="*/ 8749 h 151647"/>
              <a:gd name="connsiteX1" fmla="*/ 151414 w 151647"/>
              <a:gd name="connsiteY1" fmla="*/ 8749 h 151647"/>
              <a:gd name="connsiteX2" fmla="*/ 151414 w 151647"/>
              <a:gd name="connsiteY2" fmla="*/ 151414 h 151647"/>
              <a:gd name="connsiteX3" fmla="*/ 8749 w 151647"/>
              <a:gd name="connsiteY3" fmla="*/ 151414 h 151647"/>
            </a:gdLst>
            <a:ahLst/>
            <a:cxnLst>
              <a:cxn ang="0">
                <a:pos x="connsiteX0" y="connsiteY0"/>
              </a:cxn>
              <a:cxn ang="0">
                <a:pos x="connsiteX1" y="connsiteY1"/>
              </a:cxn>
              <a:cxn ang="0">
                <a:pos x="connsiteX2" y="connsiteY2"/>
              </a:cxn>
              <a:cxn ang="0">
                <a:pos x="connsiteX3" y="connsiteY3"/>
              </a:cxn>
            </a:cxnLst>
            <a:rect l="l" t="t" r="r" b="b"/>
            <a:pathLst>
              <a:path w="151647" h="151647">
                <a:moveTo>
                  <a:pt x="8749" y="8749"/>
                </a:moveTo>
                <a:lnTo>
                  <a:pt x="151414" y="8749"/>
                </a:lnTo>
                <a:lnTo>
                  <a:pt x="151414" y="151414"/>
                </a:lnTo>
                <a:lnTo>
                  <a:pt x="8749" y="151414"/>
                </a:lnTo>
                <a:close/>
              </a:path>
            </a:pathLst>
          </a:custGeom>
          <a:solidFill>
            <a:schemeClr val="tx2"/>
          </a:solidFill>
          <a:ln w="9525" cap="flat">
            <a:noFill/>
            <a:prstDash val="solid"/>
            <a:miter/>
          </a:ln>
        </p:spPr>
        <p:txBody>
          <a:bodyPr rtlCol="0" anchor="ctr"/>
          <a:lstStyle/>
          <a:p>
            <a:endParaRPr lang="en-IN" sz="1799"/>
          </a:p>
        </p:txBody>
      </p:sp>
      <p:grpSp>
        <p:nvGrpSpPr>
          <p:cNvPr id="76" name="Group 4">
            <a:extLst>
              <a:ext uri="{FF2B5EF4-FFF2-40B4-BE49-F238E27FC236}">
                <a16:creationId xmlns:a16="http://schemas.microsoft.com/office/drawing/2014/main" id="{9D60B6B0-F7ED-4B9F-A77C-632AC4EA661D}"/>
              </a:ext>
            </a:extLst>
          </p:cNvPr>
          <p:cNvGrpSpPr>
            <a:grpSpLocks noChangeAspect="1"/>
          </p:cNvGrpSpPr>
          <p:nvPr userDrawn="1"/>
        </p:nvGrpSpPr>
        <p:grpSpPr bwMode="auto">
          <a:xfrm>
            <a:off x="10359392" y="4960938"/>
            <a:ext cx="1224912" cy="1435100"/>
            <a:chOff x="6529" y="3125"/>
            <a:chExt cx="772" cy="904"/>
          </a:xfrm>
        </p:grpSpPr>
        <p:sp>
          <p:nvSpPr>
            <p:cNvPr id="77" name="Freeform 5">
              <a:extLst>
                <a:ext uri="{FF2B5EF4-FFF2-40B4-BE49-F238E27FC236}">
                  <a16:creationId xmlns:a16="http://schemas.microsoft.com/office/drawing/2014/main" id="{CC1B45B9-64DF-4C5B-9711-FA69AD537071}"/>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6">
              <a:extLst>
                <a:ext uri="{FF2B5EF4-FFF2-40B4-BE49-F238E27FC236}">
                  <a16:creationId xmlns:a16="http://schemas.microsoft.com/office/drawing/2014/main" id="{BA55CB73-EE25-43B6-9720-855E16C4B153}"/>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0777678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5" name="Table Placeholder 4">
            <a:extLst>
              <a:ext uri="{FF2B5EF4-FFF2-40B4-BE49-F238E27FC236}">
                <a16:creationId xmlns:a16="http://schemas.microsoft.com/office/drawing/2014/main" id="{95A2BE92-ABF7-4A82-BC35-00F28F500FED}"/>
              </a:ext>
            </a:extLst>
          </p:cNvPr>
          <p:cNvSpPr>
            <a:spLocks noGrp="1"/>
          </p:cNvSpPr>
          <p:nvPr>
            <p:ph type="tbl" sz="quarter" idx="10"/>
          </p:nvPr>
        </p:nvSpPr>
        <p:spPr>
          <a:xfrm>
            <a:off x="609600" y="1137921"/>
            <a:ext cx="4954924" cy="4267457"/>
          </a:xfrm>
        </p:spPr>
        <p:txBody>
          <a:bodyPr/>
          <a:lstStyle/>
          <a:p>
            <a:endParaRPr lang="en-IN"/>
          </a:p>
        </p:txBody>
      </p:sp>
      <p:sp>
        <p:nvSpPr>
          <p:cNvPr id="10" name="Text Placeholder 16">
            <a:extLst>
              <a:ext uri="{FF2B5EF4-FFF2-40B4-BE49-F238E27FC236}">
                <a16:creationId xmlns:a16="http://schemas.microsoft.com/office/drawing/2014/main" id="{DA81FCAA-64D2-4A9C-B16E-9C4E3BB431BB}"/>
              </a:ext>
            </a:extLst>
          </p:cNvPr>
          <p:cNvSpPr>
            <a:spLocks noGrp="1"/>
          </p:cNvSpPr>
          <p:nvPr>
            <p:ph type="body" sz="quarter" idx="14" hasCustomPrompt="1"/>
          </p:nvPr>
        </p:nvSpPr>
        <p:spPr>
          <a:xfrm>
            <a:off x="7129748" y="3813288"/>
            <a:ext cx="3087667" cy="180000"/>
          </a:xfrm>
        </p:spPr>
        <p:txBody>
          <a:bodyPr/>
          <a:lstStyle>
            <a:lvl1pPr marL="0" indent="0">
              <a:buNone/>
              <a:defRPr sz="1199">
                <a:solidFill>
                  <a:schemeClr val="bg1"/>
                </a:solidFill>
              </a:defRPr>
            </a:lvl1pPr>
          </a:lstStyle>
          <a:p>
            <a:pPr lvl="0"/>
            <a:r>
              <a:rPr lang="en-US"/>
              <a:t>Name Surname</a:t>
            </a:r>
            <a:endParaRPr lang="en-GB"/>
          </a:p>
        </p:txBody>
      </p:sp>
      <p:sp>
        <p:nvSpPr>
          <p:cNvPr id="11" name="Text Placeholder 16">
            <a:extLst>
              <a:ext uri="{FF2B5EF4-FFF2-40B4-BE49-F238E27FC236}">
                <a16:creationId xmlns:a16="http://schemas.microsoft.com/office/drawing/2014/main" id="{03CDC117-35F2-47B2-85B2-29CB8EE7E096}"/>
              </a:ext>
            </a:extLst>
          </p:cNvPr>
          <p:cNvSpPr>
            <a:spLocks noGrp="1"/>
          </p:cNvSpPr>
          <p:nvPr>
            <p:ph type="body" sz="quarter" idx="15" hasCustomPrompt="1"/>
          </p:nvPr>
        </p:nvSpPr>
        <p:spPr>
          <a:xfrm>
            <a:off x="7129748" y="4055931"/>
            <a:ext cx="3087667" cy="180000"/>
          </a:xfrm>
        </p:spPr>
        <p:txBody>
          <a:bodyPr/>
          <a:lstStyle>
            <a:lvl1pPr marL="0" indent="0">
              <a:buNone/>
              <a:defRPr sz="1199">
                <a:solidFill>
                  <a:schemeClr val="bg1"/>
                </a:solidFill>
              </a:defRPr>
            </a:lvl1pPr>
          </a:lstStyle>
          <a:p>
            <a:pPr lvl="0"/>
            <a:r>
              <a:rPr lang="en-US"/>
              <a:t>Job Title to go here</a:t>
            </a:r>
            <a:endParaRPr lang="en-GB"/>
          </a:p>
        </p:txBody>
      </p:sp>
      <p:sp>
        <p:nvSpPr>
          <p:cNvPr id="14" name="Picture Placeholder 19">
            <a:extLst>
              <a:ext uri="{FF2B5EF4-FFF2-40B4-BE49-F238E27FC236}">
                <a16:creationId xmlns:a16="http://schemas.microsoft.com/office/drawing/2014/main" id="{00A15EA9-2372-4E06-83C2-1E13AB1FA626}"/>
              </a:ext>
            </a:extLst>
          </p:cNvPr>
          <p:cNvSpPr>
            <a:spLocks noGrp="1"/>
          </p:cNvSpPr>
          <p:nvPr>
            <p:ph type="pic" sz="quarter" idx="16"/>
          </p:nvPr>
        </p:nvSpPr>
        <p:spPr>
          <a:xfrm>
            <a:off x="6119820" y="3578084"/>
            <a:ext cx="778554" cy="778959"/>
          </a:xfrm>
          <a:prstGeom prst="ellipse">
            <a:avLst/>
          </a:prstGeom>
        </p:spPr>
        <p:txBody>
          <a:bodyPr anchor="ctr"/>
          <a:lstStyle>
            <a:lvl1pPr marL="0" indent="0" algn="ctr">
              <a:buNone/>
              <a:defRPr sz="900">
                <a:solidFill>
                  <a:schemeClr val="bg1"/>
                </a:solidFill>
              </a:defRPr>
            </a:lvl1pPr>
          </a:lstStyle>
          <a:p>
            <a:endParaRPr lang="en-GB"/>
          </a:p>
        </p:txBody>
      </p:sp>
      <p:sp>
        <p:nvSpPr>
          <p:cNvPr id="9" name="Text Placeholder 8">
            <a:extLst>
              <a:ext uri="{FF2B5EF4-FFF2-40B4-BE49-F238E27FC236}">
                <a16:creationId xmlns:a16="http://schemas.microsoft.com/office/drawing/2014/main" id="{5DB83DAE-9FEB-4E9C-85BA-A34BD239275A}"/>
              </a:ext>
            </a:extLst>
          </p:cNvPr>
          <p:cNvSpPr>
            <a:spLocks noGrp="1"/>
          </p:cNvSpPr>
          <p:nvPr>
            <p:ph type="body" sz="quarter" idx="17" hasCustomPrompt="1"/>
          </p:nvPr>
        </p:nvSpPr>
        <p:spPr>
          <a:xfrm>
            <a:off x="6119821" y="1137921"/>
            <a:ext cx="5462580" cy="373807"/>
          </a:xfrm>
        </p:spPr>
        <p:txBody>
          <a:bodyPr/>
          <a:lstStyle>
            <a:lvl1pPr marL="0" indent="0">
              <a:buNone/>
              <a:defRPr/>
            </a:lvl1pPr>
          </a:lstStyle>
          <a:p>
            <a:pPr lvl="0"/>
            <a:r>
              <a:rPr lang="en-US"/>
              <a:t>Key Takeaways</a:t>
            </a:r>
          </a:p>
        </p:txBody>
      </p:sp>
      <p:sp>
        <p:nvSpPr>
          <p:cNvPr id="15" name="Text Placeholder 8">
            <a:extLst>
              <a:ext uri="{FF2B5EF4-FFF2-40B4-BE49-F238E27FC236}">
                <a16:creationId xmlns:a16="http://schemas.microsoft.com/office/drawing/2014/main" id="{C1ABE303-7041-4312-AD03-0E872AEF99BE}"/>
              </a:ext>
            </a:extLst>
          </p:cNvPr>
          <p:cNvSpPr>
            <a:spLocks noGrp="1"/>
          </p:cNvSpPr>
          <p:nvPr>
            <p:ph type="body" sz="quarter" idx="18" hasCustomPrompt="1"/>
          </p:nvPr>
        </p:nvSpPr>
        <p:spPr>
          <a:xfrm>
            <a:off x="6119821" y="1635009"/>
            <a:ext cx="5462580" cy="1611554"/>
          </a:xfrm>
        </p:spPr>
        <p:txBody>
          <a:bodyPr/>
          <a:lstStyle>
            <a:lvl1pPr marL="0" indent="0">
              <a:buNone/>
              <a:defRPr sz="1599"/>
            </a:lvl1pPr>
          </a:lstStyle>
          <a:p>
            <a:pPr lvl="0"/>
            <a:r>
              <a:rPr lang="en-US"/>
              <a:t>Content EY Interstate Light, 16pt, Lorem ipsum dolor, 12pt, </a:t>
            </a:r>
            <a:r>
              <a:rPr lang="en-US" err="1"/>
              <a:t>Utinam</a:t>
            </a:r>
            <a:r>
              <a:rPr lang="en-US"/>
              <a:t> </a:t>
            </a:r>
            <a:r>
              <a:rPr lang="en-US" err="1"/>
              <a:t>nonumy</a:t>
            </a:r>
            <a:r>
              <a:rPr lang="en-US"/>
              <a:t> </a:t>
            </a:r>
            <a:r>
              <a:rPr lang="en-US" err="1"/>
              <a:t>abhorreant</a:t>
            </a:r>
            <a:r>
              <a:rPr lang="en-US"/>
              <a:t> </a:t>
            </a:r>
            <a:r>
              <a:rPr lang="en-US" err="1"/>
              <a:t>sead</a:t>
            </a:r>
            <a:r>
              <a:rPr lang="en-US"/>
              <a:t>. </a:t>
            </a:r>
            <a:r>
              <a:rPr lang="en-US" err="1"/>
              <a:t>Putant</a:t>
            </a:r>
            <a:r>
              <a:rPr lang="en-US"/>
              <a:t> </a:t>
            </a:r>
            <a:r>
              <a:rPr lang="en-US" err="1"/>
              <a:t>probatus</a:t>
            </a:r>
            <a:r>
              <a:rPr lang="en-US"/>
              <a:t> id vis, ad his </a:t>
            </a:r>
            <a:r>
              <a:rPr lang="en-US" err="1"/>
              <a:t>meis</a:t>
            </a:r>
            <a:r>
              <a:rPr lang="en-US"/>
              <a:t> </a:t>
            </a:r>
            <a:r>
              <a:rPr lang="en-US" err="1"/>
              <a:t>habemus</a:t>
            </a:r>
            <a:r>
              <a:rPr lang="en-US"/>
              <a:t> </a:t>
            </a:r>
            <a:r>
              <a:rPr lang="en-US" err="1"/>
              <a:t>repudiare</a:t>
            </a:r>
            <a:r>
              <a:rPr lang="en-US"/>
              <a:t>, has an </a:t>
            </a:r>
            <a:r>
              <a:rPr lang="en-US" err="1"/>
              <a:t>pericula</a:t>
            </a:r>
            <a:r>
              <a:rPr lang="en-US"/>
              <a:t> </a:t>
            </a:r>
            <a:r>
              <a:rPr lang="en-US" err="1"/>
              <a:t>tractatos</a:t>
            </a:r>
            <a:r>
              <a:rPr lang="en-US"/>
              <a:t>. </a:t>
            </a:r>
            <a:r>
              <a:rPr lang="en-US" err="1"/>
              <a:t>Nec</a:t>
            </a:r>
            <a:r>
              <a:rPr lang="en-US"/>
              <a:t> </a:t>
            </a:r>
            <a:r>
              <a:rPr lang="en-US" err="1"/>
              <a:t>debitis</a:t>
            </a:r>
            <a:r>
              <a:rPr lang="en-US"/>
              <a:t> </a:t>
            </a:r>
            <a:r>
              <a:rPr lang="en-US" err="1"/>
              <a:t>dissentias</a:t>
            </a:r>
            <a:r>
              <a:rPr lang="en-US"/>
              <a:t> ad. </a:t>
            </a:r>
            <a:r>
              <a:rPr lang="en-US" err="1"/>
              <a:t>Patrioque</a:t>
            </a:r>
            <a:r>
              <a:rPr lang="en-US"/>
              <a:t> </a:t>
            </a:r>
            <a:r>
              <a:rPr lang="en-US" err="1"/>
              <a:t>voluptatum</a:t>
            </a:r>
            <a:r>
              <a:rPr lang="en-US"/>
              <a:t> </a:t>
            </a:r>
            <a:r>
              <a:rPr lang="en-US" err="1"/>
              <a:t>sed</a:t>
            </a:r>
            <a:r>
              <a:rPr lang="en-US"/>
              <a:t> ex, id </a:t>
            </a:r>
            <a:r>
              <a:rPr lang="en-US" err="1"/>
              <a:t>admodum</a:t>
            </a:r>
            <a:r>
              <a:rPr lang="en-US"/>
              <a:t>.</a:t>
            </a:r>
          </a:p>
          <a:p>
            <a:pPr lvl="0"/>
            <a:endParaRPr lang="en-US"/>
          </a:p>
        </p:txBody>
      </p:sp>
      <p:sp>
        <p:nvSpPr>
          <p:cNvPr id="20" name="Line 10">
            <a:extLst>
              <a:ext uri="{FF2B5EF4-FFF2-40B4-BE49-F238E27FC236}">
                <a16:creationId xmlns:a16="http://schemas.microsoft.com/office/drawing/2014/main" id="{B69EB865-6B86-419B-923C-F7DDC68C9C66}"/>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6" name="Slide Number Placeholder 5">
            <a:extLst>
              <a:ext uri="{FF2B5EF4-FFF2-40B4-BE49-F238E27FC236}">
                <a16:creationId xmlns:a16="http://schemas.microsoft.com/office/drawing/2014/main" id="{611C45D8-BA71-4A92-82B2-C059AF6B6702}"/>
              </a:ext>
            </a:extLst>
          </p:cNvPr>
          <p:cNvSpPr>
            <a:spLocks noGrp="1"/>
          </p:cNvSpPr>
          <p:nvPr>
            <p:ph type="sldNum" sz="quarter" idx="21"/>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2003371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4">
            <a:extLst>
              <a:ext uri="{FF2B5EF4-FFF2-40B4-BE49-F238E27FC236}">
                <a16:creationId xmlns:a16="http://schemas.microsoft.com/office/drawing/2014/main" id="{272DD5AC-66F0-425C-A9DE-0484513193A1}"/>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7618569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8194852" y="1"/>
            <a:ext cx="3997149" cy="6156104"/>
          </a:xfrm>
        </p:spPr>
        <p:txBody>
          <a:bodyPr/>
          <a:lstStyle/>
          <a:p>
            <a:endParaRPr lang="en-IN"/>
          </a:p>
        </p:txBody>
      </p:sp>
      <p:sp>
        <p:nvSpPr>
          <p:cNvPr id="2" name="Title 1"/>
          <p:cNvSpPr>
            <a:spLocks noGrp="1"/>
          </p:cNvSpPr>
          <p:nvPr>
            <p:ph type="title"/>
          </p:nvPr>
        </p:nvSpPr>
        <p:spPr>
          <a:xfrm>
            <a:off x="609601" y="294200"/>
            <a:ext cx="7440547"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609601" y="1137921"/>
            <a:ext cx="7295842" cy="873760"/>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609601" y="2311401"/>
            <a:ext cx="3578253" cy="384470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2" name="Content Placeholder 2">
            <a:extLst>
              <a:ext uri="{FF2B5EF4-FFF2-40B4-BE49-F238E27FC236}">
                <a16:creationId xmlns:a16="http://schemas.microsoft.com/office/drawing/2014/main" id="{0C7BD71A-882B-40FB-A05F-48ECC69FF73D}"/>
              </a:ext>
            </a:extLst>
          </p:cNvPr>
          <p:cNvSpPr>
            <a:spLocks noGrp="1"/>
          </p:cNvSpPr>
          <p:nvPr>
            <p:ph idx="12" hasCustomPrompt="1"/>
          </p:nvPr>
        </p:nvSpPr>
        <p:spPr>
          <a:xfrm>
            <a:off x="4327190" y="2311402"/>
            <a:ext cx="3578253" cy="1254759"/>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4" name="Content Placeholder 2">
            <a:extLst>
              <a:ext uri="{FF2B5EF4-FFF2-40B4-BE49-F238E27FC236}">
                <a16:creationId xmlns:a16="http://schemas.microsoft.com/office/drawing/2014/main" id="{D87D58C8-1517-42AA-8B2A-E449A3F6F028}"/>
              </a:ext>
            </a:extLst>
          </p:cNvPr>
          <p:cNvSpPr>
            <a:spLocks noGrp="1"/>
          </p:cNvSpPr>
          <p:nvPr>
            <p:ph idx="13" hasCustomPrompt="1"/>
          </p:nvPr>
        </p:nvSpPr>
        <p:spPr>
          <a:xfrm>
            <a:off x="4327190" y="4236721"/>
            <a:ext cx="3578253" cy="1944160"/>
          </a:xfrm>
        </p:spPr>
        <p:txBody>
          <a:bodyPr numCol="1"/>
          <a:lstStyle>
            <a:lvl1pPr marL="0" indent="0">
              <a:buNone/>
              <a:defRPr sz="1799">
                <a:solidFill>
                  <a:schemeClr val="bg1"/>
                </a:solidFill>
                <a:latin typeface="Georgia" panose="02040502050405020303" pitchFamily="18" charset="0"/>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Quote</a:t>
            </a:r>
          </a:p>
        </p:txBody>
      </p:sp>
      <p:sp>
        <p:nvSpPr>
          <p:cNvPr id="23" name="Line 10">
            <a:extLst>
              <a:ext uri="{FF2B5EF4-FFF2-40B4-BE49-F238E27FC236}">
                <a16:creationId xmlns:a16="http://schemas.microsoft.com/office/drawing/2014/main" id="{E820DC59-E206-4DC0-9012-584F8EBAF730}"/>
              </a:ext>
            </a:extLst>
          </p:cNvPr>
          <p:cNvSpPr>
            <a:spLocks noChangeShapeType="1"/>
          </p:cNvSpPr>
          <p:nvPr userDrawn="1"/>
        </p:nvSpPr>
        <p:spPr bwMode="auto">
          <a:xfrm>
            <a:off x="609601" y="907750"/>
            <a:ext cx="7719833"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7" name="Slide Number Placeholder 6">
            <a:extLst>
              <a:ext uri="{FF2B5EF4-FFF2-40B4-BE49-F238E27FC236}">
                <a16:creationId xmlns:a16="http://schemas.microsoft.com/office/drawing/2014/main" id="{86EA2D1B-5973-42E9-87B4-02C40C0EF1B0}"/>
              </a:ext>
            </a:extLst>
          </p:cNvPr>
          <p:cNvSpPr>
            <a:spLocks noGrp="1"/>
          </p:cNvSpPr>
          <p:nvPr>
            <p:ph type="sldNum" sz="quarter" idx="16"/>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28352400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_Standard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80593A0-4211-460E-B6CF-FE2D9CE6D9CB}"/>
              </a:ext>
            </a:extLst>
          </p:cNvPr>
          <p:cNvSpPr>
            <a:spLocks noGrp="1"/>
          </p:cNvSpPr>
          <p:nvPr>
            <p:ph type="pic" sz="quarter" idx="10"/>
          </p:nvPr>
        </p:nvSpPr>
        <p:spPr>
          <a:xfrm>
            <a:off x="0" y="1"/>
            <a:ext cx="2383219" cy="6857999"/>
          </a:xfrm>
        </p:spPr>
        <p:txBody>
          <a:bodyPr/>
          <a:lstStyle/>
          <a:p>
            <a:endParaRPr lang="en-IN"/>
          </a:p>
        </p:txBody>
      </p:sp>
      <p:sp>
        <p:nvSpPr>
          <p:cNvPr id="2" name="Title 1"/>
          <p:cNvSpPr>
            <a:spLocks noGrp="1"/>
          </p:cNvSpPr>
          <p:nvPr>
            <p:ph type="title"/>
          </p:nvPr>
        </p:nvSpPr>
        <p:spPr>
          <a:xfrm>
            <a:off x="2693891" y="294200"/>
            <a:ext cx="8887371" cy="590400"/>
          </a:xfrm>
        </p:spPr>
        <p:txBody>
          <a:bodyPr/>
          <a:lstStyle>
            <a:lvl1pPr>
              <a:defRPr sz="2399">
                <a:solidFill>
                  <a:schemeClr val="bg1"/>
                </a:solidFill>
              </a:defRPr>
            </a:lvl1pPr>
          </a:lstStyle>
          <a:p>
            <a:r>
              <a:rPr lang="en-US"/>
              <a:t>Click to edit Master title style</a:t>
            </a:r>
            <a:endParaRPr lang="en-GB"/>
          </a:p>
        </p:txBody>
      </p:sp>
      <p:sp>
        <p:nvSpPr>
          <p:cNvPr id="3" name="Content Placeholder 2"/>
          <p:cNvSpPr>
            <a:spLocks noGrp="1"/>
          </p:cNvSpPr>
          <p:nvPr>
            <p:ph idx="1" hasCustomPrompt="1"/>
          </p:nvPr>
        </p:nvSpPr>
        <p:spPr>
          <a:xfrm>
            <a:off x="2693890" y="1137921"/>
            <a:ext cx="2741454" cy="5018184"/>
          </a:xfrm>
        </p:spPr>
        <p:txBody>
          <a:bodyPr/>
          <a:lstStyle>
            <a:lvl1pPr marL="0" indent="0">
              <a:buNone/>
              <a:defRPr sz="17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1" name="Content Placeholder 2">
            <a:extLst>
              <a:ext uri="{FF2B5EF4-FFF2-40B4-BE49-F238E27FC236}">
                <a16:creationId xmlns:a16="http://schemas.microsoft.com/office/drawing/2014/main" id="{578D3272-120F-430D-AFB5-E93227EEEAAF}"/>
              </a:ext>
            </a:extLst>
          </p:cNvPr>
          <p:cNvSpPr>
            <a:spLocks noGrp="1"/>
          </p:cNvSpPr>
          <p:nvPr>
            <p:ph idx="11" hasCustomPrompt="1"/>
          </p:nvPr>
        </p:nvSpPr>
        <p:spPr>
          <a:xfrm>
            <a:off x="5724102" y="1137921"/>
            <a:ext cx="2802382" cy="5018184"/>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23" name="Content Placeholder 2">
            <a:extLst>
              <a:ext uri="{FF2B5EF4-FFF2-40B4-BE49-F238E27FC236}">
                <a16:creationId xmlns:a16="http://schemas.microsoft.com/office/drawing/2014/main" id="{6FF4A6F8-D9C6-4FEE-9324-5200D308BB1F}"/>
              </a:ext>
            </a:extLst>
          </p:cNvPr>
          <p:cNvSpPr>
            <a:spLocks noGrp="1"/>
          </p:cNvSpPr>
          <p:nvPr userDrawn="1">
            <p:ph idx="12" hasCustomPrompt="1"/>
          </p:nvPr>
        </p:nvSpPr>
        <p:spPr>
          <a:xfrm>
            <a:off x="8815241" y="1137922"/>
            <a:ext cx="2767159" cy="2796151"/>
          </a:xfrm>
        </p:spPr>
        <p:txBody>
          <a:bodyPr numCol="1"/>
          <a:lstStyle>
            <a:lvl1pPr marL="0" indent="0">
              <a:buNone/>
              <a:defRPr sz="1399">
                <a:solidFill>
                  <a:schemeClr val="bg1"/>
                </a:solidFill>
              </a:defRPr>
            </a:lvl1pPr>
            <a:lvl2pPr marL="356438" indent="0">
              <a:buNone/>
              <a:defRPr sz="1799">
                <a:solidFill>
                  <a:schemeClr val="bg1"/>
                </a:solidFill>
              </a:defRPr>
            </a:lvl2pPr>
            <a:lvl3pPr marL="712875" indent="0">
              <a:buNone/>
              <a:defRPr sz="1599">
                <a:solidFill>
                  <a:schemeClr val="bg1"/>
                </a:solidFill>
              </a:defRPr>
            </a:lvl3pPr>
            <a:lvl4pPr marL="1069313" indent="0">
              <a:buNone/>
              <a:defRPr sz="1399">
                <a:solidFill>
                  <a:schemeClr val="bg1"/>
                </a:solidFill>
              </a:defRPr>
            </a:lvl4pPr>
            <a:lvl5pPr marL="1425751" indent="0">
              <a:buNone/>
              <a:defRPr sz="1199">
                <a:solidFill>
                  <a:schemeClr val="bg1"/>
                </a:solidFill>
              </a:defRPr>
            </a:lvl5pPr>
          </a:lstStyle>
          <a:p>
            <a:pPr lvl="0"/>
            <a:r>
              <a:rPr lang="en-US"/>
              <a:t>Text</a:t>
            </a:r>
          </a:p>
        </p:txBody>
      </p:sp>
      <p:sp>
        <p:nvSpPr>
          <p:cNvPr id="19" name="Line 10">
            <a:extLst>
              <a:ext uri="{FF2B5EF4-FFF2-40B4-BE49-F238E27FC236}">
                <a16:creationId xmlns:a16="http://schemas.microsoft.com/office/drawing/2014/main" id="{B63A7CBA-3151-452E-BD2F-D3E65CE1595F}"/>
              </a:ext>
            </a:extLst>
          </p:cNvPr>
          <p:cNvSpPr>
            <a:spLocks noChangeShapeType="1"/>
          </p:cNvSpPr>
          <p:nvPr userDrawn="1"/>
        </p:nvSpPr>
        <p:spPr bwMode="auto">
          <a:xfrm>
            <a:off x="2693891" y="907750"/>
            <a:ext cx="8887371"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4" name="Date Placeholder 3">
            <a:extLst>
              <a:ext uri="{FF2B5EF4-FFF2-40B4-BE49-F238E27FC236}">
                <a16:creationId xmlns:a16="http://schemas.microsoft.com/office/drawing/2014/main" id="{118571DE-086F-444C-976E-D386CED54CF9}"/>
              </a:ext>
            </a:extLst>
          </p:cNvPr>
          <p:cNvSpPr>
            <a:spLocks noGrp="1"/>
          </p:cNvSpPr>
          <p:nvPr>
            <p:ph type="dt" sz="half" idx="13"/>
          </p:nvPr>
        </p:nvSpPr>
        <p:spPr>
          <a:xfrm>
            <a:off x="1428184" y="6471244"/>
            <a:ext cx="1190638" cy="180000"/>
          </a:xfrm>
          <a:prstGeom prst="rect">
            <a:avLst/>
          </a:prstGeom>
        </p:spPr>
        <p:txBody>
          <a:bodyPr/>
          <a:lstStyle/>
          <a:p>
            <a:fld id="{CFB1ADCF-7548-48F2-B4E3-18B2C0EE8460}" type="datetime3">
              <a:rPr lang="en-US" smtClean="0"/>
              <a:t>9 March 2026</a:t>
            </a:fld>
            <a:endParaRPr lang="en-IN"/>
          </a:p>
        </p:txBody>
      </p:sp>
      <p:sp>
        <p:nvSpPr>
          <p:cNvPr id="7" name="Slide Number Placeholder 6">
            <a:extLst>
              <a:ext uri="{FF2B5EF4-FFF2-40B4-BE49-F238E27FC236}">
                <a16:creationId xmlns:a16="http://schemas.microsoft.com/office/drawing/2014/main" id="{BAE170B6-45D3-4E0A-A799-1F973EAAC5EC}"/>
              </a:ext>
            </a:extLst>
          </p:cNvPr>
          <p:cNvSpPr>
            <a:spLocks noGrp="1"/>
          </p:cNvSpPr>
          <p:nvPr>
            <p:ph type="sldNum" sz="quarter" idx="15"/>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3617764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Standard slide_Quotes">
    <p:spTree>
      <p:nvGrpSpPr>
        <p:cNvPr id="1" name=""/>
        <p:cNvGrpSpPr/>
        <p:nvPr/>
      </p:nvGrpSpPr>
      <p:grpSpPr>
        <a:xfrm>
          <a:off x="0" y="0"/>
          <a:ext cx="0" cy="0"/>
          <a:chOff x="0" y="0"/>
          <a:chExt cx="0" cy="0"/>
        </a:xfrm>
      </p:grpSpPr>
      <p:sp>
        <p:nvSpPr>
          <p:cNvPr id="5" name="Text Placeholder 11">
            <a:extLst>
              <a:ext uri="{FF2B5EF4-FFF2-40B4-BE49-F238E27FC236}">
                <a16:creationId xmlns:a16="http://schemas.microsoft.com/office/drawing/2014/main" id="{8F291EB0-15F5-4E9A-A38B-CE3AC1452E21}"/>
              </a:ext>
            </a:extLst>
          </p:cNvPr>
          <p:cNvSpPr txBox="1">
            <a:spLocks/>
          </p:cNvSpPr>
          <p:nvPr userDrawn="1"/>
        </p:nvSpPr>
        <p:spPr>
          <a:xfrm>
            <a:off x="477102" y="1488927"/>
            <a:ext cx="2337171" cy="858838"/>
          </a:xfrm>
          <a:prstGeom prst="rect">
            <a:avLst/>
          </a:prstGeom>
        </p:spPr>
        <p:txBody>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11194">
                <a:solidFill>
                  <a:schemeClr val="tx2"/>
                </a:solidFill>
                <a:latin typeface="Georgia" panose="02040502050405020303" pitchFamily="18" charset="0"/>
              </a:rPr>
              <a:t>“</a:t>
            </a:r>
          </a:p>
        </p:txBody>
      </p:sp>
      <p:sp>
        <p:nvSpPr>
          <p:cNvPr id="7" name="Text Placeholder 6">
            <a:extLst>
              <a:ext uri="{FF2B5EF4-FFF2-40B4-BE49-F238E27FC236}">
                <a16:creationId xmlns:a16="http://schemas.microsoft.com/office/drawing/2014/main" id="{FB5D2AC0-B4F7-4455-9AE0-201966050A6D}"/>
              </a:ext>
            </a:extLst>
          </p:cNvPr>
          <p:cNvSpPr>
            <a:spLocks noGrp="1"/>
          </p:cNvSpPr>
          <p:nvPr>
            <p:ph type="body" sz="quarter" idx="10"/>
          </p:nvPr>
        </p:nvSpPr>
        <p:spPr>
          <a:xfrm>
            <a:off x="513083" y="2526765"/>
            <a:ext cx="5289245" cy="1800000"/>
          </a:xfrm>
        </p:spPr>
        <p:txBody>
          <a:bodyPr lIns="90000" tIns="46800" rIns="90000" bIns="46800"/>
          <a:lstStyle>
            <a:lvl1pPr marL="0" indent="0">
              <a:buNone/>
              <a:defRPr lang="en-US" sz="2799" dirty="0" smtClean="0">
                <a:latin typeface="Georgia" panose="02040502050405020303" pitchFamily="18" charset="0"/>
              </a:defRPr>
            </a:lvl1pPr>
          </a:lstStyle>
          <a:p>
            <a:pPr marL="356438" lvl="0" indent="-356438">
              <a:spcBef>
                <a:spcPts val="0"/>
              </a:spcBef>
            </a:pPr>
            <a:r>
              <a:rPr lang="en-US"/>
              <a:t>Edit Master text styles</a:t>
            </a:r>
          </a:p>
        </p:txBody>
      </p:sp>
      <p:sp>
        <p:nvSpPr>
          <p:cNvPr id="8" name="Text Placeholder 6">
            <a:extLst>
              <a:ext uri="{FF2B5EF4-FFF2-40B4-BE49-F238E27FC236}">
                <a16:creationId xmlns:a16="http://schemas.microsoft.com/office/drawing/2014/main" id="{F1BA83A2-78F0-4F7E-836B-9B4B87820F96}"/>
              </a:ext>
            </a:extLst>
          </p:cNvPr>
          <p:cNvSpPr>
            <a:spLocks noGrp="1"/>
          </p:cNvSpPr>
          <p:nvPr>
            <p:ph type="body" sz="quarter" idx="11" hasCustomPrompt="1"/>
          </p:nvPr>
        </p:nvSpPr>
        <p:spPr>
          <a:xfrm>
            <a:off x="513083" y="4632765"/>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Name Surname</a:t>
            </a:r>
          </a:p>
        </p:txBody>
      </p:sp>
      <p:sp>
        <p:nvSpPr>
          <p:cNvPr id="9" name="Text Placeholder 6">
            <a:extLst>
              <a:ext uri="{FF2B5EF4-FFF2-40B4-BE49-F238E27FC236}">
                <a16:creationId xmlns:a16="http://schemas.microsoft.com/office/drawing/2014/main" id="{034CE9DD-CE12-4D9F-8FD6-A2522F36C807}"/>
              </a:ext>
            </a:extLst>
          </p:cNvPr>
          <p:cNvSpPr>
            <a:spLocks noGrp="1"/>
          </p:cNvSpPr>
          <p:nvPr>
            <p:ph type="body" sz="quarter" idx="12" hasCustomPrompt="1"/>
          </p:nvPr>
        </p:nvSpPr>
        <p:spPr>
          <a:xfrm>
            <a:off x="513083" y="4971442"/>
            <a:ext cx="5289245" cy="316838"/>
          </a:xfrm>
        </p:spPr>
        <p:txBody>
          <a:bodyPr lIns="90000" tIns="46800" rIns="90000" bIns="46800"/>
          <a:lstStyle>
            <a:lvl1pPr marL="0" indent="0" algn="l" defTabSz="913943" rtl="0" eaLnBrk="1" latinLnBrk="0" hangingPunct="1">
              <a:spcBef>
                <a:spcPts val="0"/>
              </a:spcBef>
              <a:spcAft>
                <a:spcPts val="600"/>
              </a:spcAft>
              <a:buClr>
                <a:schemeClr val="tx2"/>
              </a:buClr>
              <a:buSzPct val="70000"/>
              <a:buFont typeface="Arial" pitchFamily="34" charset="0"/>
              <a:buNone/>
              <a:defRPr lang="en-US" sz="1599" kern="1200" dirty="0" smtClean="0">
                <a:solidFill>
                  <a:srgbClr val="2E2E38"/>
                </a:solidFill>
                <a:latin typeface="+mn-lt"/>
                <a:ea typeface="+mn-ea"/>
                <a:cs typeface="+mn-cs"/>
              </a:defRPr>
            </a:lvl1pPr>
            <a:lvl2pPr marL="356438" indent="0">
              <a:buNone/>
              <a:defRPr lang="en-US" sz="1999" smtClean="0">
                <a:latin typeface="+mn-lt"/>
              </a:defRPr>
            </a:lvl2pPr>
            <a:lvl3pPr>
              <a:defRPr lang="en-US" sz="1799" smtClean="0">
                <a:latin typeface="+mn-lt"/>
              </a:defRPr>
            </a:lvl3pPr>
            <a:lvl4pPr>
              <a:defRPr lang="en-US" sz="1599" smtClean="0">
                <a:latin typeface="+mn-lt"/>
              </a:defRPr>
            </a:lvl4pPr>
            <a:lvl5pPr>
              <a:defRPr lang="en-IN" sz="1599">
                <a:latin typeface="+mn-lt"/>
              </a:defRPr>
            </a:lvl5pPr>
          </a:lstStyle>
          <a:p>
            <a:pPr marL="0" lvl="0" indent="0">
              <a:spcBef>
                <a:spcPts val="0"/>
              </a:spcBef>
              <a:buNone/>
            </a:pPr>
            <a:r>
              <a:rPr lang="en-US"/>
              <a:t>Job Title</a:t>
            </a:r>
          </a:p>
        </p:txBody>
      </p:sp>
    </p:spTree>
    <p:extLst>
      <p:ext uri="{BB962C8B-B14F-4D97-AF65-F5344CB8AC3E}">
        <p14:creationId xmlns:p14="http://schemas.microsoft.com/office/powerpoint/2010/main" val="27790644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4_Standard slide_Quotes">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E28D7EA5-A532-4D8B-9984-8F3D1FEA98DB}"/>
              </a:ext>
            </a:extLst>
          </p:cNvPr>
          <p:cNvSpPr>
            <a:spLocks noGrp="1"/>
          </p:cNvSpPr>
          <p:nvPr>
            <p:ph type="body" sz="quarter" idx="10"/>
          </p:nvPr>
        </p:nvSpPr>
        <p:spPr>
          <a:xfrm>
            <a:off x="3451378" y="2060235"/>
            <a:ext cx="5289245" cy="3025522"/>
          </a:xfrm>
        </p:spPr>
        <p:txBody>
          <a:bodyPr lIns="0" tIns="0" rIns="0" bIns="0">
            <a:noAutofit/>
          </a:bodyPr>
          <a:lstStyle>
            <a:lvl1pPr marL="0" indent="0" algn="ctr">
              <a:buNone/>
              <a:defRPr lang="en-US" sz="2799" dirty="0" smtClean="0">
                <a:latin typeface="Georgia" panose="02040502050405020303" pitchFamily="18" charset="0"/>
              </a:defRPr>
            </a:lvl1pPr>
          </a:lstStyle>
          <a:p>
            <a:pPr marL="356438" lvl="0" indent="-356438" algn="ctr">
              <a:spcBef>
                <a:spcPts val="0"/>
              </a:spcBef>
            </a:pPr>
            <a:r>
              <a:rPr lang="en-US"/>
              <a:t>Edit Master text styles</a:t>
            </a:r>
          </a:p>
        </p:txBody>
      </p:sp>
      <p:sp>
        <p:nvSpPr>
          <p:cNvPr id="5" name="Text Placeholder 6">
            <a:extLst>
              <a:ext uri="{FF2B5EF4-FFF2-40B4-BE49-F238E27FC236}">
                <a16:creationId xmlns:a16="http://schemas.microsoft.com/office/drawing/2014/main" id="{9F9B9C3C-16F2-40B2-A460-0480520ECF89}"/>
              </a:ext>
            </a:extLst>
          </p:cNvPr>
          <p:cNvSpPr>
            <a:spLocks noGrp="1"/>
          </p:cNvSpPr>
          <p:nvPr>
            <p:ph type="body" sz="quarter" idx="11" hasCustomPrompt="1"/>
          </p:nvPr>
        </p:nvSpPr>
        <p:spPr>
          <a:xfrm>
            <a:off x="3451378" y="5506678"/>
            <a:ext cx="5289245" cy="316838"/>
          </a:xfrm>
        </p:spPr>
        <p:txBody>
          <a:bodyPr lIns="0" tIns="0" rIns="0" bIns="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Name Surname</a:t>
            </a:r>
          </a:p>
        </p:txBody>
      </p:sp>
      <p:sp>
        <p:nvSpPr>
          <p:cNvPr id="6" name="Text Placeholder 6">
            <a:extLst>
              <a:ext uri="{FF2B5EF4-FFF2-40B4-BE49-F238E27FC236}">
                <a16:creationId xmlns:a16="http://schemas.microsoft.com/office/drawing/2014/main" id="{8E04541C-CC5D-4455-8271-73223AE0A881}"/>
              </a:ext>
            </a:extLst>
          </p:cNvPr>
          <p:cNvSpPr>
            <a:spLocks noGrp="1"/>
          </p:cNvSpPr>
          <p:nvPr>
            <p:ph type="body" sz="quarter" idx="12" hasCustomPrompt="1"/>
          </p:nvPr>
        </p:nvSpPr>
        <p:spPr>
          <a:xfrm>
            <a:off x="3451378" y="5818717"/>
            <a:ext cx="5289245" cy="316838"/>
          </a:xfrm>
        </p:spPr>
        <p:txBody>
          <a:bodyPr vert="horz" lIns="0" tIns="0" rIns="0" bIns="0" rtlCol="0" anchor="t" anchorCtr="0">
            <a:noAutofit/>
          </a:bodyPr>
          <a:lstStyle>
            <a:lvl1pPr marL="0" indent="0" algn="ctr">
              <a:buNone/>
              <a:defRPr lang="en-US" sz="1599" dirty="0" smtClean="0">
                <a:solidFill>
                  <a:srgbClr val="2E2E38"/>
                </a:solidFill>
                <a:latin typeface="+mn-lt"/>
              </a:defRPr>
            </a:lvl1pPr>
          </a:lstStyle>
          <a:p>
            <a:pPr marL="356438" lvl="0" indent="-356438" algn="ctr">
              <a:spcBef>
                <a:spcPts val="0"/>
              </a:spcBef>
              <a:spcAft>
                <a:spcPts val="600"/>
              </a:spcAft>
            </a:pPr>
            <a:r>
              <a:rPr lang="en-US"/>
              <a:t>Job Title</a:t>
            </a:r>
          </a:p>
        </p:txBody>
      </p:sp>
      <p:sp>
        <p:nvSpPr>
          <p:cNvPr id="9" name="Text Placeholder 11">
            <a:extLst>
              <a:ext uri="{FF2B5EF4-FFF2-40B4-BE49-F238E27FC236}">
                <a16:creationId xmlns:a16="http://schemas.microsoft.com/office/drawing/2014/main" id="{FBD672D3-B116-471A-8511-D80D5D920D93}"/>
              </a:ext>
            </a:extLst>
          </p:cNvPr>
          <p:cNvSpPr txBox="1">
            <a:spLocks/>
          </p:cNvSpPr>
          <p:nvPr userDrawn="1"/>
        </p:nvSpPr>
        <p:spPr>
          <a:xfrm>
            <a:off x="4927415" y="979788"/>
            <a:ext cx="2337171" cy="882687"/>
          </a:xfrm>
          <a:prstGeom prst="rect">
            <a:avLst/>
          </a:prstGeom>
        </p:spPr>
        <p:txBody>
          <a:bodyPr lIns="0" tIns="0" rIns="0" bIns="0">
            <a:noAutofit/>
          </a:bodyPr>
          <a:lstStyle>
            <a:lvl1pPr marL="356616" indent="-356616" algn="l" defTabSz="914400" rtl="0" eaLnBrk="1" latinLnBrk="0" hangingPunct="1">
              <a:spcBef>
                <a:spcPct val="20000"/>
              </a:spcBef>
              <a:buClr>
                <a:schemeClr val="tx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1194">
                <a:solidFill>
                  <a:schemeClr val="tx2"/>
                </a:solidFill>
                <a:latin typeface="Georgia" panose="02040502050405020303" pitchFamily="18" charset="0"/>
              </a:rPr>
              <a:t>“ </a:t>
            </a:r>
          </a:p>
        </p:txBody>
      </p:sp>
    </p:spTree>
    <p:extLst>
      <p:ext uri="{BB962C8B-B14F-4D97-AF65-F5344CB8AC3E}">
        <p14:creationId xmlns:p14="http://schemas.microsoft.com/office/powerpoint/2010/main" val="6434251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5_Standard slide_Quotes">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6806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Divider 3">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D9F631-BCA2-47E9-B382-A1254CE498E4}"/>
              </a:ext>
            </a:extLst>
          </p:cNvPr>
          <p:cNvSpPr>
            <a:spLocks noGrp="1"/>
          </p:cNvSpPr>
          <p:nvPr>
            <p:ph type="dt" sz="half" idx="10"/>
          </p:nvPr>
        </p:nvSpPr>
        <p:spPr>
          <a:xfrm>
            <a:off x="1428184" y="6471244"/>
            <a:ext cx="1190638" cy="180000"/>
          </a:xfrm>
          <a:prstGeom prst="rect">
            <a:avLst/>
          </a:prstGeom>
        </p:spPr>
        <p:txBody>
          <a:bodyPr/>
          <a:lstStyle/>
          <a:p>
            <a:fld id="{8F6D9080-1DFC-4303-893C-6B8A3FEC05E8}" type="datetime3">
              <a:rPr lang="en-US" smtClean="0"/>
              <a:t>9 March 2026</a:t>
            </a:fld>
            <a:endParaRPr lang="en-IN"/>
          </a:p>
        </p:txBody>
      </p:sp>
      <p:sp>
        <p:nvSpPr>
          <p:cNvPr id="4" name="Slide Number Placeholder 3">
            <a:extLst>
              <a:ext uri="{FF2B5EF4-FFF2-40B4-BE49-F238E27FC236}">
                <a16:creationId xmlns:a16="http://schemas.microsoft.com/office/drawing/2014/main" id="{A06C50CF-7368-4D25-B2B5-360BA59E76C3}"/>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69206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
        <p:nvSpPr>
          <p:cNvPr id="2" name="Date Placeholder 1">
            <a:extLst>
              <a:ext uri="{FF2B5EF4-FFF2-40B4-BE49-F238E27FC236}">
                <a16:creationId xmlns:a16="http://schemas.microsoft.com/office/drawing/2014/main" id="{E943830C-23AE-48E4-B9DE-E91E6CE0B8B9}"/>
              </a:ext>
            </a:extLst>
          </p:cNvPr>
          <p:cNvSpPr>
            <a:spLocks noGrp="1"/>
          </p:cNvSpPr>
          <p:nvPr>
            <p:ph type="dt" sz="half" idx="11"/>
          </p:nvPr>
        </p:nvSpPr>
        <p:spPr>
          <a:xfrm>
            <a:off x="1428184" y="6471244"/>
            <a:ext cx="1190638" cy="180000"/>
          </a:xfrm>
          <a:prstGeom prst="rect">
            <a:avLst/>
          </a:prstGeom>
        </p:spPr>
        <p:txBody>
          <a:bodyPr/>
          <a:lstStyle/>
          <a:p>
            <a:fld id="{A8381BA6-C3FD-495B-9B56-A30783EC7416}" type="datetime3">
              <a:rPr lang="en-US" smtClean="0"/>
              <a:t>9 March 2026</a:t>
            </a:fld>
            <a:endParaRPr lang="en-IN"/>
          </a:p>
        </p:txBody>
      </p:sp>
      <p:sp>
        <p:nvSpPr>
          <p:cNvPr id="5" name="Slide Number Placeholder 4">
            <a:extLst>
              <a:ext uri="{FF2B5EF4-FFF2-40B4-BE49-F238E27FC236}">
                <a16:creationId xmlns:a16="http://schemas.microsoft.com/office/drawing/2014/main" id="{9B65F912-EBE8-413B-A241-0FB3A540BA82}"/>
              </a:ext>
            </a:extLst>
          </p:cNvPr>
          <p:cNvSpPr>
            <a:spLocks noGrp="1"/>
          </p:cNvSpPr>
          <p:nvPr>
            <p:ph type="sldNum" sz="quarter" idx="13"/>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8814470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Key statem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37B5C6B-B98B-4A4C-A8A7-B006989B59BC}"/>
              </a:ext>
            </a:extLst>
          </p:cNvPr>
          <p:cNvSpPr>
            <a:spLocks noGrp="1"/>
          </p:cNvSpPr>
          <p:nvPr>
            <p:ph type="dt" sz="half" idx="10"/>
          </p:nvPr>
        </p:nvSpPr>
        <p:spPr>
          <a:xfrm>
            <a:off x="1428184" y="6471244"/>
            <a:ext cx="1190638" cy="180000"/>
          </a:xfrm>
          <a:prstGeom prst="rect">
            <a:avLst/>
          </a:prstGeom>
        </p:spPr>
        <p:txBody>
          <a:bodyPr/>
          <a:lstStyle/>
          <a:p>
            <a:fld id="{2A7C88E1-FE33-48AD-9218-9258D62CDCC4}" type="datetime3">
              <a:rPr lang="en-US" smtClean="0"/>
              <a:t>9 March 2026</a:t>
            </a:fld>
            <a:endParaRPr lang="en-IN"/>
          </a:p>
        </p:txBody>
      </p:sp>
      <p:sp>
        <p:nvSpPr>
          <p:cNvPr id="7" name="Slide Number Placeholder 6">
            <a:extLst>
              <a:ext uri="{FF2B5EF4-FFF2-40B4-BE49-F238E27FC236}">
                <a16:creationId xmlns:a16="http://schemas.microsoft.com/office/drawing/2014/main" id="{BBA4D6F3-1431-4069-B814-25584667728F}"/>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9538097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Focused data">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97186E-D73E-46D0-965A-D83686BA73F7}"/>
              </a:ext>
            </a:extLst>
          </p:cNvPr>
          <p:cNvSpPr>
            <a:spLocks noGrp="1"/>
          </p:cNvSpPr>
          <p:nvPr>
            <p:ph type="dt" sz="half" idx="10"/>
          </p:nvPr>
        </p:nvSpPr>
        <p:spPr>
          <a:xfrm>
            <a:off x="1428184" y="6471244"/>
            <a:ext cx="1190638" cy="180000"/>
          </a:xfrm>
          <a:prstGeom prst="rect">
            <a:avLst/>
          </a:prstGeom>
        </p:spPr>
        <p:txBody>
          <a:bodyPr/>
          <a:lstStyle/>
          <a:p>
            <a:fld id="{22FE8F4A-3FA1-4A64-AE77-2254BB85F3D2}" type="datetime3">
              <a:rPr lang="en-US" smtClean="0"/>
              <a:t>9 March 2026</a:t>
            </a:fld>
            <a:endParaRPr lang="en-IN"/>
          </a:p>
        </p:txBody>
      </p:sp>
      <p:sp>
        <p:nvSpPr>
          <p:cNvPr id="4" name="Slide Number Placeholder 3">
            <a:extLst>
              <a:ext uri="{FF2B5EF4-FFF2-40B4-BE49-F238E27FC236}">
                <a16:creationId xmlns:a16="http://schemas.microsoft.com/office/drawing/2014/main" id="{3F37420B-CF82-4784-8E9C-5C496E27C509}"/>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9378186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329"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6405" y="1869441"/>
            <a:ext cx="5390400" cy="4256075"/>
          </a:xfrm>
        </p:spPr>
        <p:txBody>
          <a:bodyPr/>
          <a:lstStyle>
            <a:lvl1pPr>
              <a:defRPr sz="1999">
                <a:solidFill>
                  <a:schemeClr val="bg1"/>
                </a:solidFill>
              </a:defRPr>
            </a:lvl1pPr>
            <a:lvl2pPr>
              <a:defRPr sz="1799">
                <a:solidFill>
                  <a:schemeClr val="bg1"/>
                </a:solidFill>
              </a:defRPr>
            </a:lvl2pPr>
            <a:lvl3pPr>
              <a:defRPr sz="1599">
                <a:solidFill>
                  <a:schemeClr val="bg1"/>
                </a:solidFill>
              </a:defRPr>
            </a:lvl3pPr>
            <a:lvl4pPr>
              <a:defRPr sz="1399">
                <a:solidFill>
                  <a:schemeClr val="bg1"/>
                </a:solidFill>
              </a:defRPr>
            </a:lvl4pPr>
            <a:lvl5pPr>
              <a:defRPr sz="1199">
                <a:solidFill>
                  <a:schemeClr val="bg1"/>
                </a:solidFill>
              </a:defRPr>
            </a:lvl5pPr>
            <a:lvl6pPr>
              <a:defRPr sz="1799"/>
            </a:lvl6pPr>
            <a:lvl7pPr>
              <a:defRPr sz="1799"/>
            </a:lvl7pPr>
            <a:lvl8pPr>
              <a:defRPr sz="1799"/>
            </a:lvl8pPr>
            <a:lvl9pPr>
              <a:defRPr sz="17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p:cNvSpPr>
            <a:spLocks noGrp="1"/>
          </p:cNvSpPr>
          <p:nvPr>
            <p:ph type="body" sz="quarter" idx="12"/>
          </p:nvPr>
        </p:nvSpPr>
        <p:spPr>
          <a:xfrm>
            <a:off x="609601" y="1137920"/>
            <a:ext cx="5390400" cy="640800"/>
          </a:xfrm>
        </p:spPr>
        <p:txBody>
          <a:bodyPr anchor="t" anchorCtr="0"/>
          <a:lstStyle>
            <a:lvl1pPr>
              <a:buNone/>
              <a:defRPr b="1">
                <a:solidFill>
                  <a:schemeClr val="bg1"/>
                </a:solidFill>
              </a:defRPr>
            </a:lvl1pPr>
          </a:lstStyle>
          <a:p>
            <a:pPr lvl="0"/>
            <a:endParaRPr lang="en-GB"/>
          </a:p>
        </p:txBody>
      </p:sp>
      <p:sp>
        <p:nvSpPr>
          <p:cNvPr id="11" name="Text Placeholder 9"/>
          <p:cNvSpPr>
            <a:spLocks noGrp="1"/>
          </p:cNvSpPr>
          <p:nvPr>
            <p:ph type="body" sz="quarter" idx="13"/>
          </p:nvPr>
        </p:nvSpPr>
        <p:spPr>
          <a:xfrm>
            <a:off x="6196405" y="1137920"/>
            <a:ext cx="5390400" cy="640800"/>
          </a:xfrm>
        </p:spPr>
        <p:txBody>
          <a:bodyPr anchor="t" anchorCtr="0"/>
          <a:lstStyle>
            <a:lvl1pPr>
              <a:buNone/>
              <a:defRPr b="1">
                <a:solidFill>
                  <a:schemeClr val="bg1"/>
                </a:solidFill>
              </a:defRPr>
            </a:lvl1pPr>
          </a:lstStyle>
          <a:p>
            <a:pPr lvl="0"/>
            <a:endParaRPr lang="en-GB"/>
          </a:p>
        </p:txBody>
      </p:sp>
      <p:sp>
        <p:nvSpPr>
          <p:cNvPr id="2" name="Title 1"/>
          <p:cNvSpPr>
            <a:spLocks noGrp="1"/>
          </p:cNvSpPr>
          <p:nvPr>
            <p:ph type="title"/>
          </p:nvPr>
        </p:nvSpPr>
        <p:spPr>
          <a:xfrm>
            <a:off x="609601" y="294200"/>
            <a:ext cx="10972800" cy="590880"/>
          </a:xfrm>
        </p:spPr>
        <p:txBody>
          <a:bodyPr/>
          <a:lstStyle>
            <a:lvl1pPr>
              <a:defRPr>
                <a:solidFill>
                  <a:schemeClr val="bg1"/>
                </a:solidFill>
              </a:defRPr>
            </a:lvl1pPr>
          </a:lstStyle>
          <a:p>
            <a:r>
              <a:rPr lang="en-US"/>
              <a:t>Click to edit Master title style</a:t>
            </a:r>
          </a:p>
        </p:txBody>
      </p:sp>
      <p:sp>
        <p:nvSpPr>
          <p:cNvPr id="14" name="Line 10">
            <a:extLst>
              <a:ext uri="{FF2B5EF4-FFF2-40B4-BE49-F238E27FC236}">
                <a16:creationId xmlns:a16="http://schemas.microsoft.com/office/drawing/2014/main" id="{9773E7D9-2434-4381-A00D-27B62C086733}"/>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5" name="Date Placeholder 4">
            <a:extLst>
              <a:ext uri="{FF2B5EF4-FFF2-40B4-BE49-F238E27FC236}">
                <a16:creationId xmlns:a16="http://schemas.microsoft.com/office/drawing/2014/main" id="{6A3CD3F7-62DC-4CC4-8F34-C353DB087D7C}"/>
              </a:ext>
            </a:extLst>
          </p:cNvPr>
          <p:cNvSpPr>
            <a:spLocks noGrp="1"/>
          </p:cNvSpPr>
          <p:nvPr>
            <p:ph type="dt" sz="half" idx="14"/>
          </p:nvPr>
        </p:nvSpPr>
        <p:spPr>
          <a:xfrm>
            <a:off x="1428184" y="6471244"/>
            <a:ext cx="1190638" cy="180000"/>
          </a:xfrm>
          <a:prstGeom prst="rect">
            <a:avLst/>
          </a:prstGeom>
        </p:spPr>
        <p:txBody>
          <a:bodyPr/>
          <a:lstStyle/>
          <a:p>
            <a:fld id="{029E1942-EB53-47E3-BCA7-F99D05C795EC}" type="datetime3">
              <a:rPr lang="en-US" smtClean="0"/>
              <a:t>9 March 2026</a:t>
            </a:fld>
            <a:endParaRPr lang="en-IN"/>
          </a:p>
        </p:txBody>
      </p:sp>
      <p:sp>
        <p:nvSpPr>
          <p:cNvPr id="7" name="Slide Number Placeholder 6">
            <a:extLst>
              <a:ext uri="{FF2B5EF4-FFF2-40B4-BE49-F238E27FC236}">
                <a16:creationId xmlns:a16="http://schemas.microsoft.com/office/drawing/2014/main" id="{24BE1C2B-4DA4-468F-9976-85F6CBF826F1}"/>
              </a:ext>
            </a:extLst>
          </p:cNvPr>
          <p:cNvSpPr>
            <a:spLocks noGrp="1"/>
          </p:cNvSpPr>
          <p:nvPr>
            <p:ph type="sldNum" sz="quarter" idx="16"/>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4027425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5_Standard slide_no bullets">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28F8CDB-776D-4811-AE2C-217236ECDECA}"/>
              </a:ext>
            </a:extLst>
          </p:cNvPr>
          <p:cNvSpPr>
            <a:spLocks noGrp="1"/>
          </p:cNvSpPr>
          <p:nvPr>
            <p:ph type="pic" sz="quarter" idx="12"/>
          </p:nvPr>
        </p:nvSpPr>
        <p:spPr>
          <a:xfrm>
            <a:off x="6223938" y="0"/>
            <a:ext cx="5968062" cy="6858000"/>
          </a:xfrm>
        </p:spPr>
        <p:txBody>
          <a:bodyPr/>
          <a:lstStyle/>
          <a:p>
            <a:endParaRPr lang="en-IN"/>
          </a:p>
        </p:txBody>
      </p:sp>
      <p:sp>
        <p:nvSpPr>
          <p:cNvPr id="5" name="Text Placeholder 4">
            <a:extLst>
              <a:ext uri="{FF2B5EF4-FFF2-40B4-BE49-F238E27FC236}">
                <a16:creationId xmlns:a16="http://schemas.microsoft.com/office/drawing/2014/main" id="{626E96BA-E9E4-496B-8CA5-6DA27B8AD7E4}"/>
              </a:ext>
            </a:extLst>
          </p:cNvPr>
          <p:cNvSpPr>
            <a:spLocks noGrp="1"/>
          </p:cNvSpPr>
          <p:nvPr>
            <p:ph type="body" sz="quarter" idx="10" hasCustomPrompt="1"/>
          </p:nvPr>
        </p:nvSpPr>
        <p:spPr>
          <a:xfrm>
            <a:off x="369513" y="2578743"/>
            <a:ext cx="4535597" cy="1055708"/>
          </a:xfrm>
        </p:spPr>
        <p:txBody>
          <a:bodyPr/>
          <a:lstStyle>
            <a:lvl1pPr marL="0" indent="0">
              <a:buNone/>
              <a:defRPr sz="2999"/>
            </a:lvl1pPr>
          </a:lstStyle>
          <a:p>
            <a:pPr lvl="0"/>
            <a:r>
              <a:rPr lang="en-IN"/>
              <a:t>Chapter Title</a:t>
            </a:r>
          </a:p>
          <a:p>
            <a:pPr lvl="0"/>
            <a:r>
              <a:rPr lang="en-IN"/>
              <a:t>EY Interstate Light</a:t>
            </a:r>
          </a:p>
        </p:txBody>
      </p:sp>
      <p:sp>
        <p:nvSpPr>
          <p:cNvPr id="14" name="Text Placeholder 4">
            <a:extLst>
              <a:ext uri="{FF2B5EF4-FFF2-40B4-BE49-F238E27FC236}">
                <a16:creationId xmlns:a16="http://schemas.microsoft.com/office/drawing/2014/main" id="{1173C8A3-BA2F-497B-A214-45B02D73AF20}"/>
              </a:ext>
            </a:extLst>
          </p:cNvPr>
          <p:cNvSpPr>
            <a:spLocks noGrp="1"/>
          </p:cNvSpPr>
          <p:nvPr>
            <p:ph type="body" sz="quarter" idx="11" hasCustomPrompt="1"/>
          </p:nvPr>
        </p:nvSpPr>
        <p:spPr>
          <a:xfrm>
            <a:off x="369513" y="3840384"/>
            <a:ext cx="4535597" cy="1055708"/>
          </a:xfrm>
        </p:spPr>
        <p:txBody>
          <a:bodyPr/>
          <a:lstStyle>
            <a:lvl1pPr marL="0" indent="0">
              <a:buNone/>
              <a:defRPr sz="1599"/>
            </a:lvl1pPr>
          </a:lstStyle>
          <a:p>
            <a:pPr lvl="0"/>
            <a:r>
              <a:rPr lang="en-IN"/>
              <a:t>text</a:t>
            </a:r>
          </a:p>
        </p:txBody>
      </p:sp>
      <p:sp>
        <p:nvSpPr>
          <p:cNvPr id="2" name="Date Placeholder 1">
            <a:extLst>
              <a:ext uri="{FF2B5EF4-FFF2-40B4-BE49-F238E27FC236}">
                <a16:creationId xmlns:a16="http://schemas.microsoft.com/office/drawing/2014/main" id="{E3EABBDA-A77F-45A2-9996-90CD0EE5C388}"/>
              </a:ext>
            </a:extLst>
          </p:cNvPr>
          <p:cNvSpPr>
            <a:spLocks noGrp="1"/>
          </p:cNvSpPr>
          <p:nvPr>
            <p:ph type="dt" sz="half" idx="13"/>
          </p:nvPr>
        </p:nvSpPr>
        <p:spPr>
          <a:xfrm>
            <a:off x="1428184" y="6471244"/>
            <a:ext cx="1190638" cy="180000"/>
          </a:xfrm>
          <a:prstGeom prst="rect">
            <a:avLst/>
          </a:prstGeom>
        </p:spPr>
        <p:txBody>
          <a:bodyPr/>
          <a:lstStyle/>
          <a:p>
            <a:fld id="{1057AB47-DE48-402E-B5B7-CB9A0D0B7D44}" type="datetime3">
              <a:rPr lang="en-US" smtClean="0"/>
              <a:t>9 March 2026</a:t>
            </a:fld>
            <a:endParaRPr lang="en-IN"/>
          </a:p>
        </p:txBody>
      </p:sp>
      <p:sp>
        <p:nvSpPr>
          <p:cNvPr id="4" name="Slide Number Placeholder 3">
            <a:extLst>
              <a:ext uri="{FF2B5EF4-FFF2-40B4-BE49-F238E27FC236}">
                <a16:creationId xmlns:a16="http://schemas.microsoft.com/office/drawing/2014/main" id="{89D9C98C-F30E-45BC-A1D9-67DB57119DCE}"/>
              </a:ext>
            </a:extLst>
          </p:cNvPr>
          <p:cNvSpPr>
            <a:spLocks noGrp="1"/>
          </p:cNvSpPr>
          <p:nvPr>
            <p:ph type="sldNum" sz="quarter" idx="15"/>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1341637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6_Standard slide_no bullet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7C43D-4F1B-43DA-A0C6-DA6B6708E161}"/>
              </a:ext>
            </a:extLst>
          </p:cNvPr>
          <p:cNvSpPr>
            <a:spLocks noGrp="1"/>
          </p:cNvSpPr>
          <p:nvPr>
            <p:ph type="body" sz="quarter" idx="10" hasCustomPrompt="1"/>
          </p:nvPr>
        </p:nvSpPr>
        <p:spPr>
          <a:xfrm>
            <a:off x="352616" y="2851522"/>
            <a:ext cx="4445485" cy="1202318"/>
          </a:xfrm>
        </p:spPr>
        <p:txBody>
          <a:bodyPr vert="horz" lIns="0" tIns="0" rIns="0" bIns="0" rtlCol="0" anchor="ctr" anchorCtr="0">
            <a:noAutofit/>
          </a:bodyPr>
          <a:lstStyle>
            <a:lvl1pPr marL="0" indent="0">
              <a:buNone/>
              <a:defRPr kumimoji="0" lang="en-IN" sz="3598" b="0" i="0" u="none" strike="noStrike" cap="none" spc="0" normalizeH="0" baseline="0" dirty="0">
                <a:ln>
                  <a:noFill/>
                </a:ln>
                <a:solidFill>
                  <a:schemeClr val="bg1"/>
                </a:solidFill>
                <a:effectLst/>
                <a:uLnTx/>
                <a:uFillTx/>
                <a:latin typeface="EYInterstate Light" panose="02000506000000020004" pitchFamily="2" charset="0"/>
                <a:ea typeface="+mj-ea"/>
                <a:cs typeface="+mj-cs"/>
              </a:defRPr>
            </a:lvl1pPr>
          </a:lstStyle>
          <a:p>
            <a:pPr marL="356438" marR="0" lvl="0" indent="-356438" defTabSz="1007383" fontAlgn="auto">
              <a:lnSpc>
                <a:spcPct val="100000"/>
              </a:lnSpc>
              <a:spcBef>
                <a:spcPct val="0"/>
              </a:spcBef>
              <a:spcAft>
                <a:spcPts val="0"/>
              </a:spcAft>
              <a:buClrTx/>
              <a:buSzTx/>
              <a:tabLst/>
            </a:pPr>
            <a:r>
              <a:rPr lang="en-US"/>
              <a:t>Chapter Title</a:t>
            </a:r>
            <a:endParaRPr lang="en-IN"/>
          </a:p>
        </p:txBody>
      </p:sp>
      <p:sp>
        <p:nvSpPr>
          <p:cNvPr id="2" name="Date Placeholder 1">
            <a:extLst>
              <a:ext uri="{FF2B5EF4-FFF2-40B4-BE49-F238E27FC236}">
                <a16:creationId xmlns:a16="http://schemas.microsoft.com/office/drawing/2014/main" id="{D00C2D9D-B0D7-494E-9184-FCD6E94AACE5}"/>
              </a:ext>
            </a:extLst>
          </p:cNvPr>
          <p:cNvSpPr>
            <a:spLocks noGrp="1"/>
          </p:cNvSpPr>
          <p:nvPr>
            <p:ph type="dt" sz="half" idx="11"/>
          </p:nvPr>
        </p:nvSpPr>
        <p:spPr>
          <a:xfrm>
            <a:off x="1428184" y="6471244"/>
            <a:ext cx="1190638" cy="180000"/>
          </a:xfrm>
          <a:prstGeom prst="rect">
            <a:avLst/>
          </a:prstGeom>
        </p:spPr>
        <p:txBody>
          <a:bodyPr/>
          <a:lstStyle/>
          <a:p>
            <a:fld id="{6A95EDC0-9791-477B-BA1D-1692FE9BFBAA}" type="datetime3">
              <a:rPr lang="en-US" smtClean="0"/>
              <a:t>9 March 2026</a:t>
            </a:fld>
            <a:endParaRPr lang="en-IN"/>
          </a:p>
        </p:txBody>
      </p:sp>
      <p:sp>
        <p:nvSpPr>
          <p:cNvPr id="4" name="Slide Number Placeholder 3">
            <a:extLst>
              <a:ext uri="{FF2B5EF4-FFF2-40B4-BE49-F238E27FC236}">
                <a16:creationId xmlns:a16="http://schemas.microsoft.com/office/drawing/2014/main" id="{C2CE5F90-7113-4FA1-AFCF-3BC8EF010002}"/>
              </a:ext>
            </a:extLst>
          </p:cNvPr>
          <p:cNvSpPr>
            <a:spLocks noGrp="1"/>
          </p:cNvSpPr>
          <p:nvPr>
            <p:ph type="sldNum" sz="quarter" idx="13"/>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37959839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Divider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D5388A-86DF-494E-B137-EE20B7E1CF99}"/>
              </a:ext>
            </a:extLst>
          </p:cNvPr>
          <p:cNvSpPr>
            <a:spLocks noGrp="1"/>
          </p:cNvSpPr>
          <p:nvPr>
            <p:ph type="dt" sz="half" idx="10"/>
          </p:nvPr>
        </p:nvSpPr>
        <p:spPr>
          <a:xfrm>
            <a:off x="1428184" y="6471244"/>
            <a:ext cx="1190638" cy="180000"/>
          </a:xfrm>
          <a:prstGeom prst="rect">
            <a:avLst/>
          </a:prstGeom>
        </p:spPr>
        <p:txBody>
          <a:bodyPr/>
          <a:lstStyle/>
          <a:p>
            <a:fld id="{51FBADE3-2F67-4EB8-B1F9-B00F8B809757}" type="datetime3">
              <a:rPr lang="en-US" smtClean="0"/>
              <a:t>9 March 2026</a:t>
            </a:fld>
            <a:endParaRPr lang="en-IN"/>
          </a:p>
        </p:txBody>
      </p:sp>
      <p:sp>
        <p:nvSpPr>
          <p:cNvPr id="4" name="Slide Number Placeholder 3">
            <a:extLst>
              <a:ext uri="{FF2B5EF4-FFF2-40B4-BE49-F238E27FC236}">
                <a16:creationId xmlns:a16="http://schemas.microsoft.com/office/drawing/2014/main" id="{810B0A8B-D001-432B-877C-21558412BB33}"/>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Tree>
    <p:extLst>
      <p:ext uri="{BB962C8B-B14F-4D97-AF65-F5344CB8AC3E}">
        <p14:creationId xmlns:p14="http://schemas.microsoft.com/office/powerpoint/2010/main" val="41782550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3_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339494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20D6-CED8-4F62-AA93-FCC34ADFC569}"/>
              </a:ext>
            </a:extLst>
          </p:cNvPr>
          <p:cNvSpPr>
            <a:spLocks noGrp="1"/>
          </p:cNvSpPr>
          <p:nvPr>
            <p:ph type="ctrTitle"/>
          </p:nvPr>
        </p:nvSpPr>
        <p:spPr>
          <a:xfrm>
            <a:off x="512955" y="2528658"/>
            <a:ext cx="10481617" cy="2387600"/>
          </a:xfrm>
        </p:spPr>
        <p:txBody>
          <a:bodyPr anchor="t"/>
          <a:lstStyle>
            <a:lvl1pPr algn="l">
              <a:defRPr sz="4000">
                <a:solidFill>
                  <a:srgbClr val="007C91"/>
                </a:solidFill>
              </a:defRPr>
            </a:lvl1pPr>
          </a:lstStyle>
          <a:p>
            <a:r>
              <a:rPr lang="en-US"/>
              <a:t>Click to edit Master title style</a:t>
            </a:r>
            <a:endParaRPr lang="en-GB"/>
          </a:p>
        </p:txBody>
      </p:sp>
    </p:spTree>
    <p:extLst>
      <p:ext uri="{BB962C8B-B14F-4D97-AF65-F5344CB8AC3E}">
        <p14:creationId xmlns:p14="http://schemas.microsoft.com/office/powerpoint/2010/main" val="15592729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C13-0DB6-4E28-9521-FD744346DDC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51F445-D392-4789-9479-AF028CB55CC0}"/>
              </a:ext>
            </a:extLst>
          </p:cNvPr>
          <p:cNvSpPr>
            <a:spLocks noGrp="1"/>
          </p:cNvSpPr>
          <p:nvPr>
            <p:ph idx="1" hasCustomPrompt="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ooter Placeholder 8">
            <a:extLst>
              <a:ext uri="{FF2B5EF4-FFF2-40B4-BE49-F238E27FC236}">
                <a16:creationId xmlns:a16="http://schemas.microsoft.com/office/drawing/2014/main" id="{C65E6804-E436-2947-81F5-FCC5E465C142}"/>
              </a:ext>
            </a:extLst>
          </p:cNvPr>
          <p:cNvSpPr>
            <a:spLocks noGrp="1"/>
          </p:cNvSpPr>
          <p:nvPr>
            <p:ph type="ftr" sz="quarter" idx="10"/>
          </p:nvPr>
        </p:nvSpPr>
        <p:spPr/>
        <p:txBody>
          <a:bodyPr/>
          <a:lstStyle/>
          <a:p>
            <a:r>
              <a:rPr lang="en-GB"/>
              <a:t>UKHSA Annual People Survey Technology Let’s Talk! – Internal Use Only</a:t>
            </a:r>
            <a:endParaRPr lang="en-GB" sz="1400"/>
          </a:p>
        </p:txBody>
      </p:sp>
      <p:sp>
        <p:nvSpPr>
          <p:cNvPr id="10" name="Slide Number Placeholder 9">
            <a:extLst>
              <a:ext uri="{FF2B5EF4-FFF2-40B4-BE49-F238E27FC236}">
                <a16:creationId xmlns:a16="http://schemas.microsoft.com/office/drawing/2014/main" id="{4C176BFD-AF1B-334D-884D-C08E0A3D509C}"/>
              </a:ext>
            </a:extLst>
          </p:cNvPr>
          <p:cNvSpPr>
            <a:spLocks noGrp="1"/>
          </p:cNvSpPr>
          <p:nvPr>
            <p:ph type="sldNum" sz="quarter" idx="11"/>
          </p:nvPr>
        </p:nvSpPr>
        <p:spPr/>
        <p:txBody>
          <a:bodyPr/>
          <a:lstStyle/>
          <a:p>
            <a:fld id="{344369E4-5DE7-46E5-874E-4FD437973785}" type="slidenum">
              <a:rPr lang="en-GB" smtClean="0"/>
              <a:pPr/>
              <a:t>‹#›</a:t>
            </a:fld>
            <a:endParaRPr lang="en-GB" sz="1400"/>
          </a:p>
        </p:txBody>
      </p:sp>
    </p:spTree>
    <p:extLst>
      <p:ext uri="{BB962C8B-B14F-4D97-AF65-F5344CB8AC3E}">
        <p14:creationId xmlns:p14="http://schemas.microsoft.com/office/powerpoint/2010/main" val="14607558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8ADD9-C943-418A-9D35-CC865F95F64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914506-EEE5-4D8C-850E-4F0922B6B431}"/>
              </a:ext>
            </a:extLst>
          </p:cNvPr>
          <p:cNvSpPr>
            <a:spLocks noGrp="1"/>
          </p:cNvSpPr>
          <p:nvPr>
            <p:ph sz="half" idx="1" hasCustomPrompt="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5046333-AC78-4EDE-9D8D-21DCF6FCEA55}"/>
              </a:ext>
            </a:extLst>
          </p:cNvPr>
          <p:cNvSpPr>
            <a:spLocks noGrp="1"/>
          </p:cNvSpPr>
          <p:nvPr>
            <p:ph sz="half" idx="2" hasCustomPrompt="1"/>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Footer Placeholder 9">
            <a:extLst>
              <a:ext uri="{FF2B5EF4-FFF2-40B4-BE49-F238E27FC236}">
                <a16:creationId xmlns:a16="http://schemas.microsoft.com/office/drawing/2014/main" id="{AE4E894C-2A2B-A74C-BFBD-B15007757C8B}"/>
              </a:ext>
            </a:extLst>
          </p:cNvPr>
          <p:cNvSpPr>
            <a:spLocks noGrp="1"/>
          </p:cNvSpPr>
          <p:nvPr>
            <p:ph type="ftr" sz="quarter" idx="10"/>
          </p:nvPr>
        </p:nvSpPr>
        <p:spPr/>
        <p:txBody>
          <a:bodyPr/>
          <a:lstStyle/>
          <a:p>
            <a:r>
              <a:rPr lang="en-GB"/>
              <a:t>UKHSA Annual People Survey Technology Let’s Talk! – Internal Use Only</a:t>
            </a:r>
            <a:endParaRPr lang="en-GB" sz="1400"/>
          </a:p>
        </p:txBody>
      </p:sp>
      <p:sp>
        <p:nvSpPr>
          <p:cNvPr id="11" name="Slide Number Placeholder 10">
            <a:extLst>
              <a:ext uri="{FF2B5EF4-FFF2-40B4-BE49-F238E27FC236}">
                <a16:creationId xmlns:a16="http://schemas.microsoft.com/office/drawing/2014/main" id="{05D39806-AD25-A04F-9636-F009A170C8CD}"/>
              </a:ext>
            </a:extLst>
          </p:cNvPr>
          <p:cNvSpPr>
            <a:spLocks noGrp="1"/>
          </p:cNvSpPr>
          <p:nvPr>
            <p:ph type="sldNum" sz="quarter" idx="11"/>
          </p:nvPr>
        </p:nvSpPr>
        <p:spPr/>
        <p:txBody>
          <a:bodyPr/>
          <a:lstStyle/>
          <a:p>
            <a:fld id="{344369E4-5DE7-46E5-874E-4FD437973785}" type="slidenum">
              <a:rPr lang="en-GB" smtClean="0"/>
              <a:pPr/>
              <a:t>‹#›</a:t>
            </a:fld>
            <a:endParaRPr lang="en-GB" sz="1400"/>
          </a:p>
        </p:txBody>
      </p:sp>
    </p:spTree>
    <p:extLst>
      <p:ext uri="{BB962C8B-B14F-4D97-AF65-F5344CB8AC3E}">
        <p14:creationId xmlns:p14="http://schemas.microsoft.com/office/powerpoint/2010/main" val="31709039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6C20DF-56A1-44A9-A429-8B05468D2A41}"/>
              </a:ext>
            </a:extLst>
          </p:cNvPr>
          <p:cNvSpPr>
            <a:spLocks noGrp="1"/>
          </p:cNvSpPr>
          <p:nvPr>
            <p:ph type="body" idx="1"/>
          </p:nvPr>
        </p:nvSpPr>
        <p:spPr>
          <a:xfrm>
            <a:off x="839788" y="1681163"/>
            <a:ext cx="5157787" cy="823912"/>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BA82AB-E9DB-425C-9352-E0A272AD0E42}"/>
              </a:ext>
            </a:extLst>
          </p:cNvPr>
          <p:cNvSpPr>
            <a:spLocks noGrp="1"/>
          </p:cNvSpPr>
          <p:nvPr>
            <p:ph sz="half" idx="2" hasCustomPrompt="1"/>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a:p>
            <a:pPr lvl="4"/>
            <a:endParaRPr lang="en-GB"/>
          </a:p>
        </p:txBody>
      </p:sp>
      <p:sp>
        <p:nvSpPr>
          <p:cNvPr id="5" name="Text Placeholder 4">
            <a:extLst>
              <a:ext uri="{FF2B5EF4-FFF2-40B4-BE49-F238E27FC236}">
                <a16:creationId xmlns:a16="http://schemas.microsoft.com/office/drawing/2014/main" id="{E4FD6833-A055-4CE8-AB12-41A1997D9B75}"/>
              </a:ext>
            </a:extLst>
          </p:cNvPr>
          <p:cNvSpPr>
            <a:spLocks noGrp="1"/>
          </p:cNvSpPr>
          <p:nvPr>
            <p:ph type="body" sz="quarter" idx="3"/>
          </p:nvPr>
        </p:nvSpPr>
        <p:spPr>
          <a:xfrm>
            <a:off x="6172200" y="1681163"/>
            <a:ext cx="5183188" cy="823912"/>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6F2F5E-B4CD-46C2-B6AC-8052CF2B36A5}"/>
              </a:ext>
            </a:extLst>
          </p:cNvPr>
          <p:cNvSpPr>
            <a:spLocks noGrp="1"/>
          </p:cNvSpPr>
          <p:nvPr>
            <p:ph sz="quarter" idx="4" hasCustomPrompt="1"/>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a:p>
            <a:pPr lvl="4"/>
            <a:endParaRPr lang="en-GB"/>
          </a:p>
        </p:txBody>
      </p:sp>
      <p:sp>
        <p:nvSpPr>
          <p:cNvPr id="10" name="Title 9">
            <a:extLst>
              <a:ext uri="{FF2B5EF4-FFF2-40B4-BE49-F238E27FC236}">
                <a16:creationId xmlns:a16="http://schemas.microsoft.com/office/drawing/2014/main" id="{3503C25A-9D93-4F4F-8253-B7AB9B2BC6B1}"/>
              </a:ext>
            </a:extLst>
          </p:cNvPr>
          <p:cNvSpPr>
            <a:spLocks noGrp="1"/>
          </p:cNvSpPr>
          <p:nvPr>
            <p:ph type="title"/>
          </p:nvPr>
        </p:nvSpPr>
        <p:spPr/>
        <p:txBody>
          <a:bodyPr/>
          <a:lstStyle/>
          <a:p>
            <a:r>
              <a:rPr lang="en-US"/>
              <a:t>Click to edit Master title style</a:t>
            </a:r>
          </a:p>
        </p:txBody>
      </p:sp>
      <p:sp>
        <p:nvSpPr>
          <p:cNvPr id="13" name="Footer Placeholder 12">
            <a:extLst>
              <a:ext uri="{FF2B5EF4-FFF2-40B4-BE49-F238E27FC236}">
                <a16:creationId xmlns:a16="http://schemas.microsoft.com/office/drawing/2014/main" id="{CB930E85-4B03-2D45-B847-D4398F5F9147}"/>
              </a:ext>
            </a:extLst>
          </p:cNvPr>
          <p:cNvSpPr>
            <a:spLocks noGrp="1"/>
          </p:cNvSpPr>
          <p:nvPr>
            <p:ph type="ftr" sz="quarter" idx="10"/>
          </p:nvPr>
        </p:nvSpPr>
        <p:spPr/>
        <p:txBody>
          <a:bodyPr/>
          <a:lstStyle/>
          <a:p>
            <a:r>
              <a:rPr lang="en-GB"/>
              <a:t>UKHSA Annual People Survey Technology Let’s Talk! – Internal Use Only</a:t>
            </a:r>
            <a:endParaRPr lang="en-GB" sz="1400"/>
          </a:p>
        </p:txBody>
      </p:sp>
      <p:sp>
        <p:nvSpPr>
          <p:cNvPr id="14" name="Slide Number Placeholder 13">
            <a:extLst>
              <a:ext uri="{FF2B5EF4-FFF2-40B4-BE49-F238E27FC236}">
                <a16:creationId xmlns:a16="http://schemas.microsoft.com/office/drawing/2014/main" id="{5E1D73D8-44E6-D54F-8151-2BDA8CF08C55}"/>
              </a:ext>
            </a:extLst>
          </p:cNvPr>
          <p:cNvSpPr>
            <a:spLocks noGrp="1"/>
          </p:cNvSpPr>
          <p:nvPr>
            <p:ph type="sldNum" sz="quarter" idx="11"/>
          </p:nvPr>
        </p:nvSpPr>
        <p:spPr/>
        <p:txBody>
          <a:bodyPr/>
          <a:lstStyle/>
          <a:p>
            <a:fld id="{344369E4-5DE7-46E5-874E-4FD437973785}" type="slidenum">
              <a:rPr lang="en-GB" smtClean="0"/>
              <a:pPr/>
              <a:t>‹#›</a:t>
            </a:fld>
            <a:endParaRPr lang="en-GB" sz="1400"/>
          </a:p>
        </p:txBody>
      </p:sp>
    </p:spTree>
    <p:extLst>
      <p:ext uri="{BB962C8B-B14F-4D97-AF65-F5344CB8AC3E}">
        <p14:creationId xmlns:p14="http://schemas.microsoft.com/office/powerpoint/2010/main" val="30597406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BC75E-5812-48FD-BCBD-1235D22F0081}"/>
              </a:ext>
            </a:extLst>
          </p:cNvPr>
          <p:cNvSpPr>
            <a:spLocks noGrp="1"/>
          </p:cNvSpPr>
          <p:nvPr>
            <p:ph type="title"/>
          </p:nvPr>
        </p:nvSpPr>
        <p:spPr/>
        <p:txBody>
          <a:bodyPr/>
          <a:lstStyle/>
          <a:p>
            <a:r>
              <a:rPr lang="en-US"/>
              <a:t>Click to edit Master title style</a:t>
            </a:r>
            <a:endParaRPr lang="en-GB"/>
          </a:p>
        </p:txBody>
      </p:sp>
      <p:sp>
        <p:nvSpPr>
          <p:cNvPr id="8" name="Footer Placeholder 7">
            <a:extLst>
              <a:ext uri="{FF2B5EF4-FFF2-40B4-BE49-F238E27FC236}">
                <a16:creationId xmlns:a16="http://schemas.microsoft.com/office/drawing/2014/main" id="{0980B7E6-3A31-244C-8D5C-297872DC3E19}"/>
              </a:ext>
            </a:extLst>
          </p:cNvPr>
          <p:cNvSpPr>
            <a:spLocks noGrp="1"/>
          </p:cNvSpPr>
          <p:nvPr>
            <p:ph type="ftr" sz="quarter" idx="10"/>
          </p:nvPr>
        </p:nvSpPr>
        <p:spPr/>
        <p:txBody>
          <a:bodyPr/>
          <a:lstStyle/>
          <a:p>
            <a:r>
              <a:rPr lang="en-GB"/>
              <a:t>UKHSA Annual People Survey Technology Let’s Talk! – Internal Use Only</a:t>
            </a:r>
            <a:endParaRPr lang="en-GB" sz="1400"/>
          </a:p>
        </p:txBody>
      </p:sp>
      <p:sp>
        <p:nvSpPr>
          <p:cNvPr id="9" name="Slide Number Placeholder 8">
            <a:extLst>
              <a:ext uri="{FF2B5EF4-FFF2-40B4-BE49-F238E27FC236}">
                <a16:creationId xmlns:a16="http://schemas.microsoft.com/office/drawing/2014/main" id="{FF38D384-66F4-D748-9499-51EC5883028E}"/>
              </a:ext>
            </a:extLst>
          </p:cNvPr>
          <p:cNvSpPr>
            <a:spLocks noGrp="1"/>
          </p:cNvSpPr>
          <p:nvPr>
            <p:ph type="sldNum" sz="quarter" idx="11"/>
          </p:nvPr>
        </p:nvSpPr>
        <p:spPr/>
        <p:txBody>
          <a:bodyPr/>
          <a:lstStyle/>
          <a:p>
            <a:fld id="{344369E4-5DE7-46E5-874E-4FD437973785}" type="slidenum">
              <a:rPr lang="en-GB" smtClean="0"/>
              <a:pPr/>
              <a:t>‹#›</a:t>
            </a:fld>
            <a:endParaRPr lang="en-GB" sz="1400"/>
          </a:p>
        </p:txBody>
      </p:sp>
    </p:spTree>
    <p:extLst>
      <p:ext uri="{BB962C8B-B14F-4D97-AF65-F5344CB8AC3E}">
        <p14:creationId xmlns:p14="http://schemas.microsoft.com/office/powerpoint/2010/main" val="27809591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59028-153D-4ADB-A6F9-53F4166B39D0}"/>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BB9F4A1E-76CE-42C1-8758-6EC36EABB70D}"/>
              </a:ext>
            </a:extLst>
          </p:cNvPr>
          <p:cNvSpPr>
            <a:spLocks noGrp="1"/>
          </p:cNvSpPr>
          <p:nvPr>
            <p:ph type="ftr" sz="quarter" idx="10"/>
          </p:nvPr>
        </p:nvSpPr>
        <p:spPr/>
        <p:txBody>
          <a:bodyPr/>
          <a:lstStyle/>
          <a:p>
            <a:r>
              <a:rPr lang="en-GB"/>
              <a:t>Commercial in confidence </a:t>
            </a:r>
          </a:p>
        </p:txBody>
      </p:sp>
    </p:spTree>
    <p:extLst>
      <p:ext uri="{BB962C8B-B14F-4D97-AF65-F5344CB8AC3E}">
        <p14:creationId xmlns:p14="http://schemas.microsoft.com/office/powerpoint/2010/main" val="301187671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slideLayout" Target="../slideLayouts/slideLayout49.xml"/><Relationship Id="rId7"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9" name="Group 4">
            <a:extLst>
              <a:ext uri="{FF2B5EF4-FFF2-40B4-BE49-F238E27FC236}">
                <a16:creationId xmlns:a16="http://schemas.microsoft.com/office/drawing/2014/main" id="{ABA621AC-91DA-4716-A450-56540FA39C36}"/>
              </a:ext>
            </a:extLst>
          </p:cNvPr>
          <p:cNvGrpSpPr>
            <a:grpSpLocks noChangeAspect="1"/>
          </p:cNvGrpSpPr>
          <p:nvPr userDrawn="1"/>
        </p:nvGrpSpPr>
        <p:grpSpPr bwMode="auto">
          <a:xfrm>
            <a:off x="11281250" y="6356350"/>
            <a:ext cx="303055" cy="311150"/>
            <a:chOff x="7110" y="4004"/>
            <a:chExt cx="191" cy="196"/>
          </a:xfrm>
        </p:grpSpPr>
        <p:sp>
          <p:nvSpPr>
            <p:cNvPr id="11" name="Freeform 5">
              <a:extLst>
                <a:ext uri="{FF2B5EF4-FFF2-40B4-BE49-F238E27FC236}">
                  <a16:creationId xmlns:a16="http://schemas.microsoft.com/office/drawing/2014/main" id="{76E3EDA9-8EAC-419E-8C11-4E1E158AF762}"/>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6">
              <a:extLst>
                <a:ext uri="{FF2B5EF4-FFF2-40B4-BE49-F238E27FC236}">
                  <a16:creationId xmlns:a16="http://schemas.microsoft.com/office/drawing/2014/main" id="{ABC9458B-8C2C-486A-8ADE-F22CCDC7E2F8}"/>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7">
              <a:extLst>
                <a:ext uri="{FF2B5EF4-FFF2-40B4-BE49-F238E27FC236}">
                  <a16:creationId xmlns:a16="http://schemas.microsoft.com/office/drawing/2014/main" id="{0A4C4046-69B4-41DA-AA2E-E892AEC9AA90}"/>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1" name="Slide Number Placeholder 5">
            <a:extLst>
              <a:ext uri="{FF2B5EF4-FFF2-40B4-BE49-F238E27FC236}">
                <a16:creationId xmlns:a16="http://schemas.microsoft.com/office/drawing/2014/main" id="{3B540F9A-D485-4BD0-B905-41F8A52593F8}"/>
              </a:ext>
            </a:extLst>
          </p:cNvPr>
          <p:cNvSpPr>
            <a:spLocks noGrp="1"/>
          </p:cNvSpPr>
          <p:nvPr>
            <p:ph type="sldNum" sz="quarter" idx="4"/>
          </p:nvPr>
        </p:nvSpPr>
        <p:spPr>
          <a:xfrm>
            <a:off x="616900" y="6471244"/>
            <a:ext cx="662721" cy="180000"/>
          </a:xfrm>
          <a:prstGeom prst="rect">
            <a:avLst/>
          </a:prstGeom>
        </p:spPr>
        <p:txBody>
          <a:bodyPr vert="horz" lIns="0" tIns="0" rIns="0" bIns="0" rtlCol="0" anchor="ctr"/>
          <a:lstStyle>
            <a:lvl1pPr marL="0" algn="l" defTabSz="913943" rtl="0" eaLnBrk="1" latinLnBrk="0" hangingPunct="1">
              <a:defRPr lang="en-IN" sz="800" kern="1200" smtClean="0">
                <a:solidFill>
                  <a:schemeClr val="bg1"/>
                </a:solidFill>
                <a:latin typeface="EYInterstate" panose="02000503020000020004" pitchFamily="2" charset="0"/>
                <a:ea typeface="+mn-ea"/>
                <a:cs typeface="+mn-cs"/>
              </a:defRPr>
            </a:lvl1pPr>
          </a:lstStyle>
          <a:p>
            <a:r>
              <a:rPr lang="en-GB"/>
              <a:t>Page </a:t>
            </a:r>
            <a:fld id="{F1BC30E3-FFE5-4B91-AA19-87A149EBB9EE}" type="slidenum">
              <a:rPr smtClean="0"/>
              <a:pPr/>
              <a:t>‹#›</a:t>
            </a:fld>
            <a:endParaRPr/>
          </a:p>
        </p:txBody>
      </p:sp>
      <p:sp>
        <p:nvSpPr>
          <p:cNvPr id="5" name="TextBox 4">
            <a:extLst>
              <a:ext uri="{FF2B5EF4-FFF2-40B4-BE49-F238E27FC236}">
                <a16:creationId xmlns:a16="http://schemas.microsoft.com/office/drawing/2014/main" id="{A90A4863-B2FC-114A-B066-22F9A6959A69}"/>
              </a:ext>
            </a:extLst>
          </p:cNvPr>
          <p:cNvSpPr txBox="1"/>
          <p:nvPr>
            <p:extLst>
              <p:ext uri="{1162E1C5-73C7-4A58-AE30-91384D911F3F}">
                <p184:classification xmlns:p184="http://schemas.microsoft.com/office/powerpoint/2018/4/main" val="hdr"/>
              </p:ext>
            </p:extLst>
          </p:nvPr>
        </p:nvSpPr>
        <p:spPr>
          <a:xfrm>
            <a:off x="63500" y="63500"/>
            <a:ext cx="5445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OFFICIAL</a:t>
            </a:r>
          </a:p>
        </p:txBody>
      </p:sp>
    </p:spTree>
    <p:extLst>
      <p:ext uri="{BB962C8B-B14F-4D97-AF65-F5344CB8AC3E}">
        <p14:creationId xmlns:p14="http://schemas.microsoft.com/office/powerpoint/2010/main" val="13892188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3503B-7986-436C-9822-A1854F9D9A9B}"/>
              </a:ext>
            </a:extLst>
          </p:cNvPr>
          <p:cNvSpPr>
            <a:spLocks noGrp="1"/>
          </p:cNvSpPr>
          <p:nvPr>
            <p:ph type="title"/>
          </p:nvPr>
        </p:nvSpPr>
        <p:spPr>
          <a:xfrm>
            <a:off x="615956" y="179416"/>
            <a:ext cx="11123856" cy="972607"/>
          </a:xfrm>
          <a:prstGeom prst="rect">
            <a:avLst/>
          </a:prstGeom>
        </p:spPr>
        <p:txBody>
          <a:bodyPr vert="horz" lIns="91440" tIns="45720" rIns="91440" bIns="45720" rtlCol="0" anchor="t">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CF05904-E451-4DAC-98D7-82FCA86A4A8E}"/>
              </a:ext>
            </a:extLst>
          </p:cNvPr>
          <p:cNvSpPr>
            <a:spLocks noGrp="1"/>
          </p:cNvSpPr>
          <p:nvPr>
            <p:ph type="body" idx="1"/>
          </p:nvPr>
        </p:nvSpPr>
        <p:spPr>
          <a:xfrm>
            <a:off x="615955" y="1774826"/>
            <a:ext cx="1112385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78A9E1E3-76D3-49B4-BA11-2CCBDA7CADC2}"/>
              </a:ext>
            </a:extLst>
          </p:cNvPr>
          <p:cNvSpPr>
            <a:spLocks noGrp="1"/>
          </p:cNvSpPr>
          <p:nvPr>
            <p:ph type="ftr" sz="quarter" idx="3"/>
          </p:nvPr>
        </p:nvSpPr>
        <p:spPr>
          <a:xfrm>
            <a:off x="838200" y="6438850"/>
            <a:ext cx="10007606" cy="363600"/>
          </a:xfrm>
          <a:prstGeom prst="rect">
            <a:avLst/>
          </a:prstGeom>
        </p:spPr>
        <p:txBody>
          <a:bodyPr vert="horz" lIns="91440" tIns="45720" rIns="91440" bIns="45720" rtlCol="0" anchor="ctr"/>
          <a:lstStyle>
            <a:lvl1pPr algn="l">
              <a:defRPr sz="1400">
                <a:solidFill>
                  <a:srgbClr val="007C91"/>
                </a:solidFill>
                <a:latin typeface="Calibri" panose="020F0502020204030204" pitchFamily="34" charset="0"/>
                <a:cs typeface="Calibri" panose="020F0502020204030204" pitchFamily="34" charset="0"/>
              </a:defRPr>
            </a:lvl1pPr>
          </a:lstStyle>
          <a:p>
            <a:r>
              <a:rPr lang="en-GB"/>
              <a:t>UKHSA Annual People Survey Technology Let’s Talk! – Internal Use Only</a:t>
            </a:r>
          </a:p>
        </p:txBody>
      </p:sp>
      <p:sp>
        <p:nvSpPr>
          <p:cNvPr id="6" name="Slide Number Placeholder 5">
            <a:extLst>
              <a:ext uri="{FF2B5EF4-FFF2-40B4-BE49-F238E27FC236}">
                <a16:creationId xmlns:a16="http://schemas.microsoft.com/office/drawing/2014/main" id="{1BF5F349-A985-4FF9-9FE5-9D2B321F5687}"/>
              </a:ext>
            </a:extLst>
          </p:cNvPr>
          <p:cNvSpPr>
            <a:spLocks noGrp="1"/>
          </p:cNvSpPr>
          <p:nvPr>
            <p:ph type="sldNum" sz="quarter" idx="4"/>
          </p:nvPr>
        </p:nvSpPr>
        <p:spPr>
          <a:xfrm>
            <a:off x="130629" y="6438850"/>
            <a:ext cx="596332" cy="365125"/>
          </a:xfrm>
          <a:prstGeom prst="rect">
            <a:avLst/>
          </a:prstGeom>
        </p:spPr>
        <p:txBody>
          <a:bodyPr vert="horz" lIns="91440" tIns="45720" rIns="91440" bIns="45720" rtlCol="0" anchor="ctr"/>
          <a:lstStyle>
            <a:lvl1pPr algn="r">
              <a:defRPr sz="1400">
                <a:solidFill>
                  <a:srgbClr val="007C91"/>
                </a:solidFill>
                <a:latin typeface="Calibri" panose="020F0502020204030204" pitchFamily="34" charset="0"/>
                <a:cs typeface="Calibri" panose="020F0502020204030204" pitchFamily="34" charset="0"/>
              </a:defRPr>
            </a:lvl1pPr>
          </a:lstStyle>
          <a:p>
            <a:fld id="{344369E4-5DE7-46E5-874E-4FD437973785}" type="slidenum">
              <a:rPr lang="en-GB" smtClean="0"/>
              <a:pPr/>
              <a:t>‹#›</a:t>
            </a:fld>
            <a:endParaRPr lang="en-GB"/>
          </a:p>
        </p:txBody>
      </p:sp>
      <p:sp>
        <p:nvSpPr>
          <p:cNvPr id="7" name="TextBox 6">
            <a:extLst>
              <a:ext uri="{FF2B5EF4-FFF2-40B4-BE49-F238E27FC236}">
                <a16:creationId xmlns:a16="http://schemas.microsoft.com/office/drawing/2014/main" id="{1891153D-1365-3AD9-63A3-93D8996E9EAB}"/>
              </a:ext>
            </a:extLst>
          </p:cNvPr>
          <p:cNvSpPr txBox="1"/>
          <p:nvPr>
            <p:extLst>
              <p:ext uri="{1162E1C5-73C7-4A58-AE30-91384D911F3F}">
                <p184:classification xmlns:p184="http://schemas.microsoft.com/office/powerpoint/2018/4/main" val="hdr"/>
              </p:ext>
            </p:extLst>
          </p:nvPr>
        </p:nvSpPr>
        <p:spPr>
          <a:xfrm>
            <a:off x="63500" y="63500"/>
            <a:ext cx="5445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OFFICIAL</a:t>
            </a:r>
          </a:p>
        </p:txBody>
      </p:sp>
    </p:spTree>
    <p:extLst>
      <p:ext uri="{BB962C8B-B14F-4D97-AF65-F5344CB8AC3E}">
        <p14:creationId xmlns:p14="http://schemas.microsoft.com/office/powerpoint/2010/main" val="2162512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Lst>
  <p:hf hdr="0" dt="0"/>
  <p:txStyles>
    <p:titleStyle>
      <a:lvl1pPr algn="l" defTabSz="914400" rtl="0" eaLnBrk="1" latinLnBrk="0" hangingPunct="1">
        <a:lnSpc>
          <a:spcPct val="90000"/>
        </a:lnSpc>
        <a:spcBef>
          <a:spcPct val="0"/>
        </a:spcBef>
        <a:buNone/>
        <a:defRPr sz="3800" kern="1200">
          <a:solidFill>
            <a:srgbClr val="007C9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rgbClr val="007C91"/>
        </a:buClr>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rgbClr val="007C91"/>
        </a:buClr>
        <a:buFont typeface="Arial" panose="020B0604020202020204" pitchFamily="34" charset="0"/>
        <a:buChar char="•"/>
        <a:defRPr sz="22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rgbClr val="007C91"/>
        </a:buClr>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rgbClr val="007C91"/>
        </a:buClr>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rgbClr val="007C91"/>
        </a:buClr>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hyperlink" Target="https://ukhsa.atlassian.net/wiki/spaces/DDSH/pages/416287279/Decision+-+Vector+Embedding+will+be+persisted+within+a+database." TargetMode="External"/><Relationship Id="rId2" Type="http://schemas.openxmlformats.org/officeDocument/2006/relationships/notesSlide" Target="../notesSlides/notesSlide5.xml"/><Relationship Id="rId1" Type="http://schemas.openxmlformats.org/officeDocument/2006/relationships/slideLayout" Target="../slideLayouts/slideLayout49.xml"/><Relationship Id="rId4" Type="http://schemas.openxmlformats.org/officeDocument/2006/relationships/hyperlink" Target="https://ukhsa.atlassian.net/wiki/spaces/DDSH/pages/421298242/Decision+-+AWS+Deployment+for+Evidence+Gap+Mapping+use-cas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391C9752-88E1-1C22-8F89-5841CCD0CB62}"/>
              </a:ext>
            </a:extLst>
          </p:cNvPr>
          <p:cNvSpPr>
            <a:spLocks noGrp="1"/>
          </p:cNvSpPr>
          <p:nvPr>
            <p:ph type="ctrTitle"/>
          </p:nvPr>
        </p:nvSpPr>
        <p:spPr/>
        <p:txBody>
          <a:bodyPr/>
          <a:lstStyle/>
          <a:p>
            <a:r>
              <a:rPr lang="en-GB">
                <a:latin typeface="Calibri"/>
                <a:ea typeface="Calibri"/>
                <a:cs typeface="Calibri"/>
              </a:rPr>
              <a:t>UKHSA-AIR-RIS- Use Case development </a:t>
            </a:r>
            <a:br>
              <a:rPr lang="en-GB">
                <a:latin typeface="Calibri"/>
                <a:ea typeface="Calibri"/>
                <a:cs typeface="Calibri"/>
              </a:rPr>
            </a:br>
            <a:r>
              <a:rPr lang="en-GB">
                <a:latin typeface="Calibri"/>
                <a:ea typeface="Calibri"/>
                <a:cs typeface="Calibri"/>
              </a:rPr>
              <a:t>Weekly reports</a:t>
            </a:r>
            <a:endParaRPr lang="en-US"/>
          </a:p>
        </p:txBody>
      </p:sp>
      <p:sp>
        <p:nvSpPr>
          <p:cNvPr id="5" name="Footer Placeholder 4">
            <a:extLst>
              <a:ext uri="{FF2B5EF4-FFF2-40B4-BE49-F238E27FC236}">
                <a16:creationId xmlns:a16="http://schemas.microsoft.com/office/drawing/2014/main" id="{609D975C-C9CF-A474-731D-DA0260B7E2BA}"/>
              </a:ext>
            </a:extLst>
          </p:cNvPr>
          <p:cNvSpPr>
            <a:spLocks noGrp="1"/>
          </p:cNvSpPr>
          <p:nvPr>
            <p:ph type="ftr" sz="quarter" idx="4294967295"/>
          </p:nvPr>
        </p:nvSpPr>
        <p:spPr>
          <a:xfrm>
            <a:off x="0" y="6438900"/>
            <a:ext cx="10007600" cy="363538"/>
          </a:xfrm>
        </p:spPr>
        <p:txBody>
          <a:bodyPr/>
          <a:lstStyle/>
          <a:p>
            <a:r>
              <a:rPr lang="en-GB"/>
              <a:t>UKHSA Annual People Survey Technology Let’s Talk! – Internal Use Only</a:t>
            </a:r>
          </a:p>
        </p:txBody>
      </p:sp>
      <p:sp>
        <p:nvSpPr>
          <p:cNvPr id="6" name="Slide Number Placeholder 5">
            <a:extLst>
              <a:ext uri="{FF2B5EF4-FFF2-40B4-BE49-F238E27FC236}">
                <a16:creationId xmlns:a16="http://schemas.microsoft.com/office/drawing/2014/main" id="{74840FD3-51F8-7AB9-28FD-FCFE938C12B2}"/>
              </a:ext>
            </a:extLst>
          </p:cNvPr>
          <p:cNvSpPr>
            <a:spLocks noGrp="1"/>
          </p:cNvSpPr>
          <p:nvPr>
            <p:ph type="sldNum" sz="quarter" idx="4294967295"/>
          </p:nvPr>
        </p:nvSpPr>
        <p:spPr>
          <a:xfrm>
            <a:off x="0" y="6438900"/>
            <a:ext cx="596900" cy="365125"/>
          </a:xfrm>
        </p:spPr>
        <p:txBody>
          <a:bodyPr/>
          <a:lstStyle/>
          <a:p>
            <a:fld id="{344369E4-5DE7-46E5-874E-4FD437973785}" type="slidenum">
              <a:rPr lang="en-GB" smtClean="0"/>
              <a:pPr/>
              <a:t>1</a:t>
            </a:fld>
            <a:endParaRPr lang="en-GB"/>
          </a:p>
        </p:txBody>
      </p:sp>
    </p:spTree>
    <p:extLst>
      <p:ext uri="{BB962C8B-B14F-4D97-AF65-F5344CB8AC3E}">
        <p14:creationId xmlns:p14="http://schemas.microsoft.com/office/powerpoint/2010/main" val="3327067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CBCEF-D4C2-70F1-0B3F-B03BE724D696}"/>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0132CC94-5445-3256-299F-B155E313E0F1}"/>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B26D943B-73D4-9D86-1456-A3A3C12ACA2B}"/>
              </a:ext>
            </a:extLst>
          </p:cNvPr>
          <p:cNvSpPr txBox="1">
            <a:spLocks/>
          </p:cNvSpPr>
          <p:nvPr/>
        </p:nvSpPr>
        <p:spPr>
          <a:xfrm>
            <a:off x="841952" y="-16817"/>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dirty="0">
                <a:ln>
                  <a:noFill/>
                </a:ln>
                <a:solidFill>
                  <a:srgbClr val="007C91"/>
                </a:solidFill>
                <a:effectLst/>
                <a:uLnTx/>
                <a:uFillTx/>
                <a:latin typeface="Calibri" panose="020F0502020204030204"/>
                <a:ea typeface="+mj-ea"/>
                <a:cs typeface="Arial"/>
              </a:rPr>
              <a:t>Project Update |</a:t>
            </a:r>
            <a:r>
              <a:rPr lang="en-GB" sz="2400" dirty="0">
                <a:solidFill>
                  <a:srgbClr val="242424"/>
                </a:solidFill>
                <a:latin typeface="Aptos Narrow"/>
                <a:cs typeface="Arial"/>
              </a:rPr>
              <a:t>UKHSA-AIR-RIS- AI Readiness Use Case Development 06/03 </a:t>
            </a:r>
            <a:endParaRPr lang="en-US" sz="2400" b="1" u="none" strike="noStrike" kern="1200" cap="none" spc="0" normalizeH="0" baseline="0" noProof="0" dirty="0">
              <a:ln>
                <a:noFill/>
              </a:ln>
              <a:solidFill>
                <a:srgbClr val="007C91"/>
              </a:solidFill>
              <a:effectLst/>
              <a:uLnTx/>
              <a:uFillTx/>
              <a:latin typeface="Calibri" panose="020F0502020204030204"/>
              <a:ea typeface="Calibri"/>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dirty="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3C442881-4A97-D52D-A667-F454B5B09BB5}"/>
              </a:ext>
            </a:extLst>
          </p:cNvPr>
          <p:cNvGraphicFramePr>
            <a:graphicFrameLocks noGrp="1"/>
          </p:cNvGraphicFramePr>
          <p:nvPr>
            <p:extLst>
              <p:ext uri="{D42A27DB-BD31-4B8C-83A1-F6EECF244321}">
                <p14:modId xmlns:p14="http://schemas.microsoft.com/office/powerpoint/2010/main" val="804438102"/>
              </p:ext>
            </p:extLst>
          </p:nvPr>
        </p:nvGraphicFramePr>
        <p:xfrm>
          <a:off x="5527675" y="1887415"/>
          <a:ext cx="6555965" cy="4919437"/>
        </p:xfrm>
        <a:graphic>
          <a:graphicData uri="http://schemas.openxmlformats.org/drawingml/2006/table">
            <a:tbl>
              <a:tblPr firstRow="1">
                <a:tableStyleId>{7E9639D4-E3E2-4D34-9284-5A2195B3D0D7}</a:tableStyleId>
              </a:tblPr>
              <a:tblGrid>
                <a:gridCol w="3177392">
                  <a:extLst>
                    <a:ext uri="{9D8B030D-6E8A-4147-A177-3AD203B41FA5}">
                      <a16:colId xmlns:a16="http://schemas.microsoft.com/office/drawing/2014/main" val="20000"/>
                    </a:ext>
                  </a:extLst>
                </a:gridCol>
                <a:gridCol w="3378573">
                  <a:extLst>
                    <a:ext uri="{9D8B030D-6E8A-4147-A177-3AD203B41FA5}">
                      <a16:colId xmlns:a16="http://schemas.microsoft.com/office/drawing/2014/main" val="195155734"/>
                    </a:ext>
                  </a:extLst>
                </a:gridCol>
              </a:tblGrid>
              <a:tr h="35298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dirty="0">
                          <a:ln>
                            <a:noFill/>
                          </a:ln>
                          <a:solidFill>
                            <a:schemeClr val="bg1"/>
                          </a:solidFill>
                          <a:effectLst/>
                          <a:latin typeface="+mn-lt"/>
                        </a:rPr>
                        <a:t>B.  KEY ACCOMPLISHMENTS THIS PERIOD</a:t>
                      </a:r>
                      <a:endParaRPr kumimoji="0" lang="en-CA" sz="800" b="1" i="0" u="none" strike="noStrike" cap="none" normalizeH="0" baseline="0" dirty="0">
                        <a:ln>
                          <a:noFill/>
                        </a:ln>
                        <a:solidFill>
                          <a:schemeClr val="bg1"/>
                        </a:solidFill>
                        <a:effectLst/>
                        <a:latin typeface="+mn-lt"/>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949991">
                <a:tc gridSpan="2">
                  <a:txBody>
                    <a:bodyPr/>
                    <a:lstStyle/>
                    <a:p>
                      <a:pPr marL="0" marR="0" lvl="0" indent="0" algn="l" rtl="0" eaLnBrk="0" fontAlgn="base" latinLnBrk="0" hangingPunct="0">
                        <a:lnSpc>
                          <a:spcPct val="100000"/>
                        </a:lnSpc>
                        <a:spcBef>
                          <a:spcPct val="0"/>
                        </a:spcBef>
                        <a:spcAft>
                          <a:spcPct val="10000"/>
                        </a:spcAft>
                        <a:buClrTx/>
                        <a:buSzTx/>
                        <a:buNone/>
                      </a:pPr>
                      <a:r>
                        <a:rPr lang="en-GB" sz="800" b="1" i="0" u="none" strike="noStrike" kern="1200" cap="none" spc="0" normalizeH="0" baseline="0" dirty="0">
                          <a:ln>
                            <a:noFill/>
                          </a:ln>
                          <a:solidFill>
                            <a:schemeClr val="tx1">
                              <a:lumMod val="65000"/>
                              <a:lumOff val="35000"/>
                            </a:schemeClr>
                          </a:solidFill>
                          <a:effectLst/>
                          <a:uLnTx/>
                          <a:uFillTx/>
                          <a:latin typeface="+mn-lt"/>
                          <a:ea typeface="+mn-ea"/>
                          <a:cs typeface="Calibri"/>
                        </a:rPr>
                        <a:t>General</a:t>
                      </a:r>
                      <a:endParaRPr lang="en-GB" sz="800" b="0" i="0" u="none" strike="noStrike" kern="1200" cap="none" spc="0" normalizeH="0" baseline="0" dirty="0">
                        <a:ln>
                          <a:noFill/>
                        </a:ln>
                        <a:solidFill>
                          <a:schemeClr val="tx1">
                            <a:lumMod val="65000"/>
                            <a:lumOff val="35000"/>
                          </a:schemeClr>
                        </a:solidFill>
                        <a:effectLst/>
                        <a:uLnTx/>
                        <a:uFillTx/>
                        <a:latin typeface="+mn-lt"/>
                        <a:ea typeface="+mn-ea"/>
                        <a:cs typeface="Calibri"/>
                      </a:endParaRPr>
                    </a:p>
                    <a:p>
                      <a:pPr marL="0" marR="0" lvl="0" indent="0" algn="l" rtl="0" eaLnBrk="0" fontAlgn="base" latinLnBrk="0" hangingPunct="0">
                        <a:lnSpc>
                          <a:spcPct val="100000"/>
                        </a:lnSpc>
                        <a:spcBef>
                          <a:spcPct val="0"/>
                        </a:spcBef>
                        <a:spcAft>
                          <a:spcPct val="10000"/>
                        </a:spcAft>
                        <a:buClrTx/>
                        <a:buSzTx/>
                        <a:buNone/>
                      </a:pPr>
                      <a:r>
                        <a:rPr kumimoji="0" lang="en-GB" sz="800" b="0" i="0" u="none" strike="noStrike" kern="1200" cap="none" spc="0" normalizeH="0" baseline="0" dirty="0">
                          <a:ln>
                            <a:noFill/>
                          </a:ln>
                          <a:solidFill>
                            <a:schemeClr val="tx1">
                              <a:lumMod val="65000"/>
                              <a:lumOff val="35000"/>
                            </a:schemeClr>
                          </a:solidFill>
                          <a:effectLst/>
                          <a:uLnTx/>
                          <a:uFillTx/>
                          <a:latin typeface="+mn-lt"/>
                          <a:ea typeface="+mn-ea"/>
                          <a:cs typeface="Calibri"/>
                        </a:rPr>
                        <a:t>Submitted security architecture statement to support non prod AWS account vend </a:t>
                      </a:r>
                    </a:p>
                    <a:p>
                      <a:pPr marL="0" marR="0" lvl="0" indent="0" algn="l">
                        <a:lnSpc>
                          <a:spcPct val="100000"/>
                        </a:lnSpc>
                        <a:buSzTx/>
                        <a:buNone/>
                      </a:pPr>
                      <a:endParaRPr lang="en-US" sz="800" b="0" i="0" u="none" strike="noStrike" kern="1200" cap="none" spc="0" normalizeH="0" baseline="0" noProof="0" dirty="0">
                        <a:ln>
                          <a:noFill/>
                        </a:ln>
                        <a:solidFill>
                          <a:schemeClr val="tx1">
                            <a:lumMod val="65000"/>
                            <a:lumOff val="35000"/>
                          </a:schemeClr>
                        </a:solidFill>
                        <a:effectLst/>
                        <a:uLnTx/>
                        <a:uFillTx/>
                        <a:latin typeface="+mn-lt"/>
                      </a:endParaRPr>
                    </a:p>
                    <a:p>
                      <a:pPr marL="0" marR="0" lvl="0" indent="0" algn="l">
                        <a:lnSpc>
                          <a:spcPct val="100000"/>
                        </a:lnSpc>
                        <a:spcBef>
                          <a:spcPct val="0"/>
                        </a:spcBef>
                        <a:spcAft>
                          <a:spcPct val="10000"/>
                        </a:spcAft>
                        <a:buClr>
                          <a:srgbClr val="000000"/>
                        </a:buClr>
                        <a:buSzTx/>
                        <a:buNone/>
                      </a:pPr>
                      <a:r>
                        <a:rPr lang="en-US" sz="800" b="1" i="0" u="none" strike="noStrike" kern="1200" cap="none" spc="0" normalizeH="0" baseline="0" noProof="0" dirty="0">
                          <a:ln>
                            <a:noFill/>
                          </a:ln>
                          <a:solidFill>
                            <a:schemeClr val="tx1">
                              <a:lumMod val="65000"/>
                              <a:lumOff val="35000"/>
                            </a:schemeClr>
                          </a:solidFill>
                          <a:effectLst/>
                          <a:uLnTx/>
                          <a:uFillTx/>
                          <a:latin typeface="+mn-lt"/>
                        </a:rPr>
                        <a:t>WS2</a:t>
                      </a:r>
                      <a:endParaRPr lang="en-GB" sz="800" dirty="0">
                        <a:latin typeface="+mn-lt"/>
                      </a:endParaRPr>
                    </a:p>
                    <a:p>
                      <a:pPr marL="171450" indent="-171450">
                        <a:buFont typeface="Arial" panose="020B0604020202020204" pitchFamily="34" charset="0"/>
                        <a:buChar char="•"/>
                      </a:pPr>
                      <a:r>
                        <a:rPr lang="en-GB" sz="800" dirty="0">
                          <a:effectLst/>
                          <a:latin typeface="+mn-lt"/>
                        </a:rPr>
                        <a:t>Investigated </a:t>
                      </a:r>
                      <a:r>
                        <a:rPr lang="en-GB" sz="800" dirty="0" err="1">
                          <a:effectLst/>
                          <a:latin typeface="+mn-lt"/>
                        </a:rPr>
                        <a:t>Docling</a:t>
                      </a:r>
                      <a:r>
                        <a:rPr lang="en-GB" sz="800" dirty="0">
                          <a:effectLst/>
                          <a:latin typeface="+mn-lt"/>
                        </a:rPr>
                        <a:t> versus </a:t>
                      </a:r>
                      <a:r>
                        <a:rPr lang="en-GB" sz="800" dirty="0" err="1">
                          <a:effectLst/>
                          <a:latin typeface="+mn-lt"/>
                        </a:rPr>
                        <a:t>Textract</a:t>
                      </a:r>
                      <a:r>
                        <a:rPr lang="en-GB" sz="800" dirty="0">
                          <a:effectLst/>
                          <a:latin typeface="+mn-lt"/>
                        </a:rPr>
                        <a:t>. Agreed with other data scientists in our meeting to use </a:t>
                      </a:r>
                      <a:r>
                        <a:rPr lang="en-GB" sz="800" dirty="0" err="1">
                          <a:effectLst/>
                          <a:latin typeface="+mn-lt"/>
                        </a:rPr>
                        <a:t>docling</a:t>
                      </a:r>
                      <a:r>
                        <a:rPr lang="en-GB" sz="800" dirty="0">
                          <a:effectLst/>
                          <a:latin typeface="+mn-lt"/>
                        </a:rPr>
                        <a:t> as the default extractor. </a:t>
                      </a:r>
                      <a:endParaRPr lang="en-GB" sz="800" dirty="0">
                        <a:latin typeface="+mn-lt"/>
                      </a:endParaRPr>
                    </a:p>
                    <a:p>
                      <a:pPr marL="171450" indent="-171450">
                        <a:buFont typeface="Arial" panose="020B0604020202020204" pitchFamily="34" charset="0"/>
                        <a:buChar char="•"/>
                      </a:pPr>
                      <a:r>
                        <a:rPr lang="en-GB" sz="800" dirty="0">
                          <a:effectLst/>
                          <a:latin typeface="+mn-lt"/>
                        </a:rPr>
                        <a:t>Tested extraction features from main branch. </a:t>
                      </a:r>
                    </a:p>
                    <a:p>
                      <a:pPr marL="171450" indent="-171450">
                        <a:buFont typeface="Arial" panose="020B0604020202020204" pitchFamily="34" charset="0"/>
                        <a:buChar char="•"/>
                      </a:pPr>
                      <a:r>
                        <a:rPr lang="en-GB" sz="800" dirty="0">
                          <a:effectLst/>
                          <a:latin typeface="+mn-lt"/>
                        </a:rPr>
                        <a:t>Successfully configured </a:t>
                      </a:r>
                      <a:r>
                        <a:rPr lang="en-GB" sz="800" dirty="0" err="1">
                          <a:effectLst/>
                          <a:latin typeface="+mn-lt"/>
                        </a:rPr>
                        <a:t>Docling</a:t>
                      </a:r>
                      <a:r>
                        <a:rPr lang="en-GB" sz="800" dirty="0">
                          <a:effectLst/>
                          <a:latin typeface="+mn-lt"/>
                        </a:rPr>
                        <a:t> locally from the main branch.</a:t>
                      </a:r>
                      <a:endParaRPr lang="en-GB" sz="800" dirty="0">
                        <a:latin typeface="+mn-lt"/>
                      </a:endParaRPr>
                    </a:p>
                    <a:p>
                      <a:pPr marL="171450" indent="-171450">
                        <a:buFont typeface="Arial" panose="020B0604020202020204" pitchFamily="34" charset="0"/>
                        <a:buChar char="•"/>
                      </a:pPr>
                      <a:r>
                        <a:rPr lang="en-GB" sz="800" dirty="0">
                          <a:effectLst/>
                          <a:latin typeface="+mn-lt"/>
                        </a:rPr>
                        <a:t>Worked on bug fixes of extraction features that weren’t working.</a:t>
                      </a:r>
                    </a:p>
                    <a:p>
                      <a:pPr marL="171450" indent="-171450">
                        <a:buFont typeface="Arial" panose="020B0604020202020204" pitchFamily="34" charset="0"/>
                        <a:buChar char="•"/>
                      </a:pPr>
                      <a:r>
                        <a:rPr lang="en-GB" sz="800" dirty="0">
                          <a:latin typeface="+mn-lt"/>
                        </a:rPr>
                        <a:t>Close collaboration between UCD and engineering to ensure alignment on wireframes.</a:t>
                      </a:r>
                    </a:p>
                    <a:p>
                      <a:pPr marL="171450" indent="-171450">
                        <a:buFont typeface="Arial" panose="020B0604020202020204" pitchFamily="34" charset="0"/>
                        <a:buChar char="•"/>
                      </a:pPr>
                      <a:r>
                        <a:rPr lang="en-GB" sz="800" dirty="0">
                          <a:latin typeface="+mn-lt"/>
                        </a:rPr>
                        <a:t>Revised metadata ingestion approach.</a:t>
                      </a:r>
                    </a:p>
                    <a:p>
                      <a:pPr marL="171450" indent="-171450">
                        <a:buFont typeface="Arial" panose="020B0604020202020204" pitchFamily="34" charset="0"/>
                        <a:buChar char="•"/>
                      </a:pPr>
                      <a:r>
                        <a:rPr lang="en-GB" sz="800" dirty="0">
                          <a:latin typeface="+mn-lt"/>
                        </a:rPr>
                        <a:t>Finalised MVP design of search results.</a:t>
                      </a:r>
                    </a:p>
                    <a:p>
                      <a:pPr marL="171450" indent="-171450">
                        <a:buFont typeface="Arial" panose="020B0604020202020204" pitchFamily="34" charset="0"/>
                        <a:buChar char="•"/>
                      </a:pPr>
                      <a:r>
                        <a:rPr lang="en-GB" sz="800" dirty="0">
                          <a:latin typeface="+mn-lt"/>
                        </a:rPr>
                        <a:t>Finished restructuring the code organisation</a:t>
                      </a:r>
                    </a:p>
                    <a:p>
                      <a:pPr marL="171450" indent="-171450">
                        <a:buFont typeface="Arial" panose="020B0604020202020204" pitchFamily="34" charset="0"/>
                        <a:buChar char="•"/>
                      </a:pPr>
                      <a:r>
                        <a:rPr lang="en-GB" sz="800" dirty="0">
                          <a:latin typeface="+mn-lt"/>
                        </a:rPr>
                        <a:t>Implemented the documents services.</a:t>
                      </a:r>
                    </a:p>
                    <a:p>
                      <a:pPr marL="171450" indent="-171450">
                        <a:buFont typeface="Arial" panose="020B0604020202020204" pitchFamily="34" charset="0"/>
                        <a:buChar char="•"/>
                      </a:pPr>
                      <a:r>
                        <a:rPr lang="en-GB" sz="800" dirty="0">
                          <a:latin typeface="+mn-lt"/>
                        </a:rPr>
                        <a:t>Implemented batch upload of document.</a:t>
                      </a:r>
                    </a:p>
                    <a:p>
                      <a:pPr marL="171450" indent="-171450">
                        <a:buFont typeface="Arial" panose="020B0604020202020204" pitchFamily="34" charset="0"/>
                        <a:buChar char="•"/>
                      </a:pPr>
                      <a:r>
                        <a:rPr lang="en-GB" sz="800" dirty="0">
                          <a:latin typeface="+mn-lt"/>
                        </a:rPr>
                        <a:t>Working on deployment configuration (infra-as-code).</a:t>
                      </a:r>
                    </a:p>
                    <a:p>
                      <a:pPr marL="171450" indent="-171450">
                        <a:buFont typeface="Arial" panose="020B0604020202020204" pitchFamily="34" charset="0"/>
                        <a:buChar char="•"/>
                      </a:pPr>
                      <a:r>
                        <a:rPr lang="en-GB" sz="800" dirty="0">
                          <a:latin typeface="+mn-lt"/>
                        </a:rPr>
                        <a:t>Defined basic public API for the front end.</a:t>
                      </a:r>
                    </a:p>
                    <a:p>
                      <a:pPr marL="171450" indent="-171450">
                        <a:buFont typeface="Arial" panose="020B0604020202020204" pitchFamily="34" charset="0"/>
                        <a:buChar char="•"/>
                      </a:pPr>
                      <a:r>
                        <a:rPr lang="en-GB" sz="800" dirty="0">
                          <a:latin typeface="+mn-lt"/>
                        </a:rPr>
                        <a:t>Defined interfaces for extractors and embedders.</a:t>
                      </a:r>
                    </a:p>
                    <a:p>
                      <a:endParaRPr lang="en-GB" sz="800" dirty="0">
                        <a:latin typeface="+mn-lt"/>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a:ln>
                            <a:noFill/>
                          </a:ln>
                          <a:solidFill>
                            <a:schemeClr val="bg1"/>
                          </a:solidFill>
                          <a:effectLst/>
                          <a:latin typeface="+mn-lt"/>
                        </a:rPr>
                        <a:t>C. Key Activities next period</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dirty="0"/>
                    </a:p>
                  </a:txBody>
                  <a:tcPr/>
                </a:tc>
                <a:extLst>
                  <a:ext uri="{0D108BD9-81ED-4DB2-BD59-A6C34878D82A}">
                    <a16:rowId xmlns:a16="http://schemas.microsoft.com/office/drawing/2014/main" val="10002"/>
                  </a:ext>
                </a:extLst>
              </a:tr>
              <a:tr h="655544">
                <a:tc gridSpan="2">
                  <a:txBody>
                    <a:bodyPr/>
                    <a:lstStyle/>
                    <a:p>
                      <a:pPr marL="171450" indent="-171450">
                        <a:buFont typeface="Arial" panose="020B0604020202020204" pitchFamily="34" charset="0"/>
                        <a:buChar char="•"/>
                      </a:pPr>
                      <a:r>
                        <a:rPr lang="en-GB" sz="800" dirty="0">
                          <a:effectLst/>
                          <a:latin typeface="+mn-lt"/>
                        </a:rPr>
                        <a:t>Continue with making </a:t>
                      </a:r>
                      <a:r>
                        <a:rPr lang="en-GB" sz="800" dirty="0" err="1">
                          <a:effectLst/>
                          <a:latin typeface="+mn-lt"/>
                        </a:rPr>
                        <a:t>Docling</a:t>
                      </a:r>
                      <a:r>
                        <a:rPr lang="en-GB" sz="800" dirty="0">
                          <a:effectLst/>
                          <a:latin typeface="+mn-lt"/>
                        </a:rPr>
                        <a:t> work on AWS.  </a:t>
                      </a:r>
                      <a:endParaRPr lang="en-GB" sz="800" dirty="0">
                        <a:latin typeface="+mn-lt"/>
                      </a:endParaRPr>
                    </a:p>
                    <a:p>
                      <a:pPr marL="171450" indent="-171450">
                        <a:buFont typeface="Arial" panose="020B0604020202020204" pitchFamily="34" charset="0"/>
                        <a:buChar char="•"/>
                      </a:pPr>
                      <a:r>
                        <a:rPr lang="en-GB" sz="800" dirty="0">
                          <a:effectLst/>
                          <a:latin typeface="+mn-lt"/>
                        </a:rPr>
                        <a:t>Test extraction with </a:t>
                      </a:r>
                      <a:r>
                        <a:rPr lang="en-GB" sz="800" dirty="0" err="1">
                          <a:effectLst/>
                          <a:latin typeface="+mn-lt"/>
                        </a:rPr>
                        <a:t>Docling</a:t>
                      </a:r>
                      <a:r>
                        <a:rPr lang="en-GB" sz="800" dirty="0">
                          <a:effectLst/>
                          <a:latin typeface="+mn-lt"/>
                        </a:rPr>
                        <a:t> from AWS</a:t>
                      </a:r>
                      <a:endParaRPr lang="en-GB" sz="800" dirty="0">
                        <a:latin typeface="+mn-lt"/>
                      </a:endParaRPr>
                    </a:p>
                    <a:p>
                      <a:pPr marL="171450" indent="-171450">
                        <a:buFont typeface="Arial" panose="020B0604020202020204" pitchFamily="34" charset="0"/>
                        <a:buChar char="•"/>
                      </a:pPr>
                      <a:r>
                        <a:rPr lang="en-GB" sz="800" dirty="0">
                          <a:effectLst/>
                          <a:latin typeface="+mn-lt"/>
                        </a:rPr>
                        <a:t>Port over </a:t>
                      </a:r>
                      <a:r>
                        <a:rPr lang="en-GB" sz="800" dirty="0" err="1">
                          <a:effectLst/>
                          <a:latin typeface="+mn-lt"/>
                        </a:rPr>
                        <a:t>Docling</a:t>
                      </a:r>
                      <a:r>
                        <a:rPr lang="en-GB" sz="800" dirty="0">
                          <a:effectLst/>
                          <a:latin typeface="+mn-lt"/>
                        </a:rPr>
                        <a:t> highlighting feature that worked in the POC over to main branch through code refactoring. </a:t>
                      </a:r>
                      <a:endParaRPr lang="en-GB" sz="800" dirty="0">
                        <a:latin typeface="+mn-lt"/>
                      </a:endParaRPr>
                    </a:p>
                    <a:p>
                      <a:pPr marL="171450" indent="-171450">
                        <a:buFont typeface="Arial" panose="020B0604020202020204" pitchFamily="34" charset="0"/>
                        <a:buChar char="•"/>
                      </a:pPr>
                      <a:r>
                        <a:rPr lang="en-GB" sz="800" dirty="0">
                          <a:effectLst/>
                          <a:latin typeface="+mn-lt"/>
                        </a:rPr>
                        <a:t>Write documentation for the features.</a:t>
                      </a:r>
                    </a:p>
                    <a:p>
                      <a:pPr marL="171450" indent="-171450">
                        <a:buFont typeface="Arial" panose="020B0604020202020204" pitchFamily="34" charset="0"/>
                        <a:buChar char="•"/>
                      </a:pPr>
                      <a:r>
                        <a:rPr lang="en-GB" sz="800" dirty="0"/>
                        <a:t>Finalise MVP design of gap map</a:t>
                      </a:r>
                    </a:p>
                    <a:p>
                      <a:pPr marL="171450" indent="-171450">
                        <a:buFont typeface="Arial" panose="020B0604020202020204" pitchFamily="34" charset="0"/>
                        <a:buChar char="•"/>
                      </a:pPr>
                      <a:r>
                        <a:rPr lang="en-GB" sz="800" dirty="0"/>
                        <a:t>Begin testing of semantic search in production-like environment</a:t>
                      </a:r>
                    </a:p>
                    <a:p>
                      <a:endParaRPr lang="en-GB" sz="800" dirty="0">
                        <a:latin typeface="+mn-lt"/>
                      </a:endParaRPr>
                    </a:p>
                    <a:p>
                      <a:pPr marL="171450" marR="0" lvl="0" indent="-171450" algn="l" rtl="0" eaLnBrk="0" fontAlgn="base" latinLnBrk="0" hangingPunct="0">
                        <a:lnSpc>
                          <a:spcPct val="100000"/>
                        </a:lnSpc>
                        <a:spcBef>
                          <a:spcPct val="0"/>
                        </a:spcBef>
                        <a:spcAft>
                          <a:spcPct val="10000"/>
                        </a:spcAft>
                        <a:buClrTx/>
                        <a:buSzTx/>
                        <a:buFont typeface="Arial"/>
                        <a:buChar char="•"/>
                      </a:pPr>
                      <a:endParaRPr lang="en-US" sz="800" b="0" i="0" u="none" strike="noStrike" kern="1200" cap="none" spc="0" normalizeH="0" baseline="0" noProof="0" dirty="0">
                        <a:ln>
                          <a:noFill/>
                        </a:ln>
                        <a:solidFill>
                          <a:schemeClr val="tx1">
                            <a:lumMod val="65000"/>
                            <a:lumOff val="35000"/>
                          </a:schemeClr>
                        </a:solidFill>
                        <a:effectLst/>
                        <a:uLnTx/>
                        <a:uFillTx/>
                        <a:latin typeface="+mn-lt"/>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dirty="0">
                          <a:ln>
                            <a:noFill/>
                          </a:ln>
                          <a:solidFill>
                            <a:schemeClr val="bg1"/>
                          </a:solidFill>
                          <a:effectLst/>
                          <a:latin typeface="+mn-lt"/>
                        </a:rPr>
                        <a:t>D.  KEY ISSUES REQUIRING MANAGEMENT ATTENTION / AWARENESS</a:t>
                      </a:r>
                      <a:endParaRPr kumimoji="0" lang="en-US" sz="800" b="1" i="0" u="none" strike="noStrike" cap="none" normalizeH="0" baseline="0" dirty="0">
                        <a:ln>
                          <a:noFill/>
                        </a:ln>
                        <a:solidFill>
                          <a:schemeClr val="bg1"/>
                        </a:solidFill>
                        <a:effectLst/>
                        <a:latin typeface="+mn-lt"/>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6115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dirty="0">
                          <a:ln>
                            <a:noFill/>
                          </a:ln>
                          <a:solidFill>
                            <a:schemeClr val="bg2"/>
                          </a:solidFill>
                          <a:effectLst/>
                          <a:latin typeface="+mn-lt"/>
                          <a:ea typeface="+mn-ea"/>
                          <a:cs typeface="+mn-cs"/>
                        </a:rPr>
                        <a:t>ATTENTION (HELP NEEDED)</a:t>
                      </a:r>
                      <a:endParaRPr kumimoji="0" lang="en-US" sz="800" b="1" i="0" u="none" strike="noStrike" kern="1200" cap="none" normalizeH="0" baseline="0" dirty="0">
                        <a:ln>
                          <a:noFill/>
                        </a:ln>
                        <a:solidFill>
                          <a:schemeClr val="bg2"/>
                        </a:solidFill>
                        <a:effectLst/>
                        <a:latin typeface="+mn-l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dirty="0">
                          <a:ln>
                            <a:noFill/>
                          </a:ln>
                          <a:solidFill>
                            <a:schemeClr val="bg2"/>
                          </a:solidFill>
                          <a:effectLst/>
                          <a:latin typeface="+mn-lt"/>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21896">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endParaRPr kumimoji="0" lang="en-GB" sz="800" dirty="0">
                        <a:latin typeface="+mn-lt"/>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800" b="0" i="0" u="none" strike="noStrike" kern="1200" cap="none" spc="0" normalizeH="0" baseline="0" noProof="0" dirty="0">
                        <a:ln>
                          <a:noFill/>
                        </a:ln>
                        <a:solidFill>
                          <a:schemeClr val="tx1">
                            <a:lumMod val="65000"/>
                            <a:lumOff val="35000"/>
                          </a:schemeClr>
                        </a:solidFill>
                        <a:effectLst/>
                        <a:uLnTx/>
                        <a:uFillTx/>
                        <a:latin typeface="+mn-lt"/>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204E0562-22F8-05EE-C286-54140CF3E792}"/>
              </a:ext>
            </a:extLst>
          </p:cNvPr>
          <p:cNvGraphicFramePr>
            <a:graphicFrameLocks noGrp="1"/>
          </p:cNvGraphicFramePr>
          <p:nvPr>
            <p:extLst>
              <p:ext uri="{D42A27DB-BD31-4B8C-83A1-F6EECF244321}">
                <p14:modId xmlns:p14="http://schemas.microsoft.com/office/powerpoint/2010/main" val="4131959498"/>
              </p:ext>
            </p:extLst>
          </p:nvPr>
        </p:nvGraphicFramePr>
        <p:xfrm>
          <a:off x="467472" y="566008"/>
          <a:ext cx="4898205" cy="3375334"/>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21704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dirty="0">
                          <a:ln>
                            <a:noFill/>
                          </a:ln>
                          <a:effectLst/>
                        </a:rPr>
                        <a:t>A.  </a:t>
                      </a:r>
                      <a:r>
                        <a:rPr kumimoji="0" lang="en-GB" sz="800" u="none" strike="noStrike" cap="none" normalizeH="0" baseline="0" dirty="0">
                          <a:ln>
                            <a:noFill/>
                          </a:ln>
                          <a:effectLst/>
                        </a:rPr>
                        <a:t>EXECUTIVE SUMMARY</a:t>
                      </a:r>
                      <a:endParaRPr kumimoji="0" lang="en-US" sz="800" b="1" i="0" u="none" strike="noStrike" cap="none" normalizeH="0" baseline="0" dirty="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579143">
                <a:tc>
                  <a:txBody>
                    <a:bodyPr/>
                    <a:lstStyle/>
                    <a:p>
                      <a:pPr fontAlgn="t">
                        <a:lnSpc>
                          <a:spcPct val="100000"/>
                        </a:lnSpc>
                        <a:buNone/>
                      </a:pPr>
                      <a:r>
                        <a:rPr lang="en-GB" sz="900" b="0" i="0" dirty="0">
                          <a:effectLst/>
                          <a:latin typeface="+mn-lt"/>
                        </a:rPr>
                        <a:t>The team made strong technical and design progress across the extraction pipeline, application architecture, and user‑facing components. </a:t>
                      </a:r>
                      <a:br>
                        <a:rPr lang="en-GB" sz="900" b="0" i="0" dirty="0">
                          <a:effectLst/>
                          <a:latin typeface="+mn-lt"/>
                        </a:rPr>
                      </a:br>
                      <a:r>
                        <a:rPr lang="en-GB" sz="900" b="0" i="0" dirty="0" err="1">
                          <a:effectLst/>
                          <a:latin typeface="+mn-lt"/>
                        </a:rPr>
                        <a:t>Docling</a:t>
                      </a:r>
                      <a:r>
                        <a:rPr lang="en-GB" sz="900" b="0" i="0" dirty="0">
                          <a:effectLst/>
                          <a:latin typeface="+mn-lt"/>
                        </a:rPr>
                        <a:t> was confirmed as the default extraction tool following comparative analysis, with successful configuration and testing from the main branch. </a:t>
                      </a:r>
                    </a:p>
                    <a:p>
                      <a:pPr fontAlgn="t">
                        <a:lnSpc>
                          <a:spcPct val="100000"/>
                        </a:lnSpc>
                        <a:buNone/>
                      </a:pPr>
                      <a:r>
                        <a:rPr lang="en-GB" sz="900" b="0" i="0" dirty="0">
                          <a:effectLst/>
                          <a:latin typeface="+mn-lt"/>
                        </a:rPr>
                        <a:t>Collaboration between UCD and engineering ensured alignment on wireframes, while the metadata ingestion approach was refined and the MVP design for search results was finalised. </a:t>
                      </a:r>
                      <a:br>
                        <a:rPr lang="en-GB" sz="900" b="0" i="0" dirty="0">
                          <a:effectLst/>
                          <a:latin typeface="+mn-lt"/>
                        </a:rPr>
                      </a:br>
                      <a:r>
                        <a:rPr lang="en-GB" sz="900" b="0" i="0" dirty="0">
                          <a:effectLst/>
                          <a:latin typeface="+mn-lt"/>
                        </a:rPr>
                        <a:t>Significant backend and infrastructure work was completed, including restructuring the codebase, implementing document services and batch upload, progressing infra‑as‑code deployment configuration, and defining both the public API and interfaces for extractors and embedders</a:t>
                      </a:r>
                    </a:p>
                  </a:txBody>
                  <a:tcPr>
                    <a:lnL w="6350">
                      <a:solidFill>
                        <a:schemeClr val="bg1">
                          <a:lumMod val="65000"/>
                        </a:schemeClr>
                      </a:solidFill>
                    </a:lnL>
                    <a:lnR w="6350">
                      <a:solidFill>
                        <a:schemeClr val="bg1">
                          <a:lumMod val="65000"/>
                        </a:schemeClr>
                      </a:solidFill>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1579143">
                <a:tc>
                  <a:txBody>
                    <a:bodyPr/>
                    <a:lstStyle/>
                    <a:p>
                      <a:pPr>
                        <a:lnSpc>
                          <a:spcPct val="100000"/>
                        </a:lnSpc>
                      </a:pPr>
                      <a:endParaRPr lang="en-GB" sz="800" dirty="0"/>
                    </a:p>
                  </a:txBody>
                  <a:tcPr>
                    <a:lnL w="6350">
                      <a:solidFill>
                        <a:schemeClr val="bg1">
                          <a:lumMod val="65000"/>
                        </a:schemeClr>
                      </a:solidFill>
                    </a:lnL>
                    <a:lnR w="6350">
                      <a:solidFill>
                        <a:schemeClr val="bg1">
                          <a:lumMod val="65000"/>
                        </a:schemeClr>
                      </a:solidFill>
                    </a:lnR>
                    <a:lnT w="6350" cap="flat" cmpd="sng" algn="ctr">
                      <a:solidFill>
                        <a:schemeClr val="bg1">
                          <a:lumMod val="65000"/>
                        </a:schemeClr>
                      </a:solidFill>
                      <a:prstDash val="solid"/>
                      <a:round/>
                      <a:headEnd type="none" w="med" len="med"/>
                      <a:tailEnd type="none" w="med" len="med"/>
                    </a:lnT>
                    <a:lnB w="6350">
                      <a:solidFill>
                        <a:schemeClr val="bg1">
                          <a:lumMod val="65000"/>
                        </a:schemeClr>
                      </a:solidFill>
                    </a:lnB>
                    <a:noFill/>
                  </a:tcPr>
                </a:tc>
                <a:extLst>
                  <a:ext uri="{0D108BD9-81ED-4DB2-BD59-A6C34878D82A}">
                    <a16:rowId xmlns:a16="http://schemas.microsoft.com/office/drawing/2014/main" val="2209824456"/>
                  </a:ext>
                </a:extLst>
              </a:tr>
            </a:tbl>
          </a:graphicData>
        </a:graphic>
      </p:graphicFrame>
      <p:graphicFrame>
        <p:nvGraphicFramePr>
          <p:cNvPr id="9" name="Group 270">
            <a:extLst>
              <a:ext uri="{FF2B5EF4-FFF2-40B4-BE49-F238E27FC236}">
                <a16:creationId xmlns:a16="http://schemas.microsoft.com/office/drawing/2014/main" id="{3C6A6C45-024C-DAA8-0D3C-EE45BAF4BF4C}"/>
              </a:ext>
            </a:extLst>
          </p:cNvPr>
          <p:cNvGraphicFramePr>
            <a:graphicFrameLocks noGrp="1"/>
          </p:cNvGraphicFramePr>
          <p:nvPr>
            <p:extLst>
              <p:ext uri="{D42A27DB-BD31-4B8C-83A1-F6EECF244321}">
                <p14:modId xmlns:p14="http://schemas.microsoft.com/office/powerpoint/2010/main" val="2172707606"/>
              </p:ext>
            </p:extLst>
          </p:nvPr>
        </p:nvGraphicFramePr>
        <p:xfrm>
          <a:off x="5531796" y="946905"/>
          <a:ext cx="6453431" cy="892648"/>
        </p:xfrm>
        <a:graphic>
          <a:graphicData uri="http://schemas.openxmlformats.org/drawingml/2006/table">
            <a:tbl>
              <a:tblPr firstRow="1">
                <a:tableStyleId>{7E9639D4-E3E2-4D34-9284-5A2195B3D0D7}</a:tableStyleId>
              </a:tblPr>
              <a:tblGrid>
                <a:gridCol w="521072">
                  <a:extLst>
                    <a:ext uri="{9D8B030D-6E8A-4147-A177-3AD203B41FA5}">
                      <a16:colId xmlns:a16="http://schemas.microsoft.com/office/drawing/2014/main" val="4205414778"/>
                    </a:ext>
                  </a:extLst>
                </a:gridCol>
                <a:gridCol w="2462436">
                  <a:extLst>
                    <a:ext uri="{9D8B030D-6E8A-4147-A177-3AD203B41FA5}">
                      <a16:colId xmlns:a16="http://schemas.microsoft.com/office/drawing/2014/main" val="20000"/>
                    </a:ext>
                  </a:extLst>
                </a:gridCol>
                <a:gridCol w="667947">
                  <a:extLst>
                    <a:ext uri="{9D8B030D-6E8A-4147-A177-3AD203B41FA5}">
                      <a16:colId xmlns:a16="http://schemas.microsoft.com/office/drawing/2014/main" val="20001"/>
                    </a:ext>
                  </a:extLst>
                </a:gridCol>
                <a:gridCol w="667947">
                  <a:extLst>
                    <a:ext uri="{9D8B030D-6E8A-4147-A177-3AD203B41FA5}">
                      <a16:colId xmlns:a16="http://schemas.microsoft.com/office/drawing/2014/main" val="3492732595"/>
                    </a:ext>
                  </a:extLst>
                </a:gridCol>
                <a:gridCol w="325803">
                  <a:extLst>
                    <a:ext uri="{9D8B030D-6E8A-4147-A177-3AD203B41FA5}">
                      <a16:colId xmlns:a16="http://schemas.microsoft.com/office/drawing/2014/main" val="20004"/>
                    </a:ext>
                  </a:extLst>
                </a:gridCol>
                <a:gridCol w="194579">
                  <a:extLst>
                    <a:ext uri="{9D8B030D-6E8A-4147-A177-3AD203B41FA5}">
                      <a16:colId xmlns:a16="http://schemas.microsoft.com/office/drawing/2014/main" val="20005"/>
                    </a:ext>
                  </a:extLst>
                </a:gridCol>
                <a:gridCol w="1613647">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dirty="0">
                          <a:ln>
                            <a:noFill/>
                          </a:ln>
                          <a:effectLst/>
                        </a:rPr>
                        <a:t>E. KEY MILESTONES (DUE FOR THE CURRENT AND NEXT PERIOD + OVERDUE + AT RISK)</a:t>
                      </a:r>
                      <a:endParaRPr kumimoji="0" lang="en-GB" sz="800" b="0" i="0" u="none" strike="noStrike" kern="1200" cap="none" normalizeH="0" baseline="0" noProof="0" dirty="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ID</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Milestone Name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Plan Date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dirty="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LP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CP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dirty="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C185D2D4-3BEA-C3D4-4488-06182BEB5615}"/>
              </a:ext>
            </a:extLst>
          </p:cNvPr>
          <p:cNvGraphicFramePr>
            <a:graphicFrameLocks noGrp="1"/>
          </p:cNvGraphicFramePr>
          <p:nvPr>
            <p:extLst>
              <p:ext uri="{D42A27DB-BD31-4B8C-83A1-F6EECF244321}">
                <p14:modId xmlns:p14="http://schemas.microsoft.com/office/powerpoint/2010/main" val="2331392477"/>
              </p:ext>
            </p:extLst>
          </p:nvPr>
        </p:nvGraphicFramePr>
        <p:xfrm>
          <a:off x="415777" y="2471057"/>
          <a:ext cx="4949900" cy="4216573"/>
        </p:xfrm>
        <a:graphic>
          <a:graphicData uri="http://schemas.openxmlformats.org/drawingml/2006/table">
            <a:tbl>
              <a:tblPr firstRow="1" bandRow="1" bandCol="1">
                <a:tableStyleId>{7E9639D4-E3E2-4D34-9284-5A2195B3D0D7}</a:tableStyleId>
              </a:tblPr>
              <a:tblGrid>
                <a:gridCol w="244430">
                  <a:extLst>
                    <a:ext uri="{9D8B030D-6E8A-4147-A177-3AD203B41FA5}">
                      <a16:colId xmlns:a16="http://schemas.microsoft.com/office/drawing/2014/main" val="2199885390"/>
                    </a:ext>
                  </a:extLst>
                </a:gridCol>
                <a:gridCol w="2428676">
                  <a:extLst>
                    <a:ext uri="{9D8B030D-6E8A-4147-A177-3AD203B41FA5}">
                      <a16:colId xmlns:a16="http://schemas.microsoft.com/office/drawing/2014/main" val="1148451240"/>
                    </a:ext>
                  </a:extLst>
                </a:gridCol>
                <a:gridCol w="1539005">
                  <a:extLst>
                    <a:ext uri="{9D8B030D-6E8A-4147-A177-3AD203B41FA5}">
                      <a16:colId xmlns:a16="http://schemas.microsoft.com/office/drawing/2014/main" val="20001"/>
                    </a:ext>
                  </a:extLst>
                </a:gridCol>
                <a:gridCol w="393488">
                  <a:extLst>
                    <a:ext uri="{9D8B030D-6E8A-4147-A177-3AD203B41FA5}">
                      <a16:colId xmlns:a16="http://schemas.microsoft.com/office/drawing/2014/main" val="1614259304"/>
                    </a:ext>
                  </a:extLst>
                </a:gridCol>
                <a:gridCol w="344301">
                  <a:extLst>
                    <a:ext uri="{9D8B030D-6E8A-4147-A177-3AD203B41FA5}">
                      <a16:colId xmlns:a16="http://schemas.microsoft.com/office/drawing/2014/main" val="1695019054"/>
                    </a:ext>
                  </a:extLst>
                </a:gridCol>
              </a:tblGrid>
              <a:tr h="167232">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lumMod val="65000"/>
                        </a:schemeClr>
                      </a:solidFill>
                      <a:prstDash val="solid"/>
                      <a:round/>
                      <a:headEnd type="none" w="med" len="med"/>
                      <a:tailEnd type="none" w="med" len="med"/>
                    </a:ln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67232">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258338">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UKHSA-AIR-RIS-19</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Risk: </a:t>
                      </a:r>
                      <a:r>
                        <a:rPr lang="en-GB" sz="800" b="0" i="0" dirty="0">
                          <a:solidFill>
                            <a:srgbClr val="000000"/>
                          </a:solidFill>
                          <a:effectLst/>
                          <a:latin typeface="Arial" panose="020B0604020202020204" pitchFamily="34" charset="0"/>
                        </a:rPr>
                        <a:t>The solution may not progress to Private Beta</a:t>
                      </a:r>
                      <a:r>
                        <a:rPr lang="en-GB" sz="800" b="1" i="0" dirty="0">
                          <a:solidFill>
                            <a:srgbClr val="000000"/>
                          </a:solidFill>
                          <a:effectLst/>
                          <a:latin typeface="Arial" panose="020B0604020202020204" pitchFamily="34" charset="0"/>
                        </a:rPr>
                        <a:t>.</a:t>
                      </a:r>
                    </a:p>
                    <a:p>
                      <a:pPr algn="l">
                        <a:buNone/>
                      </a:pPr>
                      <a:r>
                        <a:rPr lang="en-GB" sz="800" b="1" i="0" dirty="0">
                          <a:solidFill>
                            <a:srgbClr val="000000"/>
                          </a:solidFill>
                          <a:effectLst/>
                          <a:latin typeface="Arial" panose="020B0604020202020204" pitchFamily="34" charset="0"/>
                        </a:rPr>
                        <a:t>Cause: </a:t>
                      </a:r>
                      <a:r>
                        <a:rPr lang="en-GB" sz="800" b="0" i="0" dirty="0">
                          <a:solidFill>
                            <a:srgbClr val="000000"/>
                          </a:solidFill>
                          <a:effectLst/>
                          <a:latin typeface="Arial" panose="020B0604020202020204" pitchFamily="34" charset="0"/>
                        </a:rPr>
                        <a:t>The project may not receive access to the UKHSA Production AWS account in time.</a:t>
                      </a:r>
                    </a:p>
                    <a:p>
                      <a:pPr algn="l">
                        <a:buNone/>
                      </a:pPr>
                      <a:r>
                        <a:rPr lang="en-GB" sz="800" b="1" i="0" dirty="0">
                          <a:solidFill>
                            <a:srgbClr val="000000"/>
                          </a:solidFill>
                          <a:effectLst/>
                          <a:latin typeface="Arial" panose="020B0604020202020204" pitchFamily="34" charset="0"/>
                        </a:rPr>
                        <a:t>Impact: </a:t>
                      </a:r>
                      <a:r>
                        <a:rPr lang="en-GB" sz="800" b="0" i="0" dirty="0">
                          <a:solidFill>
                            <a:srgbClr val="000000"/>
                          </a:solidFill>
                          <a:effectLst/>
                          <a:latin typeface="Arial" panose="020B0604020202020204" pitchFamily="34" charset="0"/>
                        </a:rPr>
                        <a:t>UKHSA teams would need to complete the remaining deployment pipeline after the Informed Solutions team rolls off at the end of March.</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dirty="0"/>
                        <a:t>Submit a TRB request promptly to secure production‑level approval from key UKHSA stakeholders.</a:t>
                      </a:r>
                    </a:p>
                    <a:p>
                      <a:pPr lvl="0">
                        <a:buNone/>
                      </a:pPr>
                      <a:endParaRPr lang="en-GB" sz="800" dirty="0"/>
                    </a:p>
                    <a:p>
                      <a:pPr lvl="0">
                        <a:buNone/>
                      </a:pPr>
                      <a:r>
                        <a:rPr lang="en-GB" sz="800" dirty="0"/>
                        <a:t>26/2 Steering group agreed that the Private Beta user access will be on a non production environment </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348846143"/>
                  </a:ext>
                </a:extLst>
              </a:tr>
              <a:tr h="1151241">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There is a risk:</a:t>
                      </a:r>
                      <a:r>
                        <a:rPr lang="en-GB" sz="800" b="0" i="0" dirty="0">
                          <a:solidFill>
                            <a:srgbClr val="000000"/>
                          </a:solidFill>
                          <a:effectLst/>
                          <a:latin typeface="Arial" panose="020B0604020202020204" pitchFamily="34" charset="0"/>
                        </a:rPr>
                        <a:t> Additional budget may be required, requested and approved.</a:t>
                      </a:r>
                    </a:p>
                    <a:p>
                      <a:pPr algn="l">
                        <a:buNone/>
                      </a:pPr>
                      <a:r>
                        <a:rPr lang="en-GB" sz="800" b="1" i="0" dirty="0">
                          <a:solidFill>
                            <a:srgbClr val="000000"/>
                          </a:solidFill>
                          <a:effectLst/>
                          <a:latin typeface="Arial"/>
                        </a:rPr>
                        <a:t>As a result of:</a:t>
                      </a:r>
                      <a:r>
                        <a:rPr lang="en-GB" sz="800" b="0" i="0" dirty="0">
                          <a:solidFill>
                            <a:srgbClr val="000000"/>
                          </a:solidFill>
                          <a:effectLst/>
                          <a:latin typeface="Arial"/>
                        </a:rPr>
                        <a:t> incurred cloud hosting and computing costs for deployment of the Private Beta solution</a:t>
                      </a:r>
                    </a:p>
                    <a:p>
                      <a:pPr algn="l">
                        <a:buNone/>
                      </a:pPr>
                      <a:r>
                        <a:rPr lang="en-GB" sz="800" b="1" i="0" dirty="0">
                          <a:solidFill>
                            <a:srgbClr val="000000"/>
                          </a:solidFill>
                          <a:effectLst/>
                          <a:latin typeface="Arial"/>
                        </a:rPr>
                        <a:t>Will lead to:</a:t>
                      </a:r>
                      <a:r>
                        <a:rPr lang="en-GB" sz="800" b="0" i="0" dirty="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dirty="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dirty="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1472530">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There is a risk</a:t>
                      </a:r>
                      <a:r>
                        <a:rPr lang="en-GB" sz="800" b="0" i="0" u="none" strike="noStrike" kern="1200" cap="none" normalizeH="0" baseline="0" noProof="0" dirty="0">
                          <a:ln>
                            <a:noFill/>
                          </a:ln>
                          <a:solidFill>
                            <a:srgbClr val="000000"/>
                          </a:solidFill>
                          <a:effectLst/>
                          <a:highlight>
                            <a:srgbClr val="FFFFFF"/>
                          </a:highlight>
                          <a:latin typeface="Arial"/>
                        </a:rPr>
                        <a:t>: Use of any AI related technology breaches UKHSA licence agreement with the CLA on copyright</a:t>
                      </a:r>
                      <a:endParaRPr lang="en-US"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As a result of</a:t>
                      </a:r>
                      <a:r>
                        <a:rPr lang="en-GB" sz="800" b="0" i="0" u="none" strike="noStrike" kern="1200" cap="none" normalizeH="0" baseline="0" noProof="0" dirty="0">
                          <a:ln>
                            <a:noFill/>
                          </a:ln>
                          <a:solidFill>
                            <a:srgbClr val="000000"/>
                          </a:solidFill>
                          <a:effectLst/>
                          <a:highlight>
                            <a:srgbClr val="FFFFFF"/>
                          </a:highlight>
                          <a:latin typeface="Arial"/>
                        </a:rPr>
                        <a:t>: UHKSA being bound by NHS licence agreement.</a:t>
                      </a:r>
                      <a:endParaRPr lang="en-GB"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Will lead to</a:t>
                      </a:r>
                      <a:r>
                        <a:rPr lang="en-GB" sz="800" b="0" i="0" u="none" strike="noStrike" kern="1200" cap="none" normalizeH="0" baseline="0" noProof="0" dirty="0">
                          <a:ln>
                            <a:noFill/>
                          </a:ln>
                          <a:solidFill>
                            <a:srgbClr val="000000"/>
                          </a:solidFill>
                          <a:effectLst/>
                          <a:highlight>
                            <a:srgbClr val="FFFFFF"/>
                          </a:highlight>
                          <a:latin typeface="Arial"/>
                        </a:rPr>
                        <a:t>: Prohibition of use of AI technology for non generative non training applications</a:t>
                      </a:r>
                      <a:endParaRPr lang="en-GB" sz="800" dirty="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2EAB86DA-0203-43AE-4A3A-9C68A335F2BB}"/>
              </a:ext>
            </a:extLst>
          </p:cNvPr>
          <p:cNvSpPr txBox="1"/>
          <p:nvPr/>
        </p:nvSpPr>
        <p:spPr>
          <a:xfrm>
            <a:off x="5703431" y="6673624"/>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D1FBF852-7D7D-B7ED-29EE-714EA17F4DAF}"/>
              </a:ext>
            </a:extLst>
          </p:cNvPr>
          <p:cNvGraphicFramePr>
            <a:graphicFrameLocks noGrp="1"/>
          </p:cNvGraphicFramePr>
          <p:nvPr>
            <p:extLst>
              <p:ext uri="{D42A27DB-BD31-4B8C-83A1-F6EECF244321}">
                <p14:modId xmlns:p14="http://schemas.microsoft.com/office/powerpoint/2010/main" val="900901849"/>
              </p:ext>
            </p:extLst>
          </p:nvPr>
        </p:nvGraphicFramePr>
        <p:xfrm>
          <a:off x="5531796" y="566007"/>
          <a:ext cx="6423387" cy="365760"/>
        </p:xfrm>
        <a:graphic>
          <a:graphicData uri="http://schemas.openxmlformats.org/drawingml/2006/table">
            <a:tbl>
              <a:tblPr firstRow="1" bandRow="1">
                <a:tableStyleId>{5C22544A-7EE6-4342-B048-85BDC9FD1C3A}</a:tableStyleId>
              </a:tblPr>
              <a:tblGrid>
                <a:gridCol w="431677">
                  <a:extLst>
                    <a:ext uri="{9D8B030D-6E8A-4147-A177-3AD203B41FA5}">
                      <a16:colId xmlns:a16="http://schemas.microsoft.com/office/drawing/2014/main" val="673553765"/>
                    </a:ext>
                  </a:extLst>
                </a:gridCol>
                <a:gridCol w="431677">
                  <a:extLst>
                    <a:ext uri="{9D8B030D-6E8A-4147-A177-3AD203B41FA5}">
                      <a16:colId xmlns:a16="http://schemas.microsoft.com/office/drawing/2014/main" val="4211759447"/>
                    </a:ext>
                  </a:extLst>
                </a:gridCol>
                <a:gridCol w="431677">
                  <a:extLst>
                    <a:ext uri="{9D8B030D-6E8A-4147-A177-3AD203B41FA5}">
                      <a16:colId xmlns:a16="http://schemas.microsoft.com/office/drawing/2014/main" val="3987128177"/>
                    </a:ext>
                  </a:extLst>
                </a:gridCol>
                <a:gridCol w="431677">
                  <a:extLst>
                    <a:ext uri="{9D8B030D-6E8A-4147-A177-3AD203B41FA5}">
                      <a16:colId xmlns:a16="http://schemas.microsoft.com/office/drawing/2014/main" val="703617760"/>
                    </a:ext>
                  </a:extLst>
                </a:gridCol>
                <a:gridCol w="431677">
                  <a:extLst>
                    <a:ext uri="{9D8B030D-6E8A-4147-A177-3AD203B41FA5}">
                      <a16:colId xmlns:a16="http://schemas.microsoft.com/office/drawing/2014/main" val="3424114508"/>
                    </a:ext>
                  </a:extLst>
                </a:gridCol>
                <a:gridCol w="437798">
                  <a:extLst>
                    <a:ext uri="{9D8B030D-6E8A-4147-A177-3AD203B41FA5}">
                      <a16:colId xmlns:a16="http://schemas.microsoft.com/office/drawing/2014/main" val="3100067570"/>
                    </a:ext>
                  </a:extLst>
                </a:gridCol>
                <a:gridCol w="437798">
                  <a:extLst>
                    <a:ext uri="{9D8B030D-6E8A-4147-A177-3AD203B41FA5}">
                      <a16:colId xmlns:a16="http://schemas.microsoft.com/office/drawing/2014/main" val="3430054372"/>
                    </a:ext>
                  </a:extLst>
                </a:gridCol>
                <a:gridCol w="543717">
                  <a:extLst>
                    <a:ext uri="{9D8B030D-6E8A-4147-A177-3AD203B41FA5}">
                      <a16:colId xmlns:a16="http://schemas.microsoft.com/office/drawing/2014/main" val="2599263965"/>
                    </a:ext>
                  </a:extLst>
                </a:gridCol>
                <a:gridCol w="543717">
                  <a:extLst>
                    <a:ext uri="{9D8B030D-6E8A-4147-A177-3AD203B41FA5}">
                      <a16:colId xmlns:a16="http://schemas.microsoft.com/office/drawing/2014/main" val="1936607128"/>
                    </a:ext>
                  </a:extLst>
                </a:gridCol>
                <a:gridCol w="543717">
                  <a:extLst>
                    <a:ext uri="{9D8B030D-6E8A-4147-A177-3AD203B41FA5}">
                      <a16:colId xmlns:a16="http://schemas.microsoft.com/office/drawing/2014/main" val="681041266"/>
                    </a:ext>
                  </a:extLst>
                </a:gridCol>
                <a:gridCol w="670821">
                  <a:extLst>
                    <a:ext uri="{9D8B030D-6E8A-4147-A177-3AD203B41FA5}">
                      <a16:colId xmlns:a16="http://schemas.microsoft.com/office/drawing/2014/main" val="3887832098"/>
                    </a:ext>
                  </a:extLst>
                </a:gridCol>
                <a:gridCol w="550778">
                  <a:extLst>
                    <a:ext uri="{9D8B030D-6E8A-4147-A177-3AD203B41FA5}">
                      <a16:colId xmlns:a16="http://schemas.microsoft.com/office/drawing/2014/main" val="4211782468"/>
                    </a:ext>
                  </a:extLst>
                </a:gridCol>
                <a:gridCol w="536656">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dirty="0">
                          <a:solidFill>
                            <a:schemeClr val="lt1"/>
                          </a:solidFill>
                          <a:latin typeface="Aptos"/>
                          <a:ea typeface="+mn-ea"/>
                          <a:cs typeface="+mn-cs"/>
                        </a:rPr>
                        <a:t>Time</a:t>
                      </a:r>
                      <a:r>
                        <a:rPr lang="en-GB" sz="900" dirty="0">
                          <a:latin typeface="Aptos"/>
                        </a:rPr>
                        <a:t> </a:t>
                      </a:r>
                    </a:p>
                  </a:txBody>
                  <a:tcPr anchor="ctr">
                    <a:solidFill>
                      <a:srgbClr val="92D050"/>
                    </a:solidFill>
                  </a:tcPr>
                </a:tc>
                <a:tc>
                  <a:txBody>
                    <a:bodyPr/>
                    <a:lstStyle/>
                    <a:p>
                      <a:pPr lvl="0" algn="ctr">
                        <a:buNone/>
                      </a:pPr>
                      <a:endParaRPr lang="en-GB" sz="900" dirty="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dirty="0">
                          <a:latin typeface="Aptos"/>
                        </a:rPr>
                        <a:t>Dependencies</a:t>
                      </a:r>
                      <a:r>
                        <a:rPr lang="en-GB" sz="900" dirty="0">
                          <a:latin typeface="Aptos"/>
                        </a:rPr>
                        <a:t> </a:t>
                      </a:r>
                    </a:p>
                  </a:txBody>
                  <a:tcPr anchor="ctr">
                    <a:solidFill>
                      <a:srgbClr val="92D050"/>
                    </a:solidFill>
                  </a:tcPr>
                </a:tc>
                <a:tc>
                  <a:txBody>
                    <a:bodyPr/>
                    <a:lstStyle/>
                    <a:p>
                      <a:pPr algn="ctr"/>
                      <a:r>
                        <a:rPr lang="en-GB" sz="900" dirty="0">
                          <a:latin typeface="Aptos"/>
                        </a:rPr>
                        <a:t>Benefits </a:t>
                      </a:r>
                    </a:p>
                  </a:txBody>
                  <a:tcPr anchor="ctr">
                    <a:solidFill>
                      <a:srgbClr val="92D050"/>
                    </a:solidFill>
                  </a:tcPr>
                </a:tc>
                <a:tc>
                  <a:txBody>
                    <a:bodyPr/>
                    <a:lstStyle/>
                    <a:p>
                      <a:pPr algn="ctr"/>
                      <a:r>
                        <a:rPr lang="en-GB" sz="900" dirty="0">
                          <a:latin typeface="Aptos"/>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329298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3296D-03D6-DC3A-2218-962E9260EE3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3008A440-0DA9-41D1-0B18-83CC3921F6A0}"/>
              </a:ext>
            </a:extLst>
          </p:cNvPr>
          <p:cNvSpPr>
            <a:spLocks noGrp="1"/>
          </p:cNvSpPr>
          <p:nvPr>
            <p:ph type="ctrTitle"/>
          </p:nvPr>
        </p:nvSpPr>
        <p:spPr/>
        <p:txBody>
          <a:bodyPr/>
          <a:lstStyle/>
          <a:p>
            <a:r>
              <a:rPr lang="en-GB"/>
              <a:t>Previous reports</a:t>
            </a:r>
          </a:p>
        </p:txBody>
      </p:sp>
      <p:sp>
        <p:nvSpPr>
          <p:cNvPr id="5" name="Footer Placeholder 4">
            <a:extLst>
              <a:ext uri="{FF2B5EF4-FFF2-40B4-BE49-F238E27FC236}">
                <a16:creationId xmlns:a16="http://schemas.microsoft.com/office/drawing/2014/main" id="{C52364E9-0D93-5BF5-F4E7-5FD26D2AFB09}"/>
              </a:ext>
            </a:extLst>
          </p:cNvPr>
          <p:cNvSpPr>
            <a:spLocks noGrp="1"/>
          </p:cNvSpPr>
          <p:nvPr>
            <p:ph type="ftr" sz="quarter" idx="4294967295"/>
          </p:nvPr>
        </p:nvSpPr>
        <p:spPr>
          <a:xfrm>
            <a:off x="0" y="6438900"/>
            <a:ext cx="10007600" cy="363538"/>
          </a:xfrm>
        </p:spPr>
        <p:txBody>
          <a:bodyPr/>
          <a:lstStyle/>
          <a:p>
            <a:r>
              <a:rPr lang="en-GB"/>
              <a:t>UKHSA Annual People Survey Technology Let’s Talk! – Internal Use Only</a:t>
            </a:r>
          </a:p>
        </p:txBody>
      </p:sp>
      <p:sp>
        <p:nvSpPr>
          <p:cNvPr id="6" name="Slide Number Placeholder 5">
            <a:extLst>
              <a:ext uri="{FF2B5EF4-FFF2-40B4-BE49-F238E27FC236}">
                <a16:creationId xmlns:a16="http://schemas.microsoft.com/office/drawing/2014/main" id="{BA02958F-9AD0-EEAD-8A59-24A8D43DE27E}"/>
              </a:ext>
            </a:extLst>
          </p:cNvPr>
          <p:cNvSpPr>
            <a:spLocks noGrp="1"/>
          </p:cNvSpPr>
          <p:nvPr>
            <p:ph type="sldNum" sz="quarter" idx="4294967295"/>
          </p:nvPr>
        </p:nvSpPr>
        <p:spPr>
          <a:xfrm>
            <a:off x="0" y="6438900"/>
            <a:ext cx="596900" cy="365125"/>
          </a:xfrm>
        </p:spPr>
        <p:txBody>
          <a:bodyPr/>
          <a:lstStyle/>
          <a:p>
            <a:fld id="{344369E4-5DE7-46E5-874E-4FD437973785}" type="slidenum">
              <a:rPr lang="en-GB" smtClean="0"/>
              <a:pPr/>
              <a:t>3</a:t>
            </a:fld>
            <a:endParaRPr lang="en-GB"/>
          </a:p>
        </p:txBody>
      </p:sp>
    </p:spTree>
    <p:extLst>
      <p:ext uri="{BB962C8B-B14F-4D97-AF65-F5344CB8AC3E}">
        <p14:creationId xmlns:p14="http://schemas.microsoft.com/office/powerpoint/2010/main" val="269849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8EA56-ACCA-9DF4-5315-DC656B84B1AC}"/>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2FACA03F-83D6-DEC7-3AFE-FF62226DAC7E}"/>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1153D7BB-F8EB-E09D-8066-F38DCD63508E}"/>
              </a:ext>
            </a:extLst>
          </p:cNvPr>
          <p:cNvSpPr txBox="1">
            <a:spLocks/>
          </p:cNvSpPr>
          <p:nvPr/>
        </p:nvSpPr>
        <p:spPr>
          <a:xfrm>
            <a:off x="841952" y="-16817"/>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dirty="0">
                <a:ln>
                  <a:noFill/>
                </a:ln>
                <a:solidFill>
                  <a:srgbClr val="007C91"/>
                </a:solidFill>
                <a:effectLst/>
                <a:uLnTx/>
                <a:uFillTx/>
                <a:latin typeface="Calibri" panose="020F0502020204030204"/>
                <a:ea typeface="+mj-ea"/>
                <a:cs typeface="Arial"/>
              </a:rPr>
              <a:t>Project Update |</a:t>
            </a:r>
            <a:r>
              <a:rPr lang="en-GB" sz="2400" dirty="0">
                <a:solidFill>
                  <a:srgbClr val="242424"/>
                </a:solidFill>
                <a:latin typeface="Aptos Narrow"/>
                <a:cs typeface="Arial"/>
              </a:rPr>
              <a:t>UKHSA-AIR-RIS- AI Readiness Use Case Development 20/02 </a:t>
            </a:r>
            <a:endParaRPr lang="en-US" sz="2400" b="1" u="none" strike="noStrike" kern="1200" cap="none" spc="0" normalizeH="0" baseline="0" noProof="0" dirty="0">
              <a:ln>
                <a:noFill/>
              </a:ln>
              <a:solidFill>
                <a:srgbClr val="007C91"/>
              </a:solidFill>
              <a:effectLst/>
              <a:uLnTx/>
              <a:uFillTx/>
              <a:latin typeface="Calibri" panose="020F0502020204030204"/>
              <a:ea typeface="Calibri"/>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dirty="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F152A17F-5AD0-DE59-3DEA-71A8144C768F}"/>
              </a:ext>
            </a:extLst>
          </p:cNvPr>
          <p:cNvGraphicFramePr>
            <a:graphicFrameLocks noGrp="1"/>
          </p:cNvGraphicFramePr>
          <p:nvPr/>
        </p:nvGraphicFramePr>
        <p:xfrm>
          <a:off x="5533292" y="1887415"/>
          <a:ext cx="6550348" cy="4631401"/>
        </p:xfrm>
        <a:graphic>
          <a:graphicData uri="http://schemas.openxmlformats.org/drawingml/2006/table">
            <a:tbl>
              <a:tblPr firstRow="1">
                <a:tableStyleId>{7E9639D4-E3E2-4D34-9284-5A2195B3D0D7}</a:tableStyleId>
              </a:tblPr>
              <a:tblGrid>
                <a:gridCol w="3171775">
                  <a:extLst>
                    <a:ext uri="{9D8B030D-6E8A-4147-A177-3AD203B41FA5}">
                      <a16:colId xmlns:a16="http://schemas.microsoft.com/office/drawing/2014/main" val="20000"/>
                    </a:ext>
                  </a:extLst>
                </a:gridCol>
                <a:gridCol w="3378573">
                  <a:extLst>
                    <a:ext uri="{9D8B030D-6E8A-4147-A177-3AD203B41FA5}">
                      <a16:colId xmlns:a16="http://schemas.microsoft.com/office/drawing/2014/main" val="195155734"/>
                    </a:ext>
                  </a:extLst>
                </a:gridCol>
              </a:tblGrid>
              <a:tr h="35298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dirty="0">
                          <a:ln>
                            <a:noFill/>
                          </a:ln>
                          <a:solidFill>
                            <a:schemeClr val="bg1"/>
                          </a:solidFill>
                          <a:effectLst/>
                        </a:rPr>
                        <a:t>B.  KEY ACCOMPLISHMENTS THIS PERIOD</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949991">
                <a:tc gridSpan="2">
                  <a:txBody>
                    <a:bodyPr/>
                    <a:lstStyle/>
                    <a:p>
                      <a:pPr marL="0" marR="0" lvl="0" indent="0" algn="l" rtl="0" eaLnBrk="0" fontAlgn="base" latinLnBrk="0" hangingPunct="0">
                        <a:lnSpc>
                          <a:spcPct val="100000"/>
                        </a:lnSpc>
                        <a:spcBef>
                          <a:spcPct val="0"/>
                        </a:spcBef>
                        <a:spcAft>
                          <a:spcPct val="10000"/>
                        </a:spcAft>
                        <a:buClrTx/>
                        <a:buSzTx/>
                        <a:buNone/>
                      </a:pPr>
                      <a:r>
                        <a:rPr lang="en-GB" sz="700" b="1" i="0" u="none" strike="noStrike" kern="1200" cap="none" spc="0" normalizeH="0" baseline="0" dirty="0">
                          <a:ln>
                            <a:noFill/>
                          </a:ln>
                          <a:solidFill>
                            <a:schemeClr val="tx1">
                              <a:lumMod val="65000"/>
                              <a:lumOff val="35000"/>
                            </a:schemeClr>
                          </a:solidFill>
                          <a:effectLst/>
                          <a:uLnTx/>
                          <a:uFillTx/>
                          <a:latin typeface="Century Gothic"/>
                          <a:ea typeface="+mn-ea"/>
                          <a:cs typeface="Calibri"/>
                        </a:rPr>
                        <a:t>General</a:t>
                      </a:r>
                      <a:r>
                        <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rPr>
                        <a:t> </a:t>
                      </a:r>
                      <a:endParaRPr kumimoji="0"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buClr>
                          <a:srgbClr val="000000"/>
                        </a:buClr>
                        <a:buSzTx/>
                        <a:buNone/>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Excellent  engagement </a:t>
                      </a:r>
                      <a:r>
                        <a:rPr lang="en-US" sz="700" b="0" i="0" u="none" strike="noStrike" kern="1200" cap="none" spc="0" normalizeH="0" baseline="0" noProof="0" dirty="0" err="1">
                          <a:ln>
                            <a:noFill/>
                          </a:ln>
                          <a:solidFill>
                            <a:schemeClr val="tx1">
                              <a:lumMod val="65000"/>
                              <a:lumOff val="35000"/>
                            </a:schemeClr>
                          </a:solidFill>
                          <a:effectLst/>
                          <a:uLnTx/>
                          <a:uFillTx/>
                          <a:latin typeface="Century Gothic"/>
                        </a:rPr>
                        <a:t>twith</a:t>
                      </a:r>
                      <a:r>
                        <a:rPr lang="en-US" sz="700" b="0" i="0" u="none" strike="noStrike" kern="1200" cap="none" spc="0" normalizeH="0" baseline="0" noProof="0" dirty="0">
                          <a:ln>
                            <a:noFill/>
                          </a:ln>
                          <a:solidFill>
                            <a:schemeClr val="tx1">
                              <a:lumMod val="65000"/>
                              <a:lumOff val="35000"/>
                            </a:schemeClr>
                          </a:solidFill>
                          <a:effectLst/>
                          <a:uLnTx/>
                          <a:uFillTx/>
                          <a:latin typeface="Century Gothic"/>
                        </a:rPr>
                        <a:t> the UKHSA </a:t>
                      </a:r>
                      <a:r>
                        <a:rPr lang="en-US" sz="700" b="0" i="0" u="none" strike="noStrike" kern="1200" cap="none" spc="0" normalizeH="0" baseline="0" noProof="0" dirty="0" err="1">
                          <a:ln>
                            <a:noFill/>
                          </a:ln>
                          <a:solidFill>
                            <a:schemeClr val="tx1">
                              <a:lumMod val="65000"/>
                              <a:lumOff val="35000"/>
                            </a:schemeClr>
                          </a:solidFill>
                          <a:effectLst/>
                          <a:uLnTx/>
                          <a:uFillTx/>
                          <a:latin typeface="Century Gothic"/>
                        </a:rPr>
                        <a:t>SecArch</a:t>
                      </a:r>
                      <a:r>
                        <a:rPr lang="en-US" sz="700" b="0" i="0" u="none" strike="noStrike" kern="1200" cap="none" spc="0" normalizeH="0" baseline="0" noProof="0" dirty="0">
                          <a:ln>
                            <a:noFill/>
                          </a:ln>
                          <a:solidFill>
                            <a:schemeClr val="tx1">
                              <a:lumMod val="65000"/>
                              <a:lumOff val="35000"/>
                            </a:schemeClr>
                          </a:solidFill>
                          <a:effectLst/>
                          <a:uLnTx/>
                          <a:uFillTx/>
                          <a:latin typeface="Century Gothic"/>
                        </a:rPr>
                        <a:t> and progress on the cyber governance is proceeding. </a:t>
                      </a:r>
                    </a:p>
                    <a:p>
                      <a:pPr marL="0" marR="0" lvl="0" indent="0" algn="l">
                        <a:lnSpc>
                          <a:spcPct val="100000"/>
                        </a:lnSpc>
                        <a:buClr>
                          <a:srgbClr val="000000"/>
                        </a:buClr>
                        <a:buSzTx/>
                        <a:buNone/>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Support from this forum has laid the SC vetting risk to bed</a:t>
                      </a:r>
                    </a:p>
                    <a:p>
                      <a:pPr marL="0" marR="0" lvl="0" indent="0" algn="l">
                        <a:lnSpc>
                          <a:spcPct val="100000"/>
                        </a:lnSpc>
                        <a:buSzTx/>
                        <a:buNone/>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Project is now stood up in UKHSA JIRA </a:t>
                      </a:r>
                    </a:p>
                    <a:p>
                      <a:pPr marL="0" marR="0" lvl="0" indent="0" algn="l">
                        <a:lnSpc>
                          <a:spcPct val="100000"/>
                        </a:lnSpc>
                        <a:buSzTx/>
                        <a:buNone/>
                      </a:pPr>
                      <a:endParaRPr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0" marR="0" lvl="0" indent="0" algn="l">
                        <a:lnSpc>
                          <a:spcPct val="100000"/>
                        </a:lnSpc>
                        <a:spcBef>
                          <a:spcPct val="0"/>
                        </a:spcBef>
                        <a:spcAft>
                          <a:spcPct val="10000"/>
                        </a:spcAft>
                        <a:buClr>
                          <a:srgbClr val="000000"/>
                        </a:buClr>
                        <a:buSzTx/>
                        <a:buNone/>
                      </a:pPr>
                      <a:r>
                        <a:rPr lang="en-US" sz="700" b="1" i="0" u="none" strike="noStrike" kern="1200" cap="none" spc="0" normalizeH="0" baseline="0" noProof="0" dirty="0">
                          <a:ln>
                            <a:noFill/>
                          </a:ln>
                          <a:solidFill>
                            <a:schemeClr val="tx1">
                              <a:lumMod val="65000"/>
                              <a:lumOff val="35000"/>
                            </a:schemeClr>
                          </a:solidFill>
                          <a:effectLst/>
                          <a:uLnTx/>
                          <a:uFillTx/>
                          <a:latin typeface="Century Gothic"/>
                        </a:rPr>
                        <a:t>WS2</a:t>
                      </a:r>
                      <a:endParaRPr lang="en-GB" dirty="0"/>
                    </a:p>
                    <a:p>
                      <a:pPr marL="0" marR="0" lvl="0" indent="0" algn="l">
                        <a:lnSpc>
                          <a:spcPct val="100000"/>
                        </a:lnSpc>
                        <a:spcBef>
                          <a:spcPct val="0"/>
                        </a:spcBef>
                        <a:spcAft>
                          <a:spcPct val="10000"/>
                        </a:spcAft>
                        <a:buSzTx/>
                        <a:buNone/>
                      </a:pPr>
                      <a:r>
                        <a:rPr lang="en-GB" sz="800" b="0" i="0" u="none" strike="noStrike" noProof="0" dirty="0">
                          <a:latin typeface="Calibri"/>
                          <a:ea typeface="Calibri"/>
                          <a:cs typeface="Calibri"/>
                        </a:rPr>
                        <a:t>implemented complete body of evidence collection pipeline (ingestion -&gt; extraction -&gt; embedding)</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started work on Document management service</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implemented parsing of RIS documents for metadata</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started work on infrastructure configurations and deployment</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coordination with the team on API for the frontend</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rapid development of wireframes, and</a:t>
                      </a:r>
                      <a:endParaRPr lang="en-GB" dirty="0"/>
                    </a:p>
                    <a:p>
                      <a:pPr marL="0" lvl="0" indent="0" algn="l">
                        <a:lnSpc>
                          <a:spcPct val="100000"/>
                        </a:lnSpc>
                        <a:spcBef>
                          <a:spcPts val="0"/>
                        </a:spcBef>
                        <a:spcAft>
                          <a:spcPts val="0"/>
                        </a:spcAft>
                        <a:buNone/>
                      </a:pPr>
                      <a:r>
                        <a:rPr lang="en-GB" sz="800" b="0" i="0" u="none" strike="noStrike" noProof="0" dirty="0">
                          <a:latin typeface="Calibri"/>
                          <a:ea typeface="Calibri"/>
                          <a:cs typeface="Calibri"/>
                        </a:rPr>
                        <a:t>close collaboration with the software engineers as they developed functional prototypes of the search tools</a:t>
                      </a:r>
                      <a:endParaRPr lang="en-GB" dirty="0"/>
                    </a:p>
                    <a:p>
                      <a:endParaRPr lang="en-GB" sz="800" dirty="0"/>
                    </a:p>
                    <a:p>
                      <a:pPr marL="0" marR="0" lvl="0" indent="0" algn="l">
                        <a:lnSpc>
                          <a:spcPct val="100000"/>
                        </a:lnSpc>
                        <a:spcBef>
                          <a:spcPct val="0"/>
                        </a:spcBef>
                        <a:spcAft>
                          <a:spcPct val="10000"/>
                        </a:spcAft>
                        <a:buNone/>
                      </a:pPr>
                      <a:r>
                        <a:rPr lang="en-US" sz="700" b="1" i="0" u="none" strike="noStrike" cap="none" normalizeH="0" baseline="0" noProof="0" dirty="0">
                          <a:ln>
                            <a:noFill/>
                          </a:ln>
                          <a:solidFill>
                            <a:schemeClr val="tx1">
                              <a:lumMod val="65000"/>
                              <a:lumOff val="35000"/>
                            </a:schemeClr>
                          </a:solidFill>
                          <a:effectLst/>
                          <a:latin typeface="Century Gothic"/>
                        </a:rPr>
                        <a:t>WS3</a:t>
                      </a:r>
                      <a:r>
                        <a:rPr lang="en-US" sz="700" b="0" i="0" u="none" strike="noStrike" cap="none" normalizeH="0" baseline="0" noProof="0" dirty="0">
                          <a:ln>
                            <a:noFill/>
                          </a:ln>
                          <a:solidFill>
                            <a:schemeClr val="tx1">
                              <a:lumMod val="65000"/>
                              <a:lumOff val="35000"/>
                            </a:schemeClr>
                          </a:solidFill>
                          <a:effectLst/>
                          <a:latin typeface="Century Gothic"/>
                        </a:rPr>
                        <a:t> </a:t>
                      </a:r>
                    </a:p>
                    <a:p>
                      <a:pPr marL="0" marR="0" lvl="0" indent="0" algn="l">
                        <a:lnSpc>
                          <a:spcPct val="100000"/>
                        </a:lnSpc>
                        <a:spcBef>
                          <a:spcPct val="0"/>
                        </a:spcBef>
                        <a:spcAft>
                          <a:spcPct val="10000"/>
                        </a:spcAft>
                        <a:buNone/>
                      </a:pPr>
                      <a:r>
                        <a:rPr lang="en-US" sz="700" b="0" i="0" u="none" strike="noStrike" cap="none" normalizeH="0" baseline="0" noProof="0" dirty="0">
                          <a:ln>
                            <a:noFill/>
                          </a:ln>
                          <a:solidFill>
                            <a:schemeClr val="tx1">
                              <a:lumMod val="65000"/>
                              <a:lumOff val="35000"/>
                            </a:schemeClr>
                          </a:solidFill>
                          <a:effectLst/>
                          <a:latin typeface="Century Gothic"/>
                        </a:rPr>
                        <a:t>Continuing Meeting with stakeholders  providing updates on the WS3 work</a:t>
                      </a:r>
                    </a:p>
                    <a:p>
                      <a:pPr marL="0" marR="0" lvl="0" indent="0" algn="l">
                        <a:lnSpc>
                          <a:spcPct val="100000"/>
                        </a:lnSpc>
                        <a:spcBef>
                          <a:spcPct val="0"/>
                        </a:spcBef>
                        <a:spcAft>
                          <a:spcPct val="10000"/>
                        </a:spcAft>
                        <a:buNone/>
                      </a:pPr>
                      <a:r>
                        <a:rPr lang="en-US" sz="700" b="0" i="0" u="none" strike="noStrike" cap="none" normalizeH="0" baseline="0" noProof="0" dirty="0">
                          <a:ln>
                            <a:noFill/>
                          </a:ln>
                          <a:solidFill>
                            <a:schemeClr val="tx1">
                              <a:lumMod val="65000"/>
                              <a:lumOff val="35000"/>
                            </a:schemeClr>
                          </a:solidFill>
                          <a:effectLst/>
                          <a:latin typeface="Century Gothic"/>
                        </a:rPr>
                        <a:t>Iterating the work following feedback from the stakeholder meetings</a:t>
                      </a:r>
                    </a:p>
                    <a:p>
                      <a:pPr marL="0" marR="0" lvl="0" indent="0" algn="l">
                        <a:lnSpc>
                          <a:spcPct val="100000"/>
                        </a:lnSpc>
                        <a:spcBef>
                          <a:spcPct val="0"/>
                        </a:spcBef>
                        <a:spcAft>
                          <a:spcPct val="10000"/>
                        </a:spcAft>
                        <a:buNone/>
                      </a:pPr>
                      <a:endParaRPr lang="en-US" sz="700" b="0" i="0" u="none" strike="noStrike" cap="none" normalizeH="0" baseline="0" noProof="0" dirty="0">
                        <a:ln>
                          <a:noFill/>
                        </a:ln>
                        <a:solidFill>
                          <a:schemeClr val="tx1">
                            <a:lumMod val="65000"/>
                            <a:lumOff val="35000"/>
                          </a:schemeClr>
                        </a:solidFill>
                        <a:effectLst/>
                        <a:latin typeface="Century Gothic"/>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a:ln>
                            <a:noFill/>
                          </a:ln>
                          <a:solidFill>
                            <a:schemeClr val="bg1"/>
                          </a:solidFill>
                          <a:effectLst/>
                          <a:latin typeface="EYInterstate" pitchFamily="2" charset="0"/>
                        </a:rPr>
                        <a:t>C. Key Activities next period</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dirty="0"/>
                    </a:p>
                  </a:txBody>
                  <a:tcPr/>
                </a:tc>
                <a:extLst>
                  <a:ext uri="{0D108BD9-81ED-4DB2-BD59-A6C34878D82A}">
                    <a16:rowId xmlns:a16="http://schemas.microsoft.com/office/drawing/2014/main" val="10002"/>
                  </a:ext>
                </a:extLst>
              </a:tr>
              <a:tr h="655544">
                <a:tc gridSpan="2">
                  <a:txBody>
                    <a:bodyPr/>
                    <a:lstStyle/>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cap="none" normalizeH="0" baseline="0" noProof="0" dirty="0">
                          <a:ln>
                            <a:noFill/>
                          </a:ln>
                          <a:solidFill>
                            <a:schemeClr val="tx1">
                              <a:lumMod val="65000"/>
                              <a:lumOff val="35000"/>
                            </a:schemeClr>
                          </a:solidFill>
                          <a:effectLst/>
                          <a:latin typeface="Century Gothic"/>
                        </a:rPr>
                        <a:t>Continue  working with </a:t>
                      </a:r>
                      <a:r>
                        <a:rPr lang="en-GB" sz="700" b="0" i="0" u="none" strike="noStrike" cap="none" normalizeH="0" baseline="0" noProof="0" dirty="0" err="1">
                          <a:ln>
                            <a:noFill/>
                          </a:ln>
                          <a:solidFill>
                            <a:schemeClr val="tx1">
                              <a:lumMod val="65000"/>
                              <a:lumOff val="35000"/>
                            </a:schemeClr>
                          </a:solidFill>
                          <a:effectLst/>
                          <a:latin typeface="Century Gothic"/>
                        </a:rPr>
                        <a:t>SecArch</a:t>
                      </a:r>
                      <a:r>
                        <a:rPr lang="en-GB" sz="700" b="0" i="0" u="none" strike="noStrike" cap="none" normalizeH="0" baseline="0" noProof="0" dirty="0">
                          <a:ln>
                            <a:noFill/>
                          </a:ln>
                          <a:solidFill>
                            <a:schemeClr val="tx1">
                              <a:lumMod val="65000"/>
                              <a:lumOff val="35000"/>
                            </a:schemeClr>
                          </a:solidFill>
                          <a:effectLst/>
                          <a:latin typeface="Century Gothic"/>
                        </a:rPr>
                        <a:t> to complete cyber security to review architecture and roadmap</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Ongoing story creation </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Continue work on the Document management service</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Continue working on infra config and </a:t>
                      </a:r>
                      <a:r>
                        <a:rPr lang="en-GB" sz="700" b="0" i="0" u="none" strike="noStrike" kern="1200" cap="none" spc="0" normalizeH="0" baseline="0" noProof="0">
                          <a:ln>
                            <a:noFill/>
                          </a:ln>
                          <a:solidFill>
                            <a:schemeClr val="tx1">
                              <a:lumMod val="65000"/>
                              <a:lumOff val="35000"/>
                            </a:schemeClr>
                          </a:solidFill>
                          <a:effectLst/>
                          <a:uLnTx/>
                          <a:uFillTx/>
                          <a:latin typeface="Century Gothic"/>
                        </a:rPr>
                        <a:t>deployment</a:t>
                      </a:r>
                      <a:endParaRPr lang="en-GB"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a:ln>
                            <a:noFill/>
                          </a:ln>
                          <a:solidFill>
                            <a:schemeClr val="tx1">
                              <a:lumMod val="65000"/>
                              <a:lumOff val="35000"/>
                            </a:schemeClr>
                          </a:solidFill>
                          <a:effectLst/>
                          <a:uLnTx/>
                          <a:uFillTx/>
                          <a:latin typeface="Century Gothic"/>
                        </a:rPr>
                        <a:t>Developing out the prototypes</a:t>
                      </a:r>
                    </a:p>
                    <a:p>
                      <a:pPr marL="171450" marR="0" lvl="0" indent="-171450" algn="l">
                        <a:lnSpc>
                          <a:spcPct val="100000"/>
                        </a:lnSpc>
                        <a:spcBef>
                          <a:spcPct val="0"/>
                        </a:spcBef>
                        <a:spcAft>
                          <a:spcPct val="10000"/>
                        </a:spcAft>
                        <a:buClrTx/>
                        <a:buSzTx/>
                        <a:buFont typeface="Arial"/>
                        <a:buChar char="•"/>
                      </a:pPr>
                      <a:r>
                        <a:rPr lang="en-GB" sz="700" b="0" i="0" u="none" strike="noStrike" kern="1200" cap="none" spc="0" normalizeH="0" baseline="0" noProof="0">
                          <a:ln>
                            <a:noFill/>
                          </a:ln>
                          <a:solidFill>
                            <a:schemeClr val="tx1">
                              <a:lumMod val="65000"/>
                              <a:lumOff val="35000"/>
                            </a:schemeClr>
                          </a:solidFill>
                          <a:effectLst/>
                          <a:uLnTx/>
                          <a:uFillTx/>
                          <a:latin typeface="Century Gothic"/>
                        </a:rPr>
                        <a:t>Show and Tell </a:t>
                      </a:r>
                      <a:endParaRPr lang="en-GB"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marR="0" lvl="0" indent="-171450" algn="l" rtl="0" eaLnBrk="0" fontAlgn="base" latinLnBrk="0" hangingPunct="0">
                        <a:lnSpc>
                          <a:spcPct val="100000"/>
                        </a:lnSpc>
                        <a:spcBef>
                          <a:spcPct val="0"/>
                        </a:spcBef>
                        <a:spcAft>
                          <a:spcPct val="10000"/>
                        </a:spcAft>
                        <a:buClrTx/>
                        <a:buSzTx/>
                        <a:buFont typeface="Arial"/>
                        <a:buChar char="•"/>
                      </a:pPr>
                      <a:endPar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dirty="0">
                          <a:ln>
                            <a:noFill/>
                          </a:ln>
                          <a:solidFill>
                            <a:schemeClr val="bg1"/>
                          </a:solidFill>
                          <a:effectLst/>
                          <a:latin typeface="EYInterstate"/>
                        </a:rPr>
                        <a:t>D.  KEY ISSUES REQUIRING MANAGEMENT ATTENTION / AWARENESS</a:t>
                      </a:r>
                      <a:endParaRPr kumimoji="0" lang="en-US" sz="800" b="1" i="0" u="none" strike="noStrike" cap="none" normalizeH="0" baseline="0" dirty="0">
                        <a:ln>
                          <a:noFill/>
                        </a:ln>
                        <a:solidFill>
                          <a:schemeClr val="bg1"/>
                        </a:solidFill>
                        <a:effectLst/>
                        <a:latin typeface="EYInterstate"/>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6115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dirty="0">
                          <a:ln>
                            <a:noFill/>
                          </a:ln>
                          <a:solidFill>
                            <a:schemeClr val="bg2"/>
                          </a:solidFill>
                          <a:effectLst/>
                          <a:latin typeface="EYInterstate Light"/>
                          <a:ea typeface="+mn-ea"/>
                          <a:cs typeface="+mn-cs"/>
                        </a:rPr>
                        <a:t>ATTENTION (HELP NEEDED)</a:t>
                      </a:r>
                      <a:endParaRPr kumimoji="0" lang="en-US" sz="800" b="1" i="0" u="none" strike="noStrike" kern="1200" cap="none" normalizeH="0" baseline="0" dirty="0">
                        <a:ln>
                          <a:noFill/>
                        </a:ln>
                        <a:solidFill>
                          <a:schemeClr val="bg2"/>
                        </a:solidFill>
                        <a:effectLst/>
                        <a:latin typeface="EYInterstate Ligh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dirty="0">
                          <a:ln>
                            <a:noFill/>
                          </a:ln>
                          <a:solidFill>
                            <a:schemeClr val="bg2"/>
                          </a:solidFill>
                          <a:effectLst/>
                          <a:latin typeface="EYInterstate Light"/>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21896">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endParaRPr kumimoji="0" lang="en-GB" sz="800" dirty="0"/>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ACF8395C-F116-4100-35FF-C1BDBA38404A}"/>
              </a:ext>
            </a:extLst>
          </p:cNvPr>
          <p:cNvGraphicFramePr>
            <a:graphicFrameLocks noGrp="1"/>
          </p:cNvGraphicFramePr>
          <p:nvPr/>
        </p:nvGraphicFramePr>
        <p:xfrm>
          <a:off x="467472" y="566009"/>
          <a:ext cx="4898205" cy="1246712"/>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1593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dirty="0">
                          <a:ln>
                            <a:noFill/>
                          </a:ln>
                          <a:effectLst/>
                        </a:rPr>
                        <a:t>A.  </a:t>
                      </a:r>
                      <a:r>
                        <a:rPr kumimoji="0" lang="en-GB" sz="800" u="none" strike="noStrike" cap="none" normalizeH="0" baseline="0" dirty="0">
                          <a:ln>
                            <a:noFill/>
                          </a:ln>
                          <a:effectLst/>
                        </a:rPr>
                        <a:t>EXECUTIVE SUMMARY</a:t>
                      </a:r>
                      <a:endParaRPr kumimoji="0" lang="en-US" sz="800" b="1" i="0" u="none" strike="noStrike" cap="none" normalizeH="0" baseline="0" dirty="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96062">
                <a:tc>
                  <a:txBody>
                    <a:bodyPr/>
                    <a:lstStyle/>
                    <a:p>
                      <a:pPr marL="0" marR="0" lvl="0" indent="0" algn="l" rtl="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err="1">
                          <a:ln>
                            <a:noFill/>
                          </a:ln>
                          <a:solidFill>
                            <a:schemeClr val="tx1">
                              <a:lumMod val="65000"/>
                              <a:lumOff val="35000"/>
                            </a:schemeClr>
                          </a:solidFill>
                          <a:effectLst/>
                          <a:uLnTx/>
                          <a:uFillTx/>
                          <a:latin typeface="Century Gothic"/>
                          <a:ea typeface="+mn-ea"/>
                          <a:cs typeface="Calibri"/>
                        </a:rPr>
                        <a:t>TStrong</a:t>
                      </a: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engagement with UKHSA </a:t>
                      </a:r>
                      <a:r>
                        <a:rPr lang="en-GB" sz="700" b="0" i="0" u="none" strike="noStrike" kern="1200" cap="none" spc="0" normalizeH="0" baseline="0" noProof="0" dirty="0" err="1">
                          <a:ln>
                            <a:noFill/>
                          </a:ln>
                          <a:solidFill>
                            <a:schemeClr val="tx1">
                              <a:lumMod val="65000"/>
                              <a:lumOff val="35000"/>
                            </a:schemeClr>
                          </a:solidFill>
                          <a:effectLst/>
                          <a:uLnTx/>
                          <a:uFillTx/>
                          <a:latin typeface="Century Gothic"/>
                          <a:ea typeface="+mn-ea"/>
                          <a:cs typeface="Calibri"/>
                        </a:rPr>
                        <a:t>SecArch</a:t>
                      </a: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has advanced cyber‑governance activity, resolved the SC‑vetting risk, and the project is now fully established in UKHSA JIRA. </a:t>
                      </a:r>
                    </a:p>
                    <a:p>
                      <a:pPr marL="0" marR="0" lvl="0" indent="0" algn="l" rtl="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WS2 delivered major technical progress, completing the evidence‑collection pipeline, advancing the document‑management service, implementing metadata parsing, progressing infrastructure setup, and producing early prototypes in close collaboration with engineering. </a:t>
                      </a:r>
                    </a:p>
                    <a:p>
                      <a:pPr marL="0" marR="0" lvl="0" indent="0" algn="l" rtl="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WS3 continued stakeholder engagement, iterating outputs in line with feedback.</a:t>
                      </a: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3145" marR="33145" marT="14364" marB="14364">
                    <a:lnL w="6350">
                      <a:solidFill>
                        <a:schemeClr val="bg1">
                          <a:lumMod val="65000"/>
                        </a:schemeClr>
                      </a:solidFill>
                    </a:lnL>
                    <a:lnR w="6350">
                      <a:solidFill>
                        <a:schemeClr val="bg1">
                          <a:lumMod val="65000"/>
                        </a:schemeClr>
                      </a:solidFill>
                    </a:lnR>
                    <a:lnT w="6350" cap="flat" cmpd="sng" algn="ctr">
                      <a:solidFill>
                        <a:schemeClr val="bg1">
                          <a:lumMod val="65000"/>
                        </a:schemeClr>
                      </a:solidFill>
                      <a:prstDash val="solid"/>
                      <a:round/>
                      <a:headEnd type="none" w="med" len="med"/>
                      <a:tailEnd type="none" w="med" len="med"/>
                    </a:lnT>
                    <a:lnB w="6350">
                      <a:solidFill>
                        <a:schemeClr val="bg1">
                          <a:lumMod val="65000"/>
                        </a:schemeClr>
                      </a:solidFill>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A2E5F7E9-FC71-E406-1BB2-032F22037BB2}"/>
              </a:ext>
            </a:extLst>
          </p:cNvPr>
          <p:cNvGraphicFramePr>
            <a:graphicFrameLocks noGrp="1"/>
          </p:cNvGraphicFramePr>
          <p:nvPr/>
        </p:nvGraphicFramePr>
        <p:xfrm>
          <a:off x="5531796" y="946905"/>
          <a:ext cx="6453431" cy="892648"/>
        </p:xfrm>
        <a:graphic>
          <a:graphicData uri="http://schemas.openxmlformats.org/drawingml/2006/table">
            <a:tbl>
              <a:tblPr firstRow="1">
                <a:tableStyleId>{7E9639D4-E3E2-4D34-9284-5A2195B3D0D7}</a:tableStyleId>
              </a:tblPr>
              <a:tblGrid>
                <a:gridCol w="521072">
                  <a:extLst>
                    <a:ext uri="{9D8B030D-6E8A-4147-A177-3AD203B41FA5}">
                      <a16:colId xmlns:a16="http://schemas.microsoft.com/office/drawing/2014/main" val="4205414778"/>
                    </a:ext>
                  </a:extLst>
                </a:gridCol>
                <a:gridCol w="2462436">
                  <a:extLst>
                    <a:ext uri="{9D8B030D-6E8A-4147-A177-3AD203B41FA5}">
                      <a16:colId xmlns:a16="http://schemas.microsoft.com/office/drawing/2014/main" val="20000"/>
                    </a:ext>
                  </a:extLst>
                </a:gridCol>
                <a:gridCol w="667947">
                  <a:extLst>
                    <a:ext uri="{9D8B030D-6E8A-4147-A177-3AD203B41FA5}">
                      <a16:colId xmlns:a16="http://schemas.microsoft.com/office/drawing/2014/main" val="20001"/>
                    </a:ext>
                  </a:extLst>
                </a:gridCol>
                <a:gridCol w="667947">
                  <a:extLst>
                    <a:ext uri="{9D8B030D-6E8A-4147-A177-3AD203B41FA5}">
                      <a16:colId xmlns:a16="http://schemas.microsoft.com/office/drawing/2014/main" val="3492732595"/>
                    </a:ext>
                  </a:extLst>
                </a:gridCol>
                <a:gridCol w="325803">
                  <a:extLst>
                    <a:ext uri="{9D8B030D-6E8A-4147-A177-3AD203B41FA5}">
                      <a16:colId xmlns:a16="http://schemas.microsoft.com/office/drawing/2014/main" val="20004"/>
                    </a:ext>
                  </a:extLst>
                </a:gridCol>
                <a:gridCol w="194579">
                  <a:extLst>
                    <a:ext uri="{9D8B030D-6E8A-4147-A177-3AD203B41FA5}">
                      <a16:colId xmlns:a16="http://schemas.microsoft.com/office/drawing/2014/main" val="20005"/>
                    </a:ext>
                  </a:extLst>
                </a:gridCol>
                <a:gridCol w="1613647">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dirty="0">
                          <a:ln>
                            <a:noFill/>
                          </a:ln>
                          <a:effectLst/>
                        </a:rPr>
                        <a:t>E. KEY MILESTONES (DUE FOR THE CURRENT AND NEXT PERIOD + OVERDUE + AT RISK)</a:t>
                      </a:r>
                      <a:endParaRPr kumimoji="0" lang="en-GB" sz="800" b="0" i="0" u="none" strike="noStrike" kern="1200" cap="none" normalizeH="0" baseline="0" noProof="0" dirty="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ID</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Milestone Name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Plan Date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dirty="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LP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CP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dirty="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0CF6E94B-1C45-B9A1-BDC5-E059D3EF7947}"/>
              </a:ext>
            </a:extLst>
          </p:cNvPr>
          <p:cNvGraphicFramePr>
            <a:graphicFrameLocks noGrp="1"/>
          </p:cNvGraphicFramePr>
          <p:nvPr/>
        </p:nvGraphicFramePr>
        <p:xfrm>
          <a:off x="415777" y="1887415"/>
          <a:ext cx="5030946" cy="4800216"/>
        </p:xfrm>
        <a:graphic>
          <a:graphicData uri="http://schemas.openxmlformats.org/drawingml/2006/table">
            <a:tbl>
              <a:tblPr firstRow="1" bandRow="1" bandCol="1">
                <a:tableStyleId>{7E9639D4-E3E2-4D34-9284-5A2195B3D0D7}</a:tableStyleId>
              </a:tblPr>
              <a:tblGrid>
                <a:gridCol w="189510">
                  <a:extLst>
                    <a:ext uri="{9D8B030D-6E8A-4147-A177-3AD203B41FA5}">
                      <a16:colId xmlns:a16="http://schemas.microsoft.com/office/drawing/2014/main" val="2199885390"/>
                    </a:ext>
                  </a:extLst>
                </a:gridCol>
                <a:gridCol w="1882989">
                  <a:extLst>
                    <a:ext uri="{9D8B030D-6E8A-4147-A177-3AD203B41FA5}">
                      <a16:colId xmlns:a16="http://schemas.microsoft.com/office/drawing/2014/main" val="1148451240"/>
                    </a:ext>
                  </a:extLst>
                </a:gridCol>
                <a:gridCol w="1193214">
                  <a:extLst>
                    <a:ext uri="{9D8B030D-6E8A-4147-A177-3AD203B41FA5}">
                      <a16:colId xmlns:a16="http://schemas.microsoft.com/office/drawing/2014/main" val="20001"/>
                    </a:ext>
                  </a:extLst>
                </a:gridCol>
                <a:gridCol w="1193214">
                  <a:extLst>
                    <a:ext uri="{9D8B030D-6E8A-4147-A177-3AD203B41FA5}">
                      <a16:colId xmlns:a16="http://schemas.microsoft.com/office/drawing/2014/main" val="2286849762"/>
                    </a:ext>
                  </a:extLst>
                </a:gridCol>
                <a:gridCol w="305077">
                  <a:extLst>
                    <a:ext uri="{9D8B030D-6E8A-4147-A177-3AD203B41FA5}">
                      <a16:colId xmlns:a16="http://schemas.microsoft.com/office/drawing/2014/main" val="1614259304"/>
                    </a:ext>
                  </a:extLst>
                </a:gridCol>
                <a:gridCol w="266942">
                  <a:extLst>
                    <a:ext uri="{9D8B030D-6E8A-4147-A177-3AD203B41FA5}">
                      <a16:colId xmlns:a16="http://schemas.microsoft.com/office/drawing/2014/main" val="1695019054"/>
                    </a:ext>
                  </a:extLst>
                </a:gridCol>
              </a:tblGrid>
              <a:tr h="190380">
                <a:tc gridSpan="5">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lumMod val="65000"/>
                        </a:schemeClr>
                      </a:solidFill>
                      <a:prstDash val="solid"/>
                      <a:round/>
                      <a:headEnd type="none" w="med" len="med"/>
                      <a:tailEnd type="none" w="med" len="med"/>
                    </a:lnL>
                  </a:tcPr>
                </a:tc>
                <a:tc hMerge="1">
                  <a:txBody>
                    <a:bodyPr/>
                    <a:lstStyle/>
                    <a:p>
                      <a:endParaRPr lang="en-US"/>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9038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85725" lvl="0" indent="-85725" algn="ctr" defTabSz="947738">
                        <a:lnSpc>
                          <a:spcPct val="100000"/>
                        </a:lnSpc>
                        <a:spcBef>
                          <a:spcPct val="0"/>
                        </a:spcBef>
                        <a:spcAft>
                          <a:spcPct val="10000"/>
                        </a:spcAft>
                        <a:buNone/>
                        <a:tabLst/>
                      </a:pPr>
                      <a:endParaRPr kumimoji="0" lang="en-GB" sz="800" b="1" u="none" strike="noStrike" kern="1200" cap="none" normalizeH="0" baseline="0" noProof="0" dirty="0">
                        <a:ln>
                          <a:noFill/>
                        </a:ln>
                        <a:solidFill>
                          <a:schemeClr val="bg2"/>
                        </a:solidFill>
                        <a:effectLst/>
                        <a:latin typeface="+mn-lt"/>
                        <a:ea typeface="+mn-ea"/>
                        <a:cs typeface="+mn-cs"/>
                      </a:endParaRPr>
                    </a:p>
                  </a:txBody>
                  <a:tcPr marL="31497" marR="31497" marT="13648" marB="13648" anchor="ctr">
                    <a:lnL w="6350">
                      <a:solidFill>
                        <a:schemeClr val="bg1">
                          <a:lumMod val="65000"/>
                        </a:schemeClr>
                      </a:solidFill>
                    </a:lnL>
                    <a:lnR w="6350">
                      <a:solidFill>
                        <a:schemeClr val="bg1">
                          <a:lumMod val="65000"/>
                        </a:schemeClr>
                      </a:solidFill>
                    </a:lnR>
                    <a:lnB w="6350">
                      <a:solidFill>
                        <a:schemeClr val="bg1">
                          <a:lumMod val="65000"/>
                        </a:schemeClr>
                      </a:solidFill>
                    </a:lnB>
                    <a:lnTlToBr w="0">
                      <a:noFill/>
                    </a:lnTlToBr>
                    <a:lnBlToTr w="0">
                      <a:noFill/>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161319">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UKHSA-AIR-RIS-19</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Risk: </a:t>
                      </a:r>
                      <a:r>
                        <a:rPr lang="en-GB" sz="800" b="0" i="0" dirty="0">
                          <a:solidFill>
                            <a:srgbClr val="000000"/>
                          </a:solidFill>
                          <a:effectLst/>
                          <a:latin typeface="Arial" panose="020B0604020202020204" pitchFamily="34" charset="0"/>
                        </a:rPr>
                        <a:t>The solution may not progress to Private Beta</a:t>
                      </a:r>
                      <a:r>
                        <a:rPr lang="en-GB" sz="800" b="1" i="0" dirty="0">
                          <a:solidFill>
                            <a:srgbClr val="000000"/>
                          </a:solidFill>
                          <a:effectLst/>
                          <a:latin typeface="Arial" panose="020B0604020202020204" pitchFamily="34" charset="0"/>
                        </a:rPr>
                        <a:t>.</a:t>
                      </a:r>
                    </a:p>
                    <a:p>
                      <a:pPr algn="l">
                        <a:buNone/>
                      </a:pPr>
                      <a:r>
                        <a:rPr lang="en-GB" sz="800" b="1" i="0" dirty="0">
                          <a:solidFill>
                            <a:srgbClr val="000000"/>
                          </a:solidFill>
                          <a:effectLst/>
                          <a:latin typeface="Arial" panose="020B0604020202020204" pitchFamily="34" charset="0"/>
                        </a:rPr>
                        <a:t>Cause: </a:t>
                      </a:r>
                      <a:r>
                        <a:rPr lang="en-GB" sz="800" b="0" i="0" dirty="0">
                          <a:solidFill>
                            <a:srgbClr val="000000"/>
                          </a:solidFill>
                          <a:effectLst/>
                          <a:latin typeface="Arial" panose="020B0604020202020204" pitchFamily="34" charset="0"/>
                        </a:rPr>
                        <a:t>The project may not receive access to the UKHSA Production AWS account in time.</a:t>
                      </a:r>
                    </a:p>
                    <a:p>
                      <a:pPr algn="l">
                        <a:buNone/>
                      </a:pPr>
                      <a:r>
                        <a:rPr lang="en-GB" sz="800" b="1" i="0" dirty="0">
                          <a:solidFill>
                            <a:srgbClr val="000000"/>
                          </a:solidFill>
                          <a:effectLst/>
                          <a:latin typeface="Arial" panose="020B0604020202020204" pitchFamily="34" charset="0"/>
                        </a:rPr>
                        <a:t>Impact: </a:t>
                      </a:r>
                      <a:r>
                        <a:rPr lang="en-GB" sz="800" b="0" i="0" dirty="0">
                          <a:solidFill>
                            <a:srgbClr val="000000"/>
                          </a:solidFill>
                          <a:effectLst/>
                          <a:latin typeface="Arial" panose="020B0604020202020204" pitchFamily="34" charset="0"/>
                        </a:rPr>
                        <a:t>UKHSA teams would need to complete the remaining deployment pipeline after the Informed Solutions team rolls off at the end of March.</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dirty="0"/>
                        <a:t>Submit a TRB request promptly to secure production‑level approval from key UKHSA stakeholders.</a:t>
                      </a:r>
                    </a:p>
                    <a:p>
                      <a:pPr lvl="0">
                        <a:buNone/>
                      </a:pPr>
                      <a:endParaRPr lang="en-GB" sz="800" dirty="0"/>
                    </a:p>
                    <a:p>
                      <a:pPr lvl="0">
                        <a:buNone/>
                      </a:pPr>
                      <a:r>
                        <a:rPr lang="en-GB" sz="800" dirty="0"/>
                        <a:t>26/2 Steering group agreed that the Private Beta user access will be on a non production environment </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buNone/>
                      </a:pPr>
                      <a:endParaRPr lang="en-GB" sz="800" dirty="0"/>
                    </a:p>
                  </a:txBody>
                  <a:tcPr marL="45696" marR="45696" marT="45696" marB="45696">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348846143"/>
                  </a:ext>
                </a:extLst>
              </a:tr>
              <a:tr h="1039702">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There is a risk:</a:t>
                      </a:r>
                      <a:r>
                        <a:rPr lang="en-GB" sz="800" b="0" i="0" dirty="0">
                          <a:solidFill>
                            <a:srgbClr val="000000"/>
                          </a:solidFill>
                          <a:effectLst/>
                          <a:latin typeface="Arial" panose="020B0604020202020204" pitchFamily="34" charset="0"/>
                        </a:rPr>
                        <a:t> Additional budget may be required, requested and approved.</a:t>
                      </a:r>
                    </a:p>
                    <a:p>
                      <a:pPr algn="l">
                        <a:buNone/>
                      </a:pPr>
                      <a:r>
                        <a:rPr lang="en-GB" sz="800" b="1" i="0" dirty="0">
                          <a:solidFill>
                            <a:srgbClr val="000000"/>
                          </a:solidFill>
                          <a:effectLst/>
                          <a:latin typeface="Arial"/>
                        </a:rPr>
                        <a:t>As a result of:</a:t>
                      </a:r>
                      <a:r>
                        <a:rPr lang="en-GB" sz="800" b="0" i="0" dirty="0">
                          <a:solidFill>
                            <a:srgbClr val="000000"/>
                          </a:solidFill>
                          <a:effectLst/>
                          <a:latin typeface="Arial"/>
                        </a:rPr>
                        <a:t> incurred cloud hosting and computing costs for deployment of the Private Beta solution</a:t>
                      </a:r>
                    </a:p>
                    <a:p>
                      <a:pPr algn="l">
                        <a:buNone/>
                      </a:pPr>
                      <a:r>
                        <a:rPr lang="en-GB" sz="800" b="1" i="0" dirty="0">
                          <a:solidFill>
                            <a:srgbClr val="000000"/>
                          </a:solidFill>
                          <a:effectLst/>
                          <a:latin typeface="Arial"/>
                        </a:rPr>
                        <a:t>Will lead to:</a:t>
                      </a:r>
                      <a:r>
                        <a:rPr lang="en-GB" sz="800" b="0" i="0" dirty="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dirty="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dirty="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lvl="0" indent="0" algn="l" defTabSz="947738">
                        <a:lnSpc>
                          <a:spcPct val="100000"/>
                        </a:lnSpc>
                        <a:spcBef>
                          <a:spcPct val="0"/>
                        </a:spcBef>
                        <a:spcAft>
                          <a:spcPct val="10000"/>
                        </a:spcAft>
                        <a:buNone/>
                        <a:tabLst/>
                        <a:defRPr/>
                      </a:pPr>
                      <a:endParaRPr kumimoji="0" lang="en-GB" sz="800" b="0" i="0" dirty="0">
                        <a:solidFill>
                          <a:srgbClr val="000000"/>
                        </a:solidFill>
                        <a:effectLst/>
                        <a:latin typeface="Arial"/>
                      </a:endParaRPr>
                    </a:p>
                  </a:txBody>
                  <a:tcPr marL="45696" marR="45696" marT="45696" marB="45696">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1232298">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There is a risk</a:t>
                      </a:r>
                      <a:r>
                        <a:rPr lang="en-GB" sz="800" b="0" i="0" u="none" strike="noStrike" kern="1200" cap="none" normalizeH="0" baseline="0" noProof="0" dirty="0">
                          <a:ln>
                            <a:noFill/>
                          </a:ln>
                          <a:solidFill>
                            <a:srgbClr val="000000"/>
                          </a:solidFill>
                          <a:effectLst/>
                          <a:highlight>
                            <a:srgbClr val="FFFFFF"/>
                          </a:highlight>
                          <a:latin typeface="Arial"/>
                        </a:rPr>
                        <a:t>: Use of any AI related technology breaches UKHSA licence agreement with the CLA on copyright</a:t>
                      </a:r>
                      <a:endParaRPr lang="en-US"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As a result of</a:t>
                      </a:r>
                      <a:r>
                        <a:rPr lang="en-GB" sz="800" b="0" i="0" u="none" strike="noStrike" kern="1200" cap="none" normalizeH="0" baseline="0" noProof="0" dirty="0">
                          <a:ln>
                            <a:noFill/>
                          </a:ln>
                          <a:solidFill>
                            <a:srgbClr val="000000"/>
                          </a:solidFill>
                          <a:effectLst/>
                          <a:highlight>
                            <a:srgbClr val="FFFFFF"/>
                          </a:highlight>
                          <a:latin typeface="Arial"/>
                        </a:rPr>
                        <a:t>: UHKSA being bound by NHS licence agreement.</a:t>
                      </a:r>
                      <a:endParaRPr lang="en-GB"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Will lead to</a:t>
                      </a:r>
                      <a:r>
                        <a:rPr lang="en-GB" sz="800" b="0" i="0" u="none" strike="noStrike" kern="1200" cap="none" normalizeH="0" baseline="0" noProof="0" dirty="0">
                          <a:ln>
                            <a:noFill/>
                          </a:ln>
                          <a:solidFill>
                            <a:srgbClr val="000000"/>
                          </a:solidFill>
                          <a:effectLst/>
                          <a:highlight>
                            <a:srgbClr val="FFFFFF"/>
                          </a:highlight>
                          <a:latin typeface="Arial"/>
                        </a:rPr>
                        <a:t>: Prohibition of use of AI technology for non generative non training applications</a:t>
                      </a:r>
                      <a:endParaRPr lang="en-GB" sz="800" dirty="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lvl="0" indent="0" algn="l">
                        <a:lnSpc>
                          <a:spcPct val="100000"/>
                        </a:lnSpc>
                        <a:spcBef>
                          <a:spcPct val="0"/>
                        </a:spcBef>
                        <a:spcAft>
                          <a:spcPct val="10000"/>
                        </a:spcAft>
                        <a:buNone/>
                      </a:pPr>
                      <a:endParaRPr kumimoji="0" lang="en-GB" sz="800" b="0" i="0" u="none" strike="noStrike" kern="1200" cap="none" normalizeH="0" baseline="0" noProof="0" dirty="0">
                        <a:ln>
                          <a:noFill/>
                        </a:ln>
                        <a:solidFill>
                          <a:srgbClr val="000000"/>
                        </a:solidFill>
                        <a:effectLst/>
                        <a:highlight>
                          <a:srgbClr val="FFFFFF"/>
                        </a:highlight>
                        <a:latin typeface="Arial"/>
                      </a:endParaRPr>
                    </a:p>
                  </a:txBody>
                  <a:tcPr marL="45696" marR="45696" marT="45696" marB="45696">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1F4A1C84-B9AE-2CE9-3456-62C2426425DA}"/>
              </a:ext>
            </a:extLst>
          </p:cNvPr>
          <p:cNvSpPr txBox="1"/>
          <p:nvPr/>
        </p:nvSpPr>
        <p:spPr>
          <a:xfrm>
            <a:off x="5703431" y="6673624"/>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B2663C5D-EF4B-08D4-2BFF-23FDD76DE350}"/>
              </a:ext>
            </a:extLst>
          </p:cNvPr>
          <p:cNvGraphicFramePr>
            <a:graphicFrameLocks noGrp="1"/>
          </p:cNvGraphicFramePr>
          <p:nvPr/>
        </p:nvGraphicFramePr>
        <p:xfrm>
          <a:off x="5531796" y="566007"/>
          <a:ext cx="6423387" cy="365760"/>
        </p:xfrm>
        <a:graphic>
          <a:graphicData uri="http://schemas.openxmlformats.org/drawingml/2006/table">
            <a:tbl>
              <a:tblPr firstRow="1" bandRow="1">
                <a:tableStyleId>{5C22544A-7EE6-4342-B048-85BDC9FD1C3A}</a:tableStyleId>
              </a:tblPr>
              <a:tblGrid>
                <a:gridCol w="431677">
                  <a:extLst>
                    <a:ext uri="{9D8B030D-6E8A-4147-A177-3AD203B41FA5}">
                      <a16:colId xmlns:a16="http://schemas.microsoft.com/office/drawing/2014/main" val="673553765"/>
                    </a:ext>
                  </a:extLst>
                </a:gridCol>
                <a:gridCol w="431677">
                  <a:extLst>
                    <a:ext uri="{9D8B030D-6E8A-4147-A177-3AD203B41FA5}">
                      <a16:colId xmlns:a16="http://schemas.microsoft.com/office/drawing/2014/main" val="4211759447"/>
                    </a:ext>
                  </a:extLst>
                </a:gridCol>
                <a:gridCol w="431677">
                  <a:extLst>
                    <a:ext uri="{9D8B030D-6E8A-4147-A177-3AD203B41FA5}">
                      <a16:colId xmlns:a16="http://schemas.microsoft.com/office/drawing/2014/main" val="3987128177"/>
                    </a:ext>
                  </a:extLst>
                </a:gridCol>
                <a:gridCol w="431677">
                  <a:extLst>
                    <a:ext uri="{9D8B030D-6E8A-4147-A177-3AD203B41FA5}">
                      <a16:colId xmlns:a16="http://schemas.microsoft.com/office/drawing/2014/main" val="703617760"/>
                    </a:ext>
                  </a:extLst>
                </a:gridCol>
                <a:gridCol w="431677">
                  <a:extLst>
                    <a:ext uri="{9D8B030D-6E8A-4147-A177-3AD203B41FA5}">
                      <a16:colId xmlns:a16="http://schemas.microsoft.com/office/drawing/2014/main" val="3424114508"/>
                    </a:ext>
                  </a:extLst>
                </a:gridCol>
                <a:gridCol w="437798">
                  <a:extLst>
                    <a:ext uri="{9D8B030D-6E8A-4147-A177-3AD203B41FA5}">
                      <a16:colId xmlns:a16="http://schemas.microsoft.com/office/drawing/2014/main" val="3100067570"/>
                    </a:ext>
                  </a:extLst>
                </a:gridCol>
                <a:gridCol w="437798">
                  <a:extLst>
                    <a:ext uri="{9D8B030D-6E8A-4147-A177-3AD203B41FA5}">
                      <a16:colId xmlns:a16="http://schemas.microsoft.com/office/drawing/2014/main" val="3430054372"/>
                    </a:ext>
                  </a:extLst>
                </a:gridCol>
                <a:gridCol w="543717">
                  <a:extLst>
                    <a:ext uri="{9D8B030D-6E8A-4147-A177-3AD203B41FA5}">
                      <a16:colId xmlns:a16="http://schemas.microsoft.com/office/drawing/2014/main" val="2599263965"/>
                    </a:ext>
                  </a:extLst>
                </a:gridCol>
                <a:gridCol w="543717">
                  <a:extLst>
                    <a:ext uri="{9D8B030D-6E8A-4147-A177-3AD203B41FA5}">
                      <a16:colId xmlns:a16="http://schemas.microsoft.com/office/drawing/2014/main" val="1936607128"/>
                    </a:ext>
                  </a:extLst>
                </a:gridCol>
                <a:gridCol w="543717">
                  <a:extLst>
                    <a:ext uri="{9D8B030D-6E8A-4147-A177-3AD203B41FA5}">
                      <a16:colId xmlns:a16="http://schemas.microsoft.com/office/drawing/2014/main" val="681041266"/>
                    </a:ext>
                  </a:extLst>
                </a:gridCol>
                <a:gridCol w="670821">
                  <a:extLst>
                    <a:ext uri="{9D8B030D-6E8A-4147-A177-3AD203B41FA5}">
                      <a16:colId xmlns:a16="http://schemas.microsoft.com/office/drawing/2014/main" val="3887832098"/>
                    </a:ext>
                  </a:extLst>
                </a:gridCol>
                <a:gridCol w="550778">
                  <a:extLst>
                    <a:ext uri="{9D8B030D-6E8A-4147-A177-3AD203B41FA5}">
                      <a16:colId xmlns:a16="http://schemas.microsoft.com/office/drawing/2014/main" val="4211782468"/>
                    </a:ext>
                  </a:extLst>
                </a:gridCol>
                <a:gridCol w="536656">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dirty="0">
                          <a:solidFill>
                            <a:schemeClr val="lt1"/>
                          </a:solidFill>
                          <a:latin typeface="Aptos"/>
                          <a:ea typeface="+mn-ea"/>
                          <a:cs typeface="+mn-cs"/>
                        </a:rPr>
                        <a:t>Time</a:t>
                      </a:r>
                      <a:r>
                        <a:rPr lang="en-GB" sz="900" dirty="0">
                          <a:latin typeface="Aptos"/>
                        </a:rPr>
                        <a:t> </a:t>
                      </a:r>
                    </a:p>
                  </a:txBody>
                  <a:tcPr anchor="ctr">
                    <a:solidFill>
                      <a:srgbClr val="92D050"/>
                    </a:solidFill>
                  </a:tcPr>
                </a:tc>
                <a:tc>
                  <a:txBody>
                    <a:bodyPr/>
                    <a:lstStyle/>
                    <a:p>
                      <a:pPr lvl="0" algn="ctr">
                        <a:buNone/>
                      </a:pPr>
                      <a:endParaRPr lang="en-GB" sz="900" dirty="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dirty="0">
                          <a:latin typeface="Aptos"/>
                        </a:rPr>
                        <a:t>Dependencies</a:t>
                      </a:r>
                      <a:r>
                        <a:rPr lang="en-GB" sz="900" dirty="0">
                          <a:latin typeface="Aptos"/>
                        </a:rPr>
                        <a:t> </a:t>
                      </a:r>
                    </a:p>
                  </a:txBody>
                  <a:tcPr anchor="ctr">
                    <a:solidFill>
                      <a:srgbClr val="92D050"/>
                    </a:solidFill>
                  </a:tcPr>
                </a:tc>
                <a:tc>
                  <a:txBody>
                    <a:bodyPr/>
                    <a:lstStyle/>
                    <a:p>
                      <a:pPr algn="ctr"/>
                      <a:r>
                        <a:rPr lang="en-GB" sz="900" dirty="0">
                          <a:latin typeface="Aptos"/>
                        </a:rPr>
                        <a:t>Benefits </a:t>
                      </a:r>
                    </a:p>
                  </a:txBody>
                  <a:tcPr anchor="ctr">
                    <a:solidFill>
                      <a:srgbClr val="92D050"/>
                    </a:solidFill>
                  </a:tcPr>
                </a:tc>
                <a:tc>
                  <a:txBody>
                    <a:bodyPr/>
                    <a:lstStyle/>
                    <a:p>
                      <a:pPr algn="ctr"/>
                      <a:r>
                        <a:rPr lang="en-GB" sz="900" dirty="0">
                          <a:latin typeface="Aptos"/>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16199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86B8-515D-6459-862A-91DF8638D34D}"/>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320B1F34-056D-0CA2-78FB-B6913E59A2CF}"/>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933F5DC4-D0C8-217B-5961-95D6FE2E7249}"/>
              </a:ext>
            </a:extLst>
          </p:cNvPr>
          <p:cNvSpPr txBox="1">
            <a:spLocks/>
          </p:cNvSpPr>
          <p:nvPr/>
        </p:nvSpPr>
        <p:spPr>
          <a:xfrm>
            <a:off x="841952" y="-16817"/>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dirty="0">
                <a:ln>
                  <a:noFill/>
                </a:ln>
                <a:solidFill>
                  <a:srgbClr val="007C91"/>
                </a:solidFill>
                <a:effectLst/>
                <a:uLnTx/>
                <a:uFillTx/>
                <a:latin typeface="Calibri" panose="020F0502020204030204"/>
                <a:ea typeface="+mj-ea"/>
                <a:cs typeface="Arial"/>
              </a:rPr>
              <a:t>Project Update |</a:t>
            </a:r>
            <a:r>
              <a:rPr lang="en-GB" sz="2400" dirty="0">
                <a:solidFill>
                  <a:srgbClr val="242424"/>
                </a:solidFill>
                <a:latin typeface="Aptos Narrow"/>
                <a:cs typeface="Arial"/>
              </a:rPr>
              <a:t>UKHSA-AIR-RIS- AI Readiness Use Case Development 20/02 </a:t>
            </a:r>
            <a:endParaRPr lang="en-US" sz="2400" b="1" u="none" strike="noStrike" kern="1200" cap="none" spc="0" normalizeH="0" baseline="0" noProof="0" dirty="0">
              <a:ln>
                <a:noFill/>
              </a:ln>
              <a:solidFill>
                <a:srgbClr val="007C91"/>
              </a:solidFill>
              <a:effectLst/>
              <a:uLnTx/>
              <a:uFillTx/>
              <a:latin typeface="Calibri" panose="020F0502020204030204"/>
              <a:ea typeface="Calibri"/>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dirty="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F6CC71B7-0B40-9A50-B246-4646291F4BB0}"/>
              </a:ext>
            </a:extLst>
          </p:cNvPr>
          <p:cNvGraphicFramePr>
            <a:graphicFrameLocks noGrp="1"/>
          </p:cNvGraphicFramePr>
          <p:nvPr/>
        </p:nvGraphicFramePr>
        <p:xfrm>
          <a:off x="5533292" y="1887415"/>
          <a:ext cx="6550348" cy="5065741"/>
        </p:xfrm>
        <a:graphic>
          <a:graphicData uri="http://schemas.openxmlformats.org/drawingml/2006/table">
            <a:tbl>
              <a:tblPr firstRow="1">
                <a:tableStyleId>{7E9639D4-E3E2-4D34-9284-5A2195B3D0D7}</a:tableStyleId>
              </a:tblPr>
              <a:tblGrid>
                <a:gridCol w="3171775">
                  <a:extLst>
                    <a:ext uri="{9D8B030D-6E8A-4147-A177-3AD203B41FA5}">
                      <a16:colId xmlns:a16="http://schemas.microsoft.com/office/drawing/2014/main" val="20000"/>
                    </a:ext>
                  </a:extLst>
                </a:gridCol>
                <a:gridCol w="3378573">
                  <a:extLst>
                    <a:ext uri="{9D8B030D-6E8A-4147-A177-3AD203B41FA5}">
                      <a16:colId xmlns:a16="http://schemas.microsoft.com/office/drawing/2014/main" val="195155734"/>
                    </a:ext>
                  </a:extLst>
                </a:gridCol>
              </a:tblGrid>
              <a:tr h="35298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dirty="0">
                          <a:ln>
                            <a:noFill/>
                          </a:ln>
                          <a:solidFill>
                            <a:schemeClr val="bg1"/>
                          </a:solidFill>
                          <a:effectLst/>
                        </a:rPr>
                        <a:t>B.  KEY ACCOMPLISHMENTS THIS PERIOD</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949991">
                <a:tc gridSpan="2">
                  <a:txBody>
                    <a:bodyPr/>
                    <a:lstStyle/>
                    <a:p>
                      <a:pPr marL="0" marR="0" lvl="0" indent="0" algn="l" rtl="0" eaLnBrk="0" fontAlgn="base" latinLnBrk="0" hangingPunct="0">
                        <a:lnSpc>
                          <a:spcPct val="100000"/>
                        </a:lnSpc>
                        <a:spcBef>
                          <a:spcPct val="0"/>
                        </a:spcBef>
                        <a:spcAft>
                          <a:spcPct val="10000"/>
                        </a:spcAft>
                        <a:buClrTx/>
                        <a:buSzTx/>
                        <a:buNone/>
                      </a:pPr>
                      <a:r>
                        <a:rPr lang="en-GB" sz="700" b="1" i="0" u="none" strike="noStrike" kern="1200" cap="none" spc="0" normalizeH="0" baseline="0" dirty="0">
                          <a:ln>
                            <a:noFill/>
                          </a:ln>
                          <a:solidFill>
                            <a:schemeClr val="tx1">
                              <a:lumMod val="65000"/>
                              <a:lumOff val="35000"/>
                            </a:schemeClr>
                          </a:solidFill>
                          <a:effectLst/>
                          <a:uLnTx/>
                          <a:uFillTx/>
                          <a:latin typeface="Century Gothic"/>
                          <a:ea typeface="+mn-ea"/>
                          <a:cs typeface="Calibri"/>
                        </a:rPr>
                        <a:t>General</a:t>
                      </a:r>
                      <a:r>
                        <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rPr>
                        <a:t> </a:t>
                      </a:r>
                      <a:endParaRPr kumimoji="0"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171450" marR="0" lvl="0" indent="-171450" algn="l">
                        <a:lnSpc>
                          <a:spcPct val="100000"/>
                        </a:lnSpc>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Attended the Cyber Front door MDT call and have had several calls with Cyber and now have a SPOC withing the team to support the project.</a:t>
                      </a:r>
                      <a:endPar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
                          <a:srgbClr val="000000"/>
                        </a:buClr>
                        <a:buSzTx/>
                        <a:buNone/>
                      </a:pPr>
                      <a:r>
                        <a:rPr lang="en-US" sz="700" b="1" i="0" u="none" strike="noStrike" kern="1200" cap="none" spc="0" normalizeH="0" baseline="0" noProof="0" dirty="0">
                          <a:ln>
                            <a:noFill/>
                          </a:ln>
                          <a:solidFill>
                            <a:schemeClr val="tx1">
                              <a:lumMod val="65000"/>
                              <a:lumOff val="35000"/>
                            </a:schemeClr>
                          </a:solidFill>
                          <a:effectLst/>
                          <a:uLnTx/>
                          <a:uFillTx/>
                          <a:latin typeface="Century Gothic"/>
                        </a:rPr>
                        <a:t>WS2</a:t>
                      </a:r>
                    </a:p>
                    <a:p>
                      <a:r>
                        <a:rPr lang="en-GB" sz="800" dirty="0"/>
                        <a:t>- Ingestion and extraction feature complete and working in coordination</a:t>
                      </a:r>
                    </a:p>
                    <a:p>
                      <a:r>
                        <a:rPr lang="en-GB" sz="800" dirty="0"/>
                        <a:t>- Alternative extractors enabled (</a:t>
                      </a:r>
                      <a:r>
                        <a:rPr lang="en-GB" sz="800" dirty="0" err="1"/>
                        <a:t>docling</a:t>
                      </a:r>
                      <a:r>
                        <a:rPr lang="en-GB" sz="800" dirty="0"/>
                        <a:t> and Kreuzberg, working on </a:t>
                      </a:r>
                      <a:r>
                        <a:rPr lang="en-GB" sz="800" dirty="0" err="1"/>
                        <a:t>Textract</a:t>
                      </a:r>
                      <a:r>
                        <a:rPr lang="en-GB" sz="800" dirty="0"/>
                        <a:t>)</a:t>
                      </a:r>
                    </a:p>
                    <a:p>
                      <a:pPr marL="171450" indent="-171450">
                        <a:buFontTx/>
                        <a:buChar char="-"/>
                      </a:pPr>
                      <a:r>
                        <a:rPr lang="en-GB" sz="800" dirty="0"/>
                        <a:t>Body of evidence pipeline functional from ingestion to chunking</a:t>
                      </a:r>
                    </a:p>
                    <a:p>
                      <a:pPr marL="0" marR="0" lvl="0" indent="0" algn="l">
                        <a:lnSpc>
                          <a:spcPct val="100000"/>
                        </a:lnSpc>
                        <a:spcBef>
                          <a:spcPct val="0"/>
                        </a:spcBef>
                        <a:spcAft>
                          <a:spcPct val="10000"/>
                        </a:spcAft>
                        <a:buClr>
                          <a:srgbClr val="000000"/>
                        </a:buClr>
                        <a:buSz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Infrastructure &amp; AWS Architecture</a:t>
                      </a:r>
                    </a:p>
                    <a:p>
                      <a:pPr marL="171450" marR="0" lvl="0" indent="-171450" algn="l">
                        <a:lnSpc>
                          <a:spcPct val="100000"/>
                        </a:lnSpc>
                        <a:spcBef>
                          <a:spcPct val="0"/>
                        </a:spcBef>
                        <a:spcAft>
                          <a:spcPct val="10000"/>
                        </a:spcAft>
                        <a:buClr>
                          <a:srgbClr val="000000"/>
                        </a:buClr>
                        <a:buSzTx/>
                        <a:buFontTx/>
                        <a:buChar char="-"/>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Delivered a fully serverless, event‑driven AWS architecture with secure vector search, automated ingestion, and a production‑ready deployment plan.</a:t>
                      </a:r>
                    </a:p>
                    <a:p>
                      <a:pPr marL="0" marR="0" lvl="0" indent="0" algn="l">
                        <a:lnSpc>
                          <a:spcPct val="100000"/>
                        </a:lnSpc>
                        <a:spcBef>
                          <a:spcPct val="0"/>
                        </a:spcBef>
                        <a:spcAft>
                          <a:spcPct val="10000"/>
                        </a:spcAft>
                        <a:buClr>
                          <a:srgbClr val="000000"/>
                        </a:buClr>
                        <a:buSzTx/>
                        <a:buFont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Data Ingestion &amp; AI Pipeline</a:t>
                      </a:r>
                    </a:p>
                    <a:p>
                      <a:pPr marL="171450" marR="0" lvl="0" indent="-171450" algn="l">
                        <a:lnSpc>
                          <a:spcPct val="100000"/>
                        </a:lnSpc>
                        <a:spcBef>
                          <a:spcPct val="0"/>
                        </a:spcBef>
                        <a:spcAft>
                          <a:spcPct val="10000"/>
                        </a:spcAft>
                        <a:buClr>
                          <a:srgbClr val="000000"/>
                        </a:buClr>
                        <a:buSzTx/>
                        <a:buFontTx/>
                        <a:buChar char="-"/>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Built a robust AI‑driven ingestion pipeline using </a:t>
                      </a:r>
                      <a:r>
                        <a:rPr kumimoji="0" lang="en-GB" sz="700" b="0" i="0" u="none" strike="noStrike" kern="1200" cap="none" spc="0" normalizeH="0" baseline="0" noProof="0" dirty="0" err="1">
                          <a:ln>
                            <a:noFill/>
                          </a:ln>
                          <a:solidFill>
                            <a:schemeClr val="tx1">
                              <a:lumMod val="65000"/>
                              <a:lumOff val="35000"/>
                            </a:schemeClr>
                          </a:solidFill>
                          <a:effectLst/>
                          <a:uLnTx/>
                          <a:uFillTx/>
                          <a:latin typeface="Century Gothic"/>
                        </a:rPr>
                        <a:t>Textract</a:t>
                      </a: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 and Bedrock to extract layouts, metadata, embeddings, and process historical PDFs at scale.</a:t>
                      </a:r>
                    </a:p>
                    <a:p>
                      <a:pPr marL="0" marR="0" lvl="0" indent="0" algn="l">
                        <a:lnSpc>
                          <a:spcPct val="100000"/>
                        </a:lnSpc>
                        <a:spcBef>
                          <a:spcPct val="0"/>
                        </a:spcBef>
                        <a:spcAft>
                          <a:spcPct val="10000"/>
                        </a:spcAft>
                        <a:buClr>
                          <a:srgbClr val="000000"/>
                        </a:buClr>
                        <a:buSzTx/>
                        <a:buFont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Backend App &amp; Database (</a:t>
                      </a:r>
                      <a:r>
                        <a:rPr kumimoji="0" lang="en-GB" sz="700" b="1" i="0" u="none" strike="noStrike" kern="1200" cap="none" spc="0" normalizeH="0" baseline="0" noProof="0" dirty="0" err="1">
                          <a:ln>
                            <a:noFill/>
                          </a:ln>
                          <a:solidFill>
                            <a:schemeClr val="tx1">
                              <a:lumMod val="65000"/>
                              <a:lumOff val="35000"/>
                            </a:schemeClr>
                          </a:solidFill>
                          <a:effectLst/>
                          <a:uLnTx/>
                          <a:uFillTx/>
                          <a:latin typeface="Century Gothic"/>
                        </a:rPr>
                        <a:t>FastAPI</a:t>
                      </a: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a:t>
                      </a:r>
                    </a:p>
                    <a:p>
                      <a:pPr marL="171450" marR="0" lvl="0" indent="-171450" algn="l">
                        <a:lnSpc>
                          <a:spcPct val="100000"/>
                        </a:lnSpc>
                        <a:spcBef>
                          <a:spcPct val="0"/>
                        </a:spcBef>
                        <a:spcAft>
                          <a:spcPct val="10000"/>
                        </a:spcAft>
                        <a:buClr>
                          <a:srgbClr val="000000"/>
                        </a:buClr>
                        <a:buSzTx/>
                        <a:buFontTx/>
                        <a:buChar char="-"/>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Developed a </a:t>
                      </a:r>
                      <a:r>
                        <a:rPr kumimoji="0" lang="en-GB" sz="700" b="0" i="0" u="none" strike="noStrike" kern="1200" cap="none" spc="0" normalizeH="0" baseline="0" noProof="0" dirty="0" err="1">
                          <a:ln>
                            <a:noFill/>
                          </a:ln>
                          <a:solidFill>
                            <a:schemeClr val="tx1">
                              <a:lumMod val="65000"/>
                              <a:lumOff val="35000"/>
                            </a:schemeClr>
                          </a:solidFill>
                          <a:effectLst/>
                          <a:uLnTx/>
                          <a:uFillTx/>
                          <a:latin typeface="Century Gothic"/>
                        </a:rPr>
                        <a:t>FastAPI</a:t>
                      </a: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 backend with seamless PDF upload, search processing, OpenSearch pagination fixes, and a SQLite database for user/workspace tracking.</a:t>
                      </a:r>
                    </a:p>
                    <a:p>
                      <a:pPr marL="0" marR="0" lvl="0" indent="0" algn="l">
                        <a:lnSpc>
                          <a:spcPct val="100000"/>
                        </a:lnSpc>
                        <a:spcBef>
                          <a:spcPct val="0"/>
                        </a:spcBef>
                        <a:spcAft>
                          <a:spcPct val="10000"/>
                        </a:spcAft>
                        <a:buClr>
                          <a:srgbClr val="000000"/>
                        </a:buClr>
                        <a:buSzTx/>
                        <a:buFont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Frontend UI &amp; Search Features</a:t>
                      </a:r>
                    </a:p>
                    <a:p>
                      <a:pPr marL="171450" marR="0" lvl="0" indent="-171450" algn="l">
                        <a:lnSpc>
                          <a:spcPct val="100000"/>
                        </a:lnSpc>
                        <a:spcBef>
                          <a:spcPct val="0"/>
                        </a:spcBef>
                        <a:spcAft>
                          <a:spcPct val="10000"/>
                        </a:spcAft>
                        <a:buClr>
                          <a:srgbClr val="000000"/>
                        </a:buClr>
                        <a:buSzTx/>
                        <a:buFontTx/>
                        <a:buChar char="-"/>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Implemented a GOV.UK‑style interface supporting hybrid, multimodal, and S3/FAISS search modes with built‑in benchmarking tools.</a:t>
                      </a:r>
                    </a:p>
                    <a:p>
                      <a:pPr marL="0" marR="0" lvl="0" indent="0" algn="l">
                        <a:lnSpc>
                          <a:spcPct val="100000"/>
                        </a:lnSpc>
                        <a:spcBef>
                          <a:spcPct val="0"/>
                        </a:spcBef>
                        <a:spcAft>
                          <a:spcPct val="10000"/>
                        </a:spcAft>
                        <a:buClr>
                          <a:srgbClr val="000000"/>
                        </a:buClr>
                        <a:buSzTx/>
                        <a:buFont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Debugging, Refactoring &amp; Optimisation</a:t>
                      </a:r>
                    </a:p>
                    <a:p>
                      <a:pPr marL="171450" marR="0" lvl="0" indent="-171450" algn="l">
                        <a:lnSpc>
                          <a:spcPct val="100000"/>
                        </a:lnSpc>
                        <a:spcBef>
                          <a:spcPct val="0"/>
                        </a:spcBef>
                        <a:spcAft>
                          <a:spcPct val="10000"/>
                        </a:spcAft>
                        <a:buClr>
                          <a:srgbClr val="000000"/>
                        </a:buClr>
                        <a:buSzTx/>
                        <a:buFontTx/>
                        <a:buChar char="-"/>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Resolved ingestion, API, and database issues while refining search logic and improving data integrity across the application.</a:t>
                      </a:r>
                    </a:p>
                    <a:p>
                      <a:pPr marL="0" marR="0" lvl="0" indent="0" algn="l">
                        <a:lnSpc>
                          <a:spcPct val="100000"/>
                        </a:lnSpc>
                        <a:spcBef>
                          <a:spcPct val="0"/>
                        </a:spcBef>
                        <a:spcAft>
                          <a:spcPct val="10000"/>
                        </a:spcAft>
                        <a:buClr>
                          <a:srgbClr val="000000"/>
                        </a:buClr>
                        <a:buSzTx/>
                        <a:buFontTx/>
                        <a:buNone/>
                      </a:pPr>
                      <a:r>
                        <a:rPr kumimoji="0" lang="en-GB" sz="700" b="1" i="0" u="none" strike="noStrike" kern="1200" cap="none" spc="0" normalizeH="0" baseline="0" noProof="0" dirty="0">
                          <a:ln>
                            <a:noFill/>
                          </a:ln>
                          <a:solidFill>
                            <a:schemeClr val="tx1">
                              <a:lumMod val="65000"/>
                              <a:lumOff val="35000"/>
                            </a:schemeClr>
                          </a:solidFill>
                          <a:effectLst/>
                          <a:uLnTx/>
                          <a:uFillTx/>
                          <a:latin typeface="Century Gothic"/>
                        </a:rPr>
                        <a:t>Documentation &amp; Costing</a:t>
                      </a:r>
                    </a:p>
                    <a:p>
                      <a:pPr marL="0" marR="0" lvl="0" indent="0" algn="l">
                        <a:lnSpc>
                          <a:spcPct val="100000"/>
                        </a:lnSpc>
                        <a:spcBef>
                          <a:spcPct val="0"/>
                        </a:spcBef>
                        <a:spcAft>
                          <a:spcPct val="10000"/>
                        </a:spcAft>
                        <a:buClr>
                          <a:srgbClr val="000000"/>
                        </a:buClr>
                        <a:buSzTx/>
                        <a:buFontTx/>
                        <a:buNone/>
                      </a:pPr>
                      <a:r>
                        <a:rPr kumimoji="0" lang="en-GB" sz="700" b="0" i="0" u="none" strike="noStrike" kern="1200" cap="none" spc="0" normalizeH="0" baseline="0" noProof="0" dirty="0">
                          <a:ln>
                            <a:noFill/>
                          </a:ln>
                          <a:solidFill>
                            <a:schemeClr val="tx1">
                              <a:lumMod val="65000"/>
                              <a:lumOff val="35000"/>
                            </a:schemeClr>
                          </a:solidFill>
                          <a:effectLst/>
                          <a:uLnTx/>
                          <a:uFillTx/>
                          <a:latin typeface="Century Gothic"/>
                        </a:rPr>
                        <a:t>- Produced detailed cost estimates and comprehensive onboarding documentation for setup, deployment, and ongoing operations.</a:t>
                      </a:r>
                      <a:endParaRPr kumimoji="0"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0" marR="0" lvl="0" indent="0" algn="l">
                        <a:lnSpc>
                          <a:spcPct val="100000"/>
                        </a:lnSpc>
                        <a:spcBef>
                          <a:spcPct val="0"/>
                        </a:spcBef>
                        <a:spcAft>
                          <a:spcPct val="10000"/>
                        </a:spcAft>
                        <a:buNone/>
                      </a:pPr>
                      <a:r>
                        <a:rPr lang="en-US" sz="700" b="1" i="0" u="none" strike="noStrike" cap="none" normalizeH="0" baseline="0" noProof="0" dirty="0">
                          <a:ln>
                            <a:noFill/>
                          </a:ln>
                          <a:solidFill>
                            <a:schemeClr val="tx1">
                              <a:lumMod val="65000"/>
                              <a:lumOff val="35000"/>
                            </a:schemeClr>
                          </a:solidFill>
                          <a:effectLst/>
                          <a:latin typeface="Century Gothic"/>
                        </a:rPr>
                        <a:t>WS3</a:t>
                      </a:r>
                      <a:r>
                        <a:rPr lang="en-US" sz="700" b="0" i="0" u="none" strike="noStrike" cap="none" normalizeH="0" baseline="0" noProof="0" dirty="0">
                          <a:ln>
                            <a:noFill/>
                          </a:ln>
                          <a:solidFill>
                            <a:schemeClr val="tx1">
                              <a:lumMod val="65000"/>
                              <a:lumOff val="35000"/>
                            </a:schemeClr>
                          </a:solidFill>
                          <a:effectLst/>
                          <a:latin typeface="Century Gothic"/>
                        </a:rPr>
                        <a:t> </a:t>
                      </a:r>
                    </a:p>
                    <a:p>
                      <a:pPr marL="0" marR="0" lvl="0" indent="0" algn="l">
                        <a:lnSpc>
                          <a:spcPct val="100000"/>
                        </a:lnSpc>
                        <a:spcBef>
                          <a:spcPct val="0"/>
                        </a:spcBef>
                        <a:spcAft>
                          <a:spcPct val="10000"/>
                        </a:spcAft>
                        <a:buNone/>
                      </a:pPr>
                      <a:r>
                        <a:rPr lang="en-US" sz="700" b="0" i="0" u="none" strike="noStrike" cap="none" normalizeH="0" baseline="0" noProof="0" dirty="0">
                          <a:ln>
                            <a:noFill/>
                          </a:ln>
                          <a:solidFill>
                            <a:schemeClr val="tx1">
                              <a:lumMod val="65000"/>
                              <a:lumOff val="35000"/>
                            </a:schemeClr>
                          </a:solidFill>
                          <a:effectLst/>
                          <a:latin typeface="Century Gothic"/>
                        </a:rPr>
                        <a:t>- Meeting with stakeholders to provide an overview of the work that has been done to date on the AI Governance model</a:t>
                      </a:r>
                      <a:endParaRPr lang="en-US" sz="700" b="0" i="0" u="none" strike="noStrike" cap="none" normalizeH="0" baseline="0" noProof="0" dirty="0">
                        <a:ln>
                          <a:noFill/>
                        </a:ln>
                        <a:solidFill>
                          <a:srgbClr val="000000"/>
                        </a:solidFill>
                        <a:effectLst/>
                        <a:latin typeface="Century Gothic"/>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a:ln>
                            <a:noFill/>
                          </a:ln>
                          <a:solidFill>
                            <a:schemeClr val="bg1"/>
                          </a:solidFill>
                          <a:effectLst/>
                          <a:latin typeface="EYInterstate" pitchFamily="2" charset="0"/>
                        </a:rPr>
                        <a:t>C. Key Activities next period</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dirty="0"/>
                    </a:p>
                  </a:txBody>
                  <a:tcPr/>
                </a:tc>
                <a:extLst>
                  <a:ext uri="{0D108BD9-81ED-4DB2-BD59-A6C34878D82A}">
                    <a16:rowId xmlns:a16="http://schemas.microsoft.com/office/drawing/2014/main" val="10002"/>
                  </a:ext>
                </a:extLst>
              </a:tr>
              <a:tr h="655544">
                <a:tc gridSpan="2">
                  <a:txBody>
                    <a:bodyPr/>
                    <a:lstStyle/>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cap="none" normalizeH="0" baseline="0" noProof="0" dirty="0">
                          <a:ln>
                            <a:noFill/>
                          </a:ln>
                          <a:solidFill>
                            <a:schemeClr val="tx1">
                              <a:lumMod val="65000"/>
                              <a:lumOff val="35000"/>
                            </a:schemeClr>
                          </a:solidFill>
                          <a:effectLst/>
                          <a:latin typeface="Century Gothic"/>
                        </a:rPr>
                        <a:t>Engaging with cyber security to review architecture and roadmap</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Continue user story creation and defining acceptance criteria</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Continue iterating user journeys and UX designs</a:t>
                      </a:r>
                    </a:p>
                    <a:p>
                      <a:pPr marL="171450" marR="0" lvl="0" indent="-171450" algn="l" defTabSz="914400" rtl="0" eaLnBrk="0" fontAlgn="base" latinLnBrk="0" hangingPunct="0">
                        <a:lnSpc>
                          <a:spcPct val="100000"/>
                        </a:lnSpc>
                        <a:spcBef>
                          <a:spcPct val="0"/>
                        </a:spcBef>
                        <a:spcAft>
                          <a:spcPct val="10000"/>
                        </a:spcAft>
                        <a:buClrTx/>
                        <a:buSzTx/>
                        <a:buFont typeface="Arial"/>
                        <a:buChar char="•"/>
                        <a:tabLst/>
                        <a:defRP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Continue working on Embedding component</a:t>
                      </a:r>
                    </a:p>
                    <a:p>
                      <a:pPr marL="171450" marR="0" lvl="0" indent="-171450" algn="l" defTabSz="914400" rtl="0" eaLnBrk="0" fontAlgn="base" latinLnBrk="0" hangingPunct="0">
                        <a:lnSpc>
                          <a:spcPct val="100000"/>
                        </a:lnSpc>
                        <a:spcBef>
                          <a:spcPct val="0"/>
                        </a:spcBef>
                        <a:spcAft>
                          <a:spcPct val="10000"/>
                        </a:spcAft>
                        <a:buClrTx/>
                        <a:buSzTx/>
                        <a:buFont typeface="Arial"/>
                        <a:buChar char="•"/>
                        <a:tabLst/>
                        <a:defRP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Finalising metadata </a:t>
                      </a:r>
                      <a:r>
                        <a:rPr lang="en-GB" sz="700" b="0" i="0" u="none" strike="noStrike" kern="1200" cap="none" spc="0" normalizeH="0" baseline="0" noProof="0" dirty="0" err="1">
                          <a:ln>
                            <a:noFill/>
                          </a:ln>
                          <a:solidFill>
                            <a:schemeClr val="tx1">
                              <a:lumMod val="65000"/>
                              <a:lumOff val="35000"/>
                            </a:schemeClr>
                          </a:solidFill>
                          <a:effectLst/>
                          <a:uLnTx/>
                          <a:uFillTx/>
                          <a:latin typeface="Century Gothic"/>
                        </a:rPr>
                        <a:t>requiremhts</a:t>
                      </a:r>
                      <a:r>
                        <a:rPr lang="en-GB" sz="700" b="0" i="0" u="none" strike="noStrike" kern="1200" cap="none" spc="0" normalizeH="0" baseline="0" noProof="0" dirty="0">
                          <a:ln>
                            <a:noFill/>
                          </a:ln>
                          <a:solidFill>
                            <a:schemeClr val="tx1">
                              <a:lumMod val="65000"/>
                              <a:lumOff val="35000"/>
                            </a:schemeClr>
                          </a:solidFill>
                          <a:effectLst/>
                          <a:uLnTx/>
                          <a:uFillTx/>
                          <a:latin typeface="Century Gothic"/>
                        </a:rPr>
                        <a:t> for documents</a:t>
                      </a:r>
                      <a:endParaRPr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marR="0" lvl="0" indent="-171450" algn="l" rtl="0" eaLnBrk="0" fontAlgn="base" latinLnBrk="0" hangingPunct="0">
                        <a:lnSpc>
                          <a:spcPct val="100000"/>
                        </a:lnSpc>
                        <a:spcBef>
                          <a:spcPct val="0"/>
                        </a:spcBef>
                        <a:spcAft>
                          <a:spcPct val="10000"/>
                        </a:spcAft>
                        <a:buClrTx/>
                        <a:buSzTx/>
                        <a:buFont typeface="Arial"/>
                        <a:buChar char="•"/>
                      </a:pPr>
                      <a:endPar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dirty="0">
                          <a:ln>
                            <a:noFill/>
                          </a:ln>
                          <a:solidFill>
                            <a:schemeClr val="bg1"/>
                          </a:solidFill>
                          <a:effectLst/>
                          <a:latin typeface="EYInterstate"/>
                        </a:rPr>
                        <a:t>D.  KEY ISSUES REQUIRING MANAGEMENT ATTENTION / AWARENESS</a:t>
                      </a:r>
                      <a:endParaRPr kumimoji="0" lang="en-US" sz="800" b="1" i="0" u="none" strike="noStrike" cap="none" normalizeH="0" baseline="0" dirty="0">
                        <a:ln>
                          <a:noFill/>
                        </a:ln>
                        <a:solidFill>
                          <a:schemeClr val="bg1"/>
                        </a:solidFill>
                        <a:effectLst/>
                        <a:latin typeface="EYInterstate"/>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6115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dirty="0">
                          <a:ln>
                            <a:noFill/>
                          </a:ln>
                          <a:solidFill>
                            <a:schemeClr val="bg2"/>
                          </a:solidFill>
                          <a:effectLst/>
                          <a:latin typeface="EYInterstate Light"/>
                          <a:ea typeface="+mn-ea"/>
                          <a:cs typeface="+mn-cs"/>
                        </a:rPr>
                        <a:t>ATTENTION (HELP NEEDED)</a:t>
                      </a:r>
                      <a:endParaRPr kumimoji="0" lang="en-US" sz="800" b="1" i="0" u="none" strike="noStrike" kern="1200" cap="none" normalizeH="0" baseline="0" dirty="0">
                        <a:ln>
                          <a:noFill/>
                        </a:ln>
                        <a:solidFill>
                          <a:schemeClr val="bg2"/>
                        </a:solidFill>
                        <a:effectLst/>
                        <a:latin typeface="EYInterstate Ligh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dirty="0">
                          <a:ln>
                            <a:noFill/>
                          </a:ln>
                          <a:solidFill>
                            <a:schemeClr val="bg2"/>
                          </a:solidFill>
                          <a:effectLst/>
                          <a:latin typeface="EYInterstate Light"/>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21896">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endParaRPr kumimoji="0" lang="en-GB" sz="800" dirty="0"/>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DDEADDDA-BBC6-09EA-D9F9-ACDB5603C8EE}"/>
              </a:ext>
            </a:extLst>
          </p:cNvPr>
          <p:cNvGraphicFramePr>
            <a:graphicFrameLocks noGrp="1"/>
          </p:cNvGraphicFramePr>
          <p:nvPr/>
        </p:nvGraphicFramePr>
        <p:xfrm>
          <a:off x="467472" y="566009"/>
          <a:ext cx="4898205" cy="1246712"/>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1593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dirty="0">
                          <a:ln>
                            <a:noFill/>
                          </a:ln>
                          <a:effectLst/>
                        </a:rPr>
                        <a:t>A.  </a:t>
                      </a:r>
                      <a:r>
                        <a:rPr kumimoji="0" lang="en-GB" sz="800" u="none" strike="noStrike" cap="none" normalizeH="0" baseline="0" dirty="0">
                          <a:ln>
                            <a:noFill/>
                          </a:ln>
                          <a:effectLst/>
                        </a:rPr>
                        <a:t>EXECUTIVE SUMMARY</a:t>
                      </a:r>
                      <a:endParaRPr kumimoji="0" lang="en-US" sz="800" b="1" i="0" u="none" strike="noStrike" cap="none" normalizeH="0" baseline="0" dirty="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96062">
                <a:tc>
                  <a:txBody>
                    <a:bodyPr/>
                    <a:lstStyle/>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The programme made strong progress this period, advancing core technical delivery. Engagement with Cyber has improved and we’ve been assigned a dedicated SPOC to support the work. Key technical components are now in place: ingestion and extraction capabilities are complete and operating, supported by multiple extractor options. The end‑to‑end evidence pipeline is fully functional, and the team has deployed a production‑ready, serverless AWS architecture that enables secure vector search and automated ingestion. Significant enhancements were also delivered across the application stack. The ingestion pipeline now processes historical PDFs at scale using </a:t>
                      </a:r>
                      <a:r>
                        <a:rPr lang="en-GB" sz="700" b="0" i="0" u="none" strike="noStrike" kern="1200" cap="none" spc="0" normalizeH="0" baseline="0" noProof="0" dirty="0" err="1">
                          <a:ln>
                            <a:noFill/>
                          </a:ln>
                          <a:solidFill>
                            <a:schemeClr val="tx1">
                              <a:lumMod val="65000"/>
                              <a:lumOff val="35000"/>
                            </a:schemeClr>
                          </a:solidFill>
                          <a:effectLst/>
                          <a:uLnTx/>
                          <a:uFillTx/>
                          <a:latin typeface="Century Gothic"/>
                          <a:ea typeface="+mn-ea"/>
                          <a:cs typeface="Calibri"/>
                        </a:rPr>
                        <a:t>Textract</a:t>
                      </a: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 the </a:t>
                      </a:r>
                      <a:r>
                        <a:rPr lang="en-GB" sz="700" b="0" i="0" u="none" strike="noStrike" kern="1200" cap="none" spc="0" normalizeH="0" baseline="0" noProof="0" dirty="0" err="1">
                          <a:ln>
                            <a:noFill/>
                          </a:ln>
                          <a:solidFill>
                            <a:schemeClr val="tx1">
                              <a:lumMod val="65000"/>
                              <a:lumOff val="35000"/>
                            </a:schemeClr>
                          </a:solidFill>
                          <a:effectLst/>
                          <a:uLnTx/>
                          <a:uFillTx/>
                          <a:latin typeface="Century Gothic"/>
                          <a:ea typeface="+mn-ea"/>
                          <a:cs typeface="Calibri"/>
                        </a:rPr>
                        <a:t>FastAPI</a:t>
                      </a: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backend and database provide stable support for uploads, search, and workspace tracking; and the GOV.UK‑style frontend enables search with benchmarking capability</a:t>
                      </a: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 In </a:t>
                      </a: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parallel, WS3 progressed with stakeholder engagement on the AI Governance model, ensuring alignment as the programme moves toward upcoming phases.</a:t>
                      </a:r>
                    </a:p>
                  </a:txBody>
                  <a:tcPr marL="33146" marR="33146" marT="14365" marB="14365"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632C8710-947B-6125-883E-6375347A59B7}"/>
              </a:ext>
            </a:extLst>
          </p:cNvPr>
          <p:cNvGraphicFramePr>
            <a:graphicFrameLocks noGrp="1"/>
          </p:cNvGraphicFramePr>
          <p:nvPr/>
        </p:nvGraphicFramePr>
        <p:xfrm>
          <a:off x="5531796" y="946905"/>
          <a:ext cx="6453431" cy="892648"/>
        </p:xfrm>
        <a:graphic>
          <a:graphicData uri="http://schemas.openxmlformats.org/drawingml/2006/table">
            <a:tbl>
              <a:tblPr firstRow="1">
                <a:tableStyleId>{7E9639D4-E3E2-4D34-9284-5A2195B3D0D7}</a:tableStyleId>
              </a:tblPr>
              <a:tblGrid>
                <a:gridCol w="521072">
                  <a:extLst>
                    <a:ext uri="{9D8B030D-6E8A-4147-A177-3AD203B41FA5}">
                      <a16:colId xmlns:a16="http://schemas.microsoft.com/office/drawing/2014/main" val="4205414778"/>
                    </a:ext>
                  </a:extLst>
                </a:gridCol>
                <a:gridCol w="2462436">
                  <a:extLst>
                    <a:ext uri="{9D8B030D-6E8A-4147-A177-3AD203B41FA5}">
                      <a16:colId xmlns:a16="http://schemas.microsoft.com/office/drawing/2014/main" val="20000"/>
                    </a:ext>
                  </a:extLst>
                </a:gridCol>
                <a:gridCol w="667947">
                  <a:extLst>
                    <a:ext uri="{9D8B030D-6E8A-4147-A177-3AD203B41FA5}">
                      <a16:colId xmlns:a16="http://schemas.microsoft.com/office/drawing/2014/main" val="20001"/>
                    </a:ext>
                  </a:extLst>
                </a:gridCol>
                <a:gridCol w="667947">
                  <a:extLst>
                    <a:ext uri="{9D8B030D-6E8A-4147-A177-3AD203B41FA5}">
                      <a16:colId xmlns:a16="http://schemas.microsoft.com/office/drawing/2014/main" val="3492732595"/>
                    </a:ext>
                  </a:extLst>
                </a:gridCol>
                <a:gridCol w="325803">
                  <a:extLst>
                    <a:ext uri="{9D8B030D-6E8A-4147-A177-3AD203B41FA5}">
                      <a16:colId xmlns:a16="http://schemas.microsoft.com/office/drawing/2014/main" val="20004"/>
                    </a:ext>
                  </a:extLst>
                </a:gridCol>
                <a:gridCol w="194579">
                  <a:extLst>
                    <a:ext uri="{9D8B030D-6E8A-4147-A177-3AD203B41FA5}">
                      <a16:colId xmlns:a16="http://schemas.microsoft.com/office/drawing/2014/main" val="20005"/>
                    </a:ext>
                  </a:extLst>
                </a:gridCol>
                <a:gridCol w="1613647">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dirty="0">
                          <a:ln>
                            <a:noFill/>
                          </a:ln>
                          <a:effectLst/>
                        </a:rPr>
                        <a:t>E. KEY MILESTONES (DUE FOR THE CURRENT AND NEXT PERIOD + OVERDUE + AT RISK)</a:t>
                      </a:r>
                      <a:endParaRPr kumimoji="0" lang="en-GB" sz="800" b="0" i="0" u="none" strike="noStrike" kern="1200" cap="none" normalizeH="0" baseline="0" noProof="0" dirty="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ID</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Milestone Name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Plan Date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dirty="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LP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CP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dirty="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88A2B7F9-4C44-CBC5-2A9C-BFC2778A1595}"/>
              </a:ext>
            </a:extLst>
          </p:cNvPr>
          <p:cNvGraphicFramePr>
            <a:graphicFrameLocks noGrp="1"/>
          </p:cNvGraphicFramePr>
          <p:nvPr/>
        </p:nvGraphicFramePr>
        <p:xfrm>
          <a:off x="415777" y="1887415"/>
          <a:ext cx="5030950" cy="4851999"/>
        </p:xfrm>
        <a:graphic>
          <a:graphicData uri="http://schemas.openxmlformats.org/drawingml/2006/table">
            <a:tbl>
              <a:tblPr firstRow="1" bandRow="1" bandCol="1">
                <a:tableStyleId>{7E9639D4-E3E2-4D34-9284-5A2195B3D0D7}</a:tableStyleId>
              </a:tblPr>
              <a:tblGrid>
                <a:gridCol w="248433">
                  <a:extLst>
                    <a:ext uri="{9D8B030D-6E8A-4147-A177-3AD203B41FA5}">
                      <a16:colId xmlns:a16="http://schemas.microsoft.com/office/drawing/2014/main" val="2199885390"/>
                    </a:ext>
                  </a:extLst>
                </a:gridCol>
                <a:gridCol w="2468443">
                  <a:extLst>
                    <a:ext uri="{9D8B030D-6E8A-4147-A177-3AD203B41FA5}">
                      <a16:colId xmlns:a16="http://schemas.microsoft.com/office/drawing/2014/main" val="1148451240"/>
                    </a:ext>
                  </a:extLst>
                </a:gridCol>
                <a:gridCol w="1564204">
                  <a:extLst>
                    <a:ext uri="{9D8B030D-6E8A-4147-A177-3AD203B41FA5}">
                      <a16:colId xmlns:a16="http://schemas.microsoft.com/office/drawing/2014/main" val="20001"/>
                    </a:ext>
                  </a:extLst>
                </a:gridCol>
                <a:gridCol w="399931">
                  <a:extLst>
                    <a:ext uri="{9D8B030D-6E8A-4147-A177-3AD203B41FA5}">
                      <a16:colId xmlns:a16="http://schemas.microsoft.com/office/drawing/2014/main" val="1614259304"/>
                    </a:ext>
                  </a:extLst>
                </a:gridCol>
                <a:gridCol w="349939">
                  <a:extLst>
                    <a:ext uri="{9D8B030D-6E8A-4147-A177-3AD203B41FA5}">
                      <a16:colId xmlns:a16="http://schemas.microsoft.com/office/drawing/2014/main" val="1695019054"/>
                    </a:ext>
                  </a:extLst>
                </a:gridCol>
              </a:tblGrid>
              <a:tr h="190380">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solidFill>
                      <a:prstDash val="solid"/>
                      <a:round/>
                      <a:headEnd type="none" w="med" len="med"/>
                      <a:tailEnd type="none" w="med" len="med"/>
                    </a:ln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9038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161319">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UKHSA-AIR-RIS-19</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Risk: </a:t>
                      </a:r>
                      <a:r>
                        <a:rPr lang="en-GB" sz="800" b="0" i="0" dirty="0">
                          <a:solidFill>
                            <a:srgbClr val="000000"/>
                          </a:solidFill>
                          <a:effectLst/>
                          <a:latin typeface="Arial" panose="020B0604020202020204" pitchFamily="34" charset="0"/>
                        </a:rPr>
                        <a:t>The solution may not progress to Private Beta</a:t>
                      </a:r>
                      <a:r>
                        <a:rPr lang="en-GB" sz="800" b="1" i="0" dirty="0">
                          <a:solidFill>
                            <a:srgbClr val="000000"/>
                          </a:solidFill>
                          <a:effectLst/>
                          <a:latin typeface="Arial" panose="020B0604020202020204" pitchFamily="34" charset="0"/>
                        </a:rPr>
                        <a:t>.</a:t>
                      </a:r>
                    </a:p>
                    <a:p>
                      <a:pPr algn="l">
                        <a:buNone/>
                      </a:pPr>
                      <a:r>
                        <a:rPr lang="en-GB" sz="800" b="1" i="0" dirty="0">
                          <a:solidFill>
                            <a:srgbClr val="000000"/>
                          </a:solidFill>
                          <a:effectLst/>
                          <a:latin typeface="Arial" panose="020B0604020202020204" pitchFamily="34" charset="0"/>
                        </a:rPr>
                        <a:t>Cause: </a:t>
                      </a:r>
                      <a:r>
                        <a:rPr lang="en-GB" sz="800" b="0" i="0" dirty="0">
                          <a:solidFill>
                            <a:srgbClr val="000000"/>
                          </a:solidFill>
                          <a:effectLst/>
                          <a:latin typeface="Arial" panose="020B0604020202020204" pitchFamily="34" charset="0"/>
                        </a:rPr>
                        <a:t>The project may not receive access to the UKHSA Production AWS account in time.</a:t>
                      </a:r>
                    </a:p>
                    <a:p>
                      <a:pPr algn="l">
                        <a:buNone/>
                      </a:pPr>
                      <a:r>
                        <a:rPr lang="en-GB" sz="800" b="1" i="0" dirty="0">
                          <a:solidFill>
                            <a:srgbClr val="000000"/>
                          </a:solidFill>
                          <a:effectLst/>
                          <a:latin typeface="Arial" panose="020B0604020202020204" pitchFamily="34" charset="0"/>
                        </a:rPr>
                        <a:t>Impact: </a:t>
                      </a:r>
                      <a:r>
                        <a:rPr lang="en-GB" sz="800" b="0" i="0" dirty="0">
                          <a:solidFill>
                            <a:srgbClr val="000000"/>
                          </a:solidFill>
                          <a:effectLst/>
                          <a:latin typeface="Arial" panose="020B0604020202020204" pitchFamily="34" charset="0"/>
                        </a:rPr>
                        <a:t>UKHSA teams would need to complete the remaining deployment pipeline after the Informed Solutions team rolls off at the end of March.</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dirty="0"/>
                        <a:t>Submit a TRB request promptly to secure production‑level approval from key UKHSA stakeholders.</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R</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0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348846143"/>
                  </a:ext>
                </a:extLst>
              </a:tr>
              <a:tr h="95962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dirty="0">
                          <a:solidFill>
                            <a:srgbClr val="242424"/>
                          </a:solidFill>
                          <a:effectLst/>
                          <a:latin typeface="Aptos Narrow" panose="020B0004020202020204" pitchFamily="34" charset="0"/>
                        </a:rPr>
                        <a:t>UKHSA-AIR-RIS-05</a:t>
                      </a:r>
                      <a:endPar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There is a risk</a:t>
                      </a:r>
                      <a:r>
                        <a:rPr lang="en-GB" sz="800" b="0" i="0" dirty="0">
                          <a:solidFill>
                            <a:srgbClr val="000000"/>
                          </a:solidFill>
                          <a:effectLst/>
                          <a:latin typeface="Arial" panose="020B0604020202020204" pitchFamily="34" charset="0"/>
                        </a:rPr>
                        <a:t>: that the UKHSA cyber security forum insist on the Informed Team to be SC vetted</a:t>
                      </a:r>
                    </a:p>
                    <a:p>
                      <a:pPr algn="l">
                        <a:buNone/>
                      </a:pPr>
                      <a:r>
                        <a:rPr lang="en-GB" sz="800" b="1" i="0" dirty="0">
                          <a:solidFill>
                            <a:srgbClr val="000000"/>
                          </a:solidFill>
                          <a:effectLst/>
                          <a:latin typeface="Arial"/>
                        </a:rPr>
                        <a:t>As a result of</a:t>
                      </a:r>
                      <a:r>
                        <a:rPr lang="en-GB" sz="800" b="0" i="0" dirty="0">
                          <a:solidFill>
                            <a:srgbClr val="000000"/>
                          </a:solidFill>
                          <a:effectLst/>
                          <a:latin typeface="Arial"/>
                        </a:rPr>
                        <a:t>: the team having access to Confluence and JIRA.</a:t>
                      </a:r>
                    </a:p>
                    <a:p>
                      <a:pPr algn="l">
                        <a:buNone/>
                      </a:pPr>
                      <a:r>
                        <a:rPr lang="en-GB" sz="800" b="1" i="0" dirty="0">
                          <a:solidFill>
                            <a:srgbClr val="000000"/>
                          </a:solidFill>
                          <a:effectLst/>
                          <a:latin typeface="Arial"/>
                        </a:rPr>
                        <a:t>Will lead to</a:t>
                      </a:r>
                      <a:r>
                        <a:rPr lang="en-GB" sz="800" b="0" i="0" dirty="0">
                          <a:solidFill>
                            <a:srgbClr val="000000"/>
                          </a:solidFill>
                          <a:effectLst/>
                          <a:latin typeface="Arial"/>
                        </a:rPr>
                        <a:t>: loss of momentum, or a pause in the development work.</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dirty="0"/>
                        <a:t>Informed solutions have key individuals within the team that are SC cleared and cab provide oversight on the teams activities. The team ask the SRO to accept the risk that they are not all SC cleared</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R</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0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10002"/>
                  </a:ext>
                </a:extLst>
              </a:tr>
              <a:tr h="1039702">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There is a risk:</a:t>
                      </a:r>
                      <a:r>
                        <a:rPr lang="en-GB" sz="800" b="0" i="0" dirty="0">
                          <a:solidFill>
                            <a:srgbClr val="000000"/>
                          </a:solidFill>
                          <a:effectLst/>
                          <a:latin typeface="Arial" panose="020B0604020202020204" pitchFamily="34" charset="0"/>
                        </a:rPr>
                        <a:t> Additional budget may be required, requested and approved.</a:t>
                      </a:r>
                    </a:p>
                    <a:p>
                      <a:pPr algn="l">
                        <a:buNone/>
                      </a:pPr>
                      <a:r>
                        <a:rPr lang="en-GB" sz="800" b="1" i="0" dirty="0">
                          <a:solidFill>
                            <a:srgbClr val="000000"/>
                          </a:solidFill>
                          <a:effectLst/>
                          <a:latin typeface="Arial"/>
                        </a:rPr>
                        <a:t>As a result of:</a:t>
                      </a:r>
                      <a:r>
                        <a:rPr lang="en-GB" sz="800" b="0" i="0" dirty="0">
                          <a:solidFill>
                            <a:srgbClr val="000000"/>
                          </a:solidFill>
                          <a:effectLst/>
                          <a:latin typeface="Arial"/>
                        </a:rPr>
                        <a:t> incurred cloud hosting and computing costs for deployment of the Private Beta solution</a:t>
                      </a:r>
                    </a:p>
                    <a:p>
                      <a:pPr algn="l">
                        <a:buNone/>
                      </a:pPr>
                      <a:r>
                        <a:rPr lang="en-GB" sz="800" b="1" i="0" dirty="0">
                          <a:solidFill>
                            <a:srgbClr val="000000"/>
                          </a:solidFill>
                          <a:effectLst/>
                          <a:latin typeface="Arial"/>
                        </a:rPr>
                        <a:t>Will lead to:</a:t>
                      </a:r>
                      <a:r>
                        <a:rPr lang="en-GB" sz="800" b="0" i="0" dirty="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dirty="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dirty="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1232298">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There is a risk</a:t>
                      </a:r>
                      <a:r>
                        <a:rPr lang="en-GB" sz="800" b="0" i="0" u="none" strike="noStrike" kern="1200" cap="none" normalizeH="0" baseline="0" noProof="0" dirty="0">
                          <a:ln>
                            <a:noFill/>
                          </a:ln>
                          <a:solidFill>
                            <a:srgbClr val="000000"/>
                          </a:solidFill>
                          <a:effectLst/>
                          <a:highlight>
                            <a:srgbClr val="FFFFFF"/>
                          </a:highlight>
                          <a:latin typeface="Arial"/>
                        </a:rPr>
                        <a:t>: Use of any AI related technology breaches UKHSA licence agreement with the CLA on copyright</a:t>
                      </a:r>
                      <a:endParaRPr lang="en-US"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As a result of</a:t>
                      </a:r>
                      <a:r>
                        <a:rPr lang="en-GB" sz="800" b="0" i="0" u="none" strike="noStrike" kern="1200" cap="none" normalizeH="0" baseline="0" noProof="0" dirty="0">
                          <a:ln>
                            <a:noFill/>
                          </a:ln>
                          <a:solidFill>
                            <a:srgbClr val="000000"/>
                          </a:solidFill>
                          <a:effectLst/>
                          <a:highlight>
                            <a:srgbClr val="FFFFFF"/>
                          </a:highlight>
                          <a:latin typeface="Arial"/>
                        </a:rPr>
                        <a:t>: UHKSA being bound by NHS licence agreement.</a:t>
                      </a:r>
                      <a:endParaRPr lang="en-GB"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Will lead to</a:t>
                      </a:r>
                      <a:r>
                        <a:rPr lang="en-GB" sz="800" b="0" i="0" u="none" strike="noStrike" kern="1200" cap="none" normalizeH="0" baseline="0" noProof="0" dirty="0">
                          <a:ln>
                            <a:noFill/>
                          </a:ln>
                          <a:solidFill>
                            <a:srgbClr val="000000"/>
                          </a:solidFill>
                          <a:effectLst/>
                          <a:highlight>
                            <a:srgbClr val="FFFFFF"/>
                          </a:highlight>
                          <a:latin typeface="Arial"/>
                        </a:rPr>
                        <a:t>: Prohibition of use of AI technology for non generative non training applications</a:t>
                      </a:r>
                      <a:endParaRPr lang="en-GB" sz="800" dirty="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A16B2CD1-F113-9088-5D87-C9C9293ECE97}"/>
              </a:ext>
            </a:extLst>
          </p:cNvPr>
          <p:cNvSpPr txBox="1"/>
          <p:nvPr/>
        </p:nvSpPr>
        <p:spPr>
          <a:xfrm>
            <a:off x="5703431" y="6673624"/>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FDA519B1-DF1F-C5DD-8B06-1AD2753B3E18}"/>
              </a:ext>
            </a:extLst>
          </p:cNvPr>
          <p:cNvGraphicFramePr>
            <a:graphicFrameLocks noGrp="1"/>
          </p:cNvGraphicFramePr>
          <p:nvPr/>
        </p:nvGraphicFramePr>
        <p:xfrm>
          <a:off x="5531796" y="566007"/>
          <a:ext cx="6423387" cy="365760"/>
        </p:xfrm>
        <a:graphic>
          <a:graphicData uri="http://schemas.openxmlformats.org/drawingml/2006/table">
            <a:tbl>
              <a:tblPr firstRow="1" bandRow="1">
                <a:tableStyleId>{5C22544A-7EE6-4342-B048-85BDC9FD1C3A}</a:tableStyleId>
              </a:tblPr>
              <a:tblGrid>
                <a:gridCol w="431677">
                  <a:extLst>
                    <a:ext uri="{9D8B030D-6E8A-4147-A177-3AD203B41FA5}">
                      <a16:colId xmlns:a16="http://schemas.microsoft.com/office/drawing/2014/main" val="673553765"/>
                    </a:ext>
                  </a:extLst>
                </a:gridCol>
                <a:gridCol w="431677">
                  <a:extLst>
                    <a:ext uri="{9D8B030D-6E8A-4147-A177-3AD203B41FA5}">
                      <a16:colId xmlns:a16="http://schemas.microsoft.com/office/drawing/2014/main" val="4211759447"/>
                    </a:ext>
                  </a:extLst>
                </a:gridCol>
                <a:gridCol w="431677">
                  <a:extLst>
                    <a:ext uri="{9D8B030D-6E8A-4147-A177-3AD203B41FA5}">
                      <a16:colId xmlns:a16="http://schemas.microsoft.com/office/drawing/2014/main" val="3987128177"/>
                    </a:ext>
                  </a:extLst>
                </a:gridCol>
                <a:gridCol w="431677">
                  <a:extLst>
                    <a:ext uri="{9D8B030D-6E8A-4147-A177-3AD203B41FA5}">
                      <a16:colId xmlns:a16="http://schemas.microsoft.com/office/drawing/2014/main" val="703617760"/>
                    </a:ext>
                  </a:extLst>
                </a:gridCol>
                <a:gridCol w="431677">
                  <a:extLst>
                    <a:ext uri="{9D8B030D-6E8A-4147-A177-3AD203B41FA5}">
                      <a16:colId xmlns:a16="http://schemas.microsoft.com/office/drawing/2014/main" val="3424114508"/>
                    </a:ext>
                  </a:extLst>
                </a:gridCol>
                <a:gridCol w="437798">
                  <a:extLst>
                    <a:ext uri="{9D8B030D-6E8A-4147-A177-3AD203B41FA5}">
                      <a16:colId xmlns:a16="http://schemas.microsoft.com/office/drawing/2014/main" val="3100067570"/>
                    </a:ext>
                  </a:extLst>
                </a:gridCol>
                <a:gridCol w="437798">
                  <a:extLst>
                    <a:ext uri="{9D8B030D-6E8A-4147-A177-3AD203B41FA5}">
                      <a16:colId xmlns:a16="http://schemas.microsoft.com/office/drawing/2014/main" val="3430054372"/>
                    </a:ext>
                  </a:extLst>
                </a:gridCol>
                <a:gridCol w="543717">
                  <a:extLst>
                    <a:ext uri="{9D8B030D-6E8A-4147-A177-3AD203B41FA5}">
                      <a16:colId xmlns:a16="http://schemas.microsoft.com/office/drawing/2014/main" val="2599263965"/>
                    </a:ext>
                  </a:extLst>
                </a:gridCol>
                <a:gridCol w="543717">
                  <a:extLst>
                    <a:ext uri="{9D8B030D-6E8A-4147-A177-3AD203B41FA5}">
                      <a16:colId xmlns:a16="http://schemas.microsoft.com/office/drawing/2014/main" val="1936607128"/>
                    </a:ext>
                  </a:extLst>
                </a:gridCol>
                <a:gridCol w="543717">
                  <a:extLst>
                    <a:ext uri="{9D8B030D-6E8A-4147-A177-3AD203B41FA5}">
                      <a16:colId xmlns:a16="http://schemas.microsoft.com/office/drawing/2014/main" val="681041266"/>
                    </a:ext>
                  </a:extLst>
                </a:gridCol>
                <a:gridCol w="670821">
                  <a:extLst>
                    <a:ext uri="{9D8B030D-6E8A-4147-A177-3AD203B41FA5}">
                      <a16:colId xmlns:a16="http://schemas.microsoft.com/office/drawing/2014/main" val="3887832098"/>
                    </a:ext>
                  </a:extLst>
                </a:gridCol>
                <a:gridCol w="550778">
                  <a:extLst>
                    <a:ext uri="{9D8B030D-6E8A-4147-A177-3AD203B41FA5}">
                      <a16:colId xmlns:a16="http://schemas.microsoft.com/office/drawing/2014/main" val="4211782468"/>
                    </a:ext>
                  </a:extLst>
                </a:gridCol>
                <a:gridCol w="536656">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dirty="0">
                          <a:solidFill>
                            <a:schemeClr val="lt1"/>
                          </a:solidFill>
                          <a:latin typeface="Aptos"/>
                          <a:ea typeface="+mn-ea"/>
                          <a:cs typeface="+mn-cs"/>
                        </a:rPr>
                        <a:t>Time</a:t>
                      </a:r>
                      <a:r>
                        <a:rPr lang="en-GB" sz="900" dirty="0">
                          <a:latin typeface="Aptos"/>
                        </a:rPr>
                        <a:t> </a:t>
                      </a:r>
                    </a:p>
                  </a:txBody>
                  <a:tcPr anchor="ctr">
                    <a:solidFill>
                      <a:srgbClr val="92D050"/>
                    </a:solidFill>
                  </a:tcPr>
                </a:tc>
                <a:tc>
                  <a:txBody>
                    <a:bodyPr/>
                    <a:lstStyle/>
                    <a:p>
                      <a:pPr lvl="0" algn="ctr">
                        <a:buNone/>
                      </a:pPr>
                      <a:endParaRPr lang="en-GB" sz="900" dirty="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dirty="0">
                          <a:latin typeface="Aptos"/>
                        </a:rPr>
                        <a:t>Dependencies</a:t>
                      </a:r>
                      <a:r>
                        <a:rPr lang="en-GB" sz="900" dirty="0">
                          <a:latin typeface="Aptos"/>
                        </a:rPr>
                        <a:t> </a:t>
                      </a:r>
                    </a:p>
                  </a:txBody>
                  <a:tcPr anchor="ctr">
                    <a:solidFill>
                      <a:srgbClr val="92D050"/>
                    </a:solidFill>
                  </a:tcPr>
                </a:tc>
                <a:tc>
                  <a:txBody>
                    <a:bodyPr/>
                    <a:lstStyle/>
                    <a:p>
                      <a:pPr algn="ctr"/>
                      <a:r>
                        <a:rPr lang="en-GB" sz="900" dirty="0">
                          <a:latin typeface="Aptos"/>
                        </a:rPr>
                        <a:t>Benefits </a:t>
                      </a:r>
                    </a:p>
                  </a:txBody>
                  <a:tcPr anchor="ctr">
                    <a:solidFill>
                      <a:srgbClr val="92D050"/>
                    </a:solidFill>
                  </a:tcPr>
                </a:tc>
                <a:tc>
                  <a:txBody>
                    <a:bodyPr/>
                    <a:lstStyle/>
                    <a:p>
                      <a:pPr algn="ctr"/>
                      <a:r>
                        <a:rPr lang="en-GB" sz="900" dirty="0">
                          <a:latin typeface="Aptos"/>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412506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7ABA-DE91-075D-D82B-6F2234398881}"/>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0325270A-E4F7-D4DC-81A4-20AA2A9D9469}"/>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E54F21CA-A662-0076-54B9-CFF6400A6AAA}"/>
              </a:ext>
            </a:extLst>
          </p:cNvPr>
          <p:cNvSpPr txBox="1">
            <a:spLocks/>
          </p:cNvSpPr>
          <p:nvPr/>
        </p:nvSpPr>
        <p:spPr>
          <a:xfrm>
            <a:off x="841952" y="-16817"/>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dirty="0">
                <a:ln>
                  <a:noFill/>
                </a:ln>
                <a:solidFill>
                  <a:srgbClr val="007C91"/>
                </a:solidFill>
                <a:effectLst/>
                <a:uLnTx/>
                <a:uFillTx/>
                <a:latin typeface="Calibri" panose="020F0502020204030204"/>
                <a:ea typeface="+mj-ea"/>
                <a:cs typeface="Arial"/>
              </a:rPr>
              <a:t>Project Update |</a:t>
            </a:r>
            <a:r>
              <a:rPr lang="en-GB" sz="2400" dirty="0">
                <a:solidFill>
                  <a:srgbClr val="242424"/>
                </a:solidFill>
                <a:latin typeface="Aptos Narrow"/>
                <a:cs typeface="Arial"/>
              </a:rPr>
              <a:t>UKHSA-AIR-RIS- AI Readiness Use Case Development 12/02 </a:t>
            </a:r>
            <a:endParaRPr lang="en-US" sz="2400" b="1" u="none" strike="noStrike" kern="1200" cap="none" spc="0" normalizeH="0" baseline="0" noProof="0" dirty="0">
              <a:ln>
                <a:noFill/>
              </a:ln>
              <a:solidFill>
                <a:srgbClr val="007C91"/>
              </a:solidFill>
              <a:effectLst/>
              <a:uLnTx/>
              <a:uFillTx/>
              <a:latin typeface="Calibri" panose="020F0502020204030204"/>
              <a:ea typeface="Calibri"/>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dirty="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78166D04-222D-34FC-7E48-3E95F6F4F7E3}"/>
              </a:ext>
            </a:extLst>
          </p:cNvPr>
          <p:cNvGraphicFramePr>
            <a:graphicFrameLocks noGrp="1"/>
          </p:cNvGraphicFramePr>
          <p:nvPr/>
        </p:nvGraphicFramePr>
        <p:xfrm>
          <a:off x="5533292" y="1887415"/>
          <a:ext cx="6550348" cy="5200213"/>
        </p:xfrm>
        <a:graphic>
          <a:graphicData uri="http://schemas.openxmlformats.org/drawingml/2006/table">
            <a:tbl>
              <a:tblPr firstRow="1">
                <a:tableStyleId>{7E9639D4-E3E2-4D34-9284-5A2195B3D0D7}</a:tableStyleId>
              </a:tblPr>
              <a:tblGrid>
                <a:gridCol w="3171775">
                  <a:extLst>
                    <a:ext uri="{9D8B030D-6E8A-4147-A177-3AD203B41FA5}">
                      <a16:colId xmlns:a16="http://schemas.microsoft.com/office/drawing/2014/main" val="20000"/>
                    </a:ext>
                  </a:extLst>
                </a:gridCol>
                <a:gridCol w="3378573">
                  <a:extLst>
                    <a:ext uri="{9D8B030D-6E8A-4147-A177-3AD203B41FA5}">
                      <a16:colId xmlns:a16="http://schemas.microsoft.com/office/drawing/2014/main" val="195155734"/>
                    </a:ext>
                  </a:extLst>
                </a:gridCol>
              </a:tblGrid>
              <a:tr h="352985">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dirty="0">
                          <a:ln>
                            <a:noFill/>
                          </a:ln>
                          <a:solidFill>
                            <a:schemeClr val="bg1"/>
                          </a:solidFill>
                          <a:effectLst/>
                        </a:rPr>
                        <a:t>B.  KEY ACCOMPLISHMENTS THIS PERIOD</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949991">
                <a:tc gridSpan="2">
                  <a:txBody>
                    <a:bodyPr/>
                    <a:lstStyle/>
                    <a:p>
                      <a:pPr marL="0" marR="0" lvl="0" indent="0" algn="l" rtl="0" eaLnBrk="0" fontAlgn="base" latinLnBrk="0" hangingPunct="0">
                        <a:lnSpc>
                          <a:spcPct val="100000"/>
                        </a:lnSpc>
                        <a:spcBef>
                          <a:spcPct val="0"/>
                        </a:spcBef>
                        <a:spcAft>
                          <a:spcPct val="10000"/>
                        </a:spcAft>
                        <a:buClrTx/>
                        <a:buSzTx/>
                        <a:buNone/>
                      </a:pPr>
                      <a:r>
                        <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rPr>
                        <a:t>General </a:t>
                      </a:r>
                      <a:endParaRPr kumimoji="0"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171450" marR="0" lvl="0" indent="-171450" algn="l">
                        <a:lnSpc>
                          <a:spcPct val="100000"/>
                        </a:lnSpc>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Attended the TAC‑B governance forum to present the proposed approach for non‑production environments.</a:t>
                      </a:r>
                    </a:p>
                    <a:p>
                      <a:pPr marL="0" marR="0" lvl="0" indent="0" algn="l">
                        <a:lnSpc>
                          <a:spcPct val="100000"/>
                        </a:lnSpc>
                        <a:spcBef>
                          <a:spcPct val="0"/>
                        </a:spcBef>
                        <a:spcAft>
                          <a:spcPct val="10000"/>
                        </a:spcAft>
                        <a:buClrTx/>
                        <a:buSzTx/>
                        <a:buNone/>
                      </a:pPr>
                      <a:endPar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
                          <a:srgbClr val="000000"/>
                        </a:buClr>
                        <a:buSzTx/>
                        <a:buNone/>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WS2</a:t>
                      </a:r>
                      <a:endParaRPr kumimoji="0"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Submitted the request for a non‑production AWS account, progressing the prerequisites for environment setup.</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Continued to advance the emerging solution and technical architecture, aligning with the UCD team’s ongoing work—particularly across data ingestion, extraction, embedding, and search.</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Completed a first draft of the end‑to‑end technical architecture, providing a clearer baseline for validation and next‑stage design discussions.</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Worked jointly with the UCD team to define the MVP scope for private beta, ensuring close alignment between user needs, feasibility, and delivery priorities.</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Held a technical deep‑dive with the Guidance Search Team’s data scientists (Toby Nonnenmacher, Laurence, Felix Feldman) focusing on model selection, validation approaches, and knowledge sharing on text embedding.</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Met with Clair Dobie and Nev Reid to review AI‑related AWS cost considerations, including approaches to monitoring, forecasting, and managing cloud expenditure for the AI use case.</a:t>
                      </a:r>
                      <a:endParaRPr lang="en-US" dirty="0"/>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rgbClr val="595959"/>
                          </a:solidFill>
                          <a:effectLst/>
                          <a:uLnTx/>
                          <a:uFillTx/>
                          <a:latin typeface="Century Gothic"/>
                        </a:rPr>
                        <a:t>Brian presented at the AI OpenShift webinar last week, contributing insight into our architecture and approach (not captured in the previous report).</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4x User research sessions held with evidence reviewers in CCHS, socialising designs and getting feedback</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User stories created </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Walked Accenture through our use case to ensure no duplication / cross-over</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Ingestion component code complete</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Code quality and security tooling selected and implemented</a:t>
                      </a:r>
                    </a:p>
                    <a:p>
                      <a:pPr marL="171450" lvl="0" indent="-171450" algn="l">
                        <a:lnSpc>
                          <a:spcPct val="100000"/>
                        </a:lnSpc>
                        <a:spcBef>
                          <a:spcPct val="0"/>
                        </a:spcBef>
                        <a:spcAft>
                          <a:spcPct val="10000"/>
                        </a:spcAft>
                        <a:buClr>
                          <a:srgbClr val="000000"/>
                        </a:buClr>
                        <a:buSzTx/>
                        <a:buFont typeface="Arial" panose="020B0604020202020204" pitchFamily="34" charset="0"/>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Extraction component in progress, initial tests</a:t>
                      </a:r>
                      <a:endParaRPr lang="en-GB" sz="700" b="0" i="0" u="none" strike="noStrike" cap="none" normalizeH="0" baseline="0" noProof="0" dirty="0">
                        <a:ln>
                          <a:noFill/>
                        </a:ln>
                        <a:solidFill>
                          <a:srgbClr val="000000"/>
                        </a:solidFill>
                        <a:effectLst/>
                        <a:latin typeface="Century Gothic"/>
                      </a:endParaRPr>
                    </a:p>
                    <a:p>
                      <a:pPr marL="0" marR="0" lvl="0" indent="0" algn="l">
                        <a:lnSpc>
                          <a:spcPct val="100000"/>
                        </a:lnSpc>
                        <a:spcBef>
                          <a:spcPct val="0"/>
                        </a:spcBef>
                        <a:spcAft>
                          <a:spcPct val="10000"/>
                        </a:spcAft>
                        <a:buNone/>
                      </a:pPr>
                      <a:r>
                        <a:rPr lang="en-US" sz="700" b="0" i="0" u="none" strike="noStrike" cap="none" normalizeH="0" baseline="0" noProof="0" dirty="0">
                          <a:ln>
                            <a:noFill/>
                          </a:ln>
                          <a:solidFill>
                            <a:schemeClr val="tx1">
                              <a:lumMod val="65000"/>
                              <a:lumOff val="35000"/>
                            </a:schemeClr>
                          </a:solidFill>
                          <a:effectLst/>
                          <a:latin typeface="Century Gothic"/>
                        </a:rPr>
                        <a:t>WS3 </a:t>
                      </a:r>
                      <a:endParaRPr lang="en-US" sz="700" b="0" i="0" u="none" strike="noStrike" cap="none" normalizeH="0" baseline="0" noProof="0" dirty="0">
                        <a:ln>
                          <a:noFill/>
                        </a:ln>
                        <a:solidFill>
                          <a:srgbClr val="000000"/>
                        </a:solidFill>
                        <a:effectLst/>
                        <a:latin typeface="Century Gothic"/>
                      </a:endParaRPr>
                    </a:p>
                    <a:p>
                      <a:pPr marL="171450" marR="0" lvl="0" indent="-171450" algn="l">
                        <a:lnSpc>
                          <a:spcPct val="100000"/>
                        </a:lnSpc>
                        <a:spcBef>
                          <a:spcPct val="0"/>
                        </a:spcBef>
                        <a:spcAft>
                          <a:spcPct val="10000"/>
                        </a:spcAft>
                        <a:buClr>
                          <a:srgbClr val="000000"/>
                        </a:buClr>
                        <a:buFont typeface="Arial"/>
                        <a:buChar char="•"/>
                      </a:pPr>
                      <a:r>
                        <a:rPr lang="en-GB" sz="700" b="0" i="0" u="none" strike="noStrike" cap="none" normalizeH="0" baseline="0" noProof="0" dirty="0">
                          <a:ln>
                            <a:noFill/>
                          </a:ln>
                          <a:solidFill>
                            <a:schemeClr val="tx1">
                              <a:lumMod val="65000"/>
                              <a:lumOff val="35000"/>
                            </a:schemeClr>
                          </a:solidFill>
                          <a:effectLst/>
                          <a:latin typeface="Century Gothic"/>
                        </a:rPr>
                        <a:t>Working on the ai product lifecycle. </a:t>
                      </a:r>
                    </a:p>
                    <a:p>
                      <a:pPr marL="171450" marR="0" lvl="0" indent="-171450" algn="l">
                        <a:lnSpc>
                          <a:spcPct val="100000"/>
                        </a:lnSpc>
                        <a:spcBef>
                          <a:spcPct val="0"/>
                        </a:spcBef>
                        <a:spcAft>
                          <a:spcPct val="10000"/>
                        </a:spcAft>
                        <a:buClr>
                          <a:srgbClr val="000000"/>
                        </a:buClr>
                        <a:buFont typeface="Arial"/>
                        <a:buChar char="•"/>
                      </a:pPr>
                      <a:r>
                        <a:rPr lang="en-GB" sz="700" b="0" i="0" u="none" strike="noStrike" cap="none" normalizeH="0" baseline="0" noProof="0" dirty="0">
                          <a:ln>
                            <a:noFill/>
                          </a:ln>
                          <a:solidFill>
                            <a:schemeClr val="tx1">
                              <a:lumMod val="65000"/>
                              <a:lumOff val="35000"/>
                            </a:schemeClr>
                          </a:solidFill>
                          <a:effectLst/>
                          <a:latin typeface="Century Gothic"/>
                        </a:rPr>
                        <a:t>Mapping specific risks of AI to the GDS digital product lifecycle </a:t>
                      </a:r>
                      <a:endParaRPr lang="pl-PL" sz="800" u="none" strike="noStrike" cap="none" normalizeH="0" baseline="0" dirty="0">
                        <a:ln>
                          <a:noFill/>
                        </a:ln>
                        <a:solidFill>
                          <a:schemeClr val="tx1">
                            <a:lumMod val="65000"/>
                            <a:lumOff val="35000"/>
                          </a:schemeClr>
                        </a:solidFill>
                        <a:effectLst/>
                        <a:latin typeface="Century Gothic"/>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a:ln>
                            <a:noFill/>
                          </a:ln>
                          <a:solidFill>
                            <a:schemeClr val="bg1"/>
                          </a:solidFill>
                          <a:effectLst/>
                          <a:latin typeface="EYInterstate"/>
                        </a:rPr>
                        <a:t>C. KEY ACTIVITIES PLANNED NEXT </a:t>
                      </a:r>
                      <a:r>
                        <a:rPr lang="en-CA" sz="800" b="1" i="0" u="none" strike="noStrike" cap="none" normalizeH="0" baseline="0" dirty="0">
                          <a:ln>
                            <a:noFill/>
                          </a:ln>
                          <a:solidFill>
                            <a:schemeClr val="bg1"/>
                          </a:solidFill>
                          <a:effectLst/>
                          <a:latin typeface="EYInterstate"/>
                        </a:rPr>
                        <a:t>SPRINT</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2"/>
                  </a:ext>
                </a:extLst>
              </a:tr>
              <a:tr h="655544">
                <a:tc gridSpan="2">
                  <a:txBody>
                    <a:bodyPr/>
                    <a:lstStyle/>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cap="none" normalizeH="0" baseline="0" noProof="0" dirty="0">
                          <a:ln>
                            <a:noFill/>
                          </a:ln>
                          <a:solidFill>
                            <a:schemeClr val="tx1">
                              <a:lumMod val="65000"/>
                              <a:lumOff val="35000"/>
                            </a:schemeClr>
                          </a:solidFill>
                          <a:effectLst/>
                          <a:latin typeface="Century Gothic"/>
                        </a:rPr>
                        <a:t>working on screening questions to identify low risk projects that can avoid the full controls in order to allow for quick innovation</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Continue user story creation and defining acceptance criteria</a:t>
                      </a:r>
                    </a:p>
                    <a:p>
                      <a:pPr marL="171450" marR="0" lvl="0" indent="-171450" algn="l" rtl="0" eaLnBrk="0" fontAlgn="base" latinLnBrk="0" hangingPunct="0">
                        <a:lnSpc>
                          <a:spcPct val="100000"/>
                        </a:lnSpc>
                        <a:spcBef>
                          <a:spcPct val="0"/>
                        </a:spcBef>
                        <a:spcAft>
                          <a:spcPct val="10000"/>
                        </a:spcAft>
                        <a:buClrTx/>
                        <a:buSzTx/>
                        <a:buFont typeface="Arial"/>
                        <a:buChar char="•"/>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Backlog prioritisation with CCHS </a:t>
                      </a:r>
                    </a:p>
                    <a:p>
                      <a:pPr marL="171450" marR="0" lvl="0" indent="-171450" algn="l" defTabSz="914400" rtl="0" eaLnBrk="0" fontAlgn="base" latinLnBrk="0" hangingPunct="0">
                        <a:lnSpc>
                          <a:spcPct val="100000"/>
                        </a:lnSpc>
                        <a:spcBef>
                          <a:spcPct val="0"/>
                        </a:spcBef>
                        <a:spcAft>
                          <a:spcPct val="10000"/>
                        </a:spcAft>
                        <a:buClrTx/>
                        <a:buSzTx/>
                        <a:buFont typeface="Arial"/>
                        <a:buChar char="•"/>
                        <a:tabLst/>
                        <a:defRPr/>
                      </a:pPr>
                      <a:r>
                        <a:rPr lang="en-GB" sz="700" b="0" i="0" u="none" strike="noStrike" kern="1200" cap="none" spc="0" normalizeH="0" baseline="0" noProof="0" dirty="0">
                          <a:ln>
                            <a:noFill/>
                          </a:ln>
                          <a:solidFill>
                            <a:schemeClr val="tx1">
                              <a:lumMod val="65000"/>
                              <a:lumOff val="35000"/>
                            </a:schemeClr>
                          </a:solidFill>
                          <a:effectLst/>
                          <a:uLnTx/>
                          <a:uFillTx/>
                          <a:latin typeface="Century Gothic"/>
                        </a:rPr>
                        <a:t>Continue working on Embedding component</a:t>
                      </a:r>
                      <a:endParaRPr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marR="0" lvl="0" indent="-171450" algn="l" rtl="0" eaLnBrk="0" fontAlgn="base" latinLnBrk="0" hangingPunct="0">
                        <a:lnSpc>
                          <a:spcPct val="100000"/>
                        </a:lnSpc>
                        <a:spcBef>
                          <a:spcPct val="0"/>
                        </a:spcBef>
                        <a:spcAft>
                          <a:spcPct val="10000"/>
                        </a:spcAft>
                        <a:buClrTx/>
                        <a:buSzTx/>
                        <a:buFont typeface="Arial"/>
                        <a:buChar char="•"/>
                      </a:pPr>
                      <a:endPar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dirty="0">
                          <a:ln>
                            <a:noFill/>
                          </a:ln>
                          <a:solidFill>
                            <a:schemeClr val="bg1"/>
                          </a:solidFill>
                          <a:effectLst/>
                          <a:latin typeface="EYInterstate"/>
                        </a:rPr>
                        <a:t>D.  KEY ISSUES REQUIRING MANAGEMENT ATTENTION / AWARENESS</a:t>
                      </a:r>
                      <a:endParaRPr kumimoji="0" lang="en-US" sz="800" b="1" i="0" u="none" strike="noStrike" cap="none" normalizeH="0" baseline="0" dirty="0">
                        <a:ln>
                          <a:noFill/>
                        </a:ln>
                        <a:solidFill>
                          <a:schemeClr val="bg1"/>
                        </a:solidFill>
                        <a:effectLst/>
                        <a:latin typeface="EYInterstate"/>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6115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dirty="0">
                          <a:ln>
                            <a:noFill/>
                          </a:ln>
                          <a:solidFill>
                            <a:schemeClr val="bg2"/>
                          </a:solidFill>
                          <a:effectLst/>
                          <a:latin typeface="EYInterstate Light"/>
                          <a:ea typeface="+mn-ea"/>
                          <a:cs typeface="+mn-cs"/>
                        </a:rPr>
                        <a:t>ATTENTION (HELP NEEDED)</a:t>
                      </a:r>
                      <a:endParaRPr kumimoji="0" lang="en-US" sz="800" b="1" i="0" u="none" strike="noStrike" kern="1200" cap="none" normalizeH="0" baseline="0" dirty="0">
                        <a:ln>
                          <a:noFill/>
                        </a:ln>
                        <a:solidFill>
                          <a:schemeClr val="bg2"/>
                        </a:solidFill>
                        <a:effectLst/>
                        <a:latin typeface="EYInterstate Ligh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dirty="0">
                          <a:ln>
                            <a:noFill/>
                          </a:ln>
                          <a:solidFill>
                            <a:schemeClr val="bg2"/>
                          </a:solidFill>
                          <a:effectLst/>
                          <a:latin typeface="EYInterstate Light"/>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21896">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GB" sz="800" dirty="0"/>
                        <a:t>The project will present at TRB on Monday 16th We'll be asking for authorisation on an AWS vend request for Dev/Test/Preprod </a:t>
                      </a:r>
                      <a:r>
                        <a:rPr lang="en-GB" sz="800"/>
                        <a:t>environments</a:t>
                      </a:r>
                      <a:r>
                        <a:rPr lang="en-GB" sz="800" dirty="0"/>
                        <a:t>. We would appreciate some help in ensuring that the request is expedited once its approved. </a:t>
                      </a:r>
                      <a:endParaRPr kumimoji="0" lang="en-GB" sz="800" dirty="0"/>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DA30B642-C461-0968-A7B6-48E146F1AD1E}"/>
              </a:ext>
            </a:extLst>
          </p:cNvPr>
          <p:cNvGraphicFramePr>
            <a:graphicFrameLocks noGrp="1"/>
          </p:cNvGraphicFramePr>
          <p:nvPr/>
        </p:nvGraphicFramePr>
        <p:xfrm>
          <a:off x="467472" y="566009"/>
          <a:ext cx="4898205" cy="1246712"/>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15930">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dirty="0">
                          <a:ln>
                            <a:noFill/>
                          </a:ln>
                          <a:effectLst/>
                        </a:rPr>
                        <a:t>A.  </a:t>
                      </a:r>
                      <a:r>
                        <a:rPr kumimoji="0" lang="en-GB" sz="800" u="none" strike="noStrike" cap="none" normalizeH="0" baseline="0" dirty="0">
                          <a:ln>
                            <a:noFill/>
                          </a:ln>
                          <a:effectLst/>
                        </a:rPr>
                        <a:t>EXECUTIVE SUMMARY</a:t>
                      </a:r>
                      <a:endParaRPr kumimoji="0" lang="en-US" sz="800" b="1" i="0" u="none" strike="noStrike" cap="none" normalizeH="0" baseline="0" dirty="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96062">
                <a:tc>
                  <a:txBody>
                    <a:bodyPr/>
                    <a:lstStyle/>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The team made strong progress this period, presenting the non‑production environment approach at TAC‑B and advancing core technical delivery.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The first end‑to‑end architecture is now drafted, AWS environment setup is underway, and key components—including ingestion and security tooling—are complete.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Collaboration with UCD defined the MVP for private beta, supported by user research sessions and new user stories. Stakeholder alignment continues to strengthen through technical deep‑dives, AWS cost reviews, and engagement with Accenture.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Work also progressed on the AI product lifecycle and mapping AI‑specific risks to the GDS framework.</a:t>
                      </a:r>
                    </a:p>
                  </a:txBody>
                  <a:tcPr marL="33146" marR="33146" marT="14365" marB="14365"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C3681BD6-C943-36AE-ECEA-DB5F4D0F957F}"/>
              </a:ext>
            </a:extLst>
          </p:cNvPr>
          <p:cNvGraphicFramePr>
            <a:graphicFrameLocks noGrp="1"/>
          </p:cNvGraphicFramePr>
          <p:nvPr/>
        </p:nvGraphicFramePr>
        <p:xfrm>
          <a:off x="5531796" y="946905"/>
          <a:ext cx="6453431" cy="892648"/>
        </p:xfrm>
        <a:graphic>
          <a:graphicData uri="http://schemas.openxmlformats.org/drawingml/2006/table">
            <a:tbl>
              <a:tblPr firstRow="1">
                <a:tableStyleId>{7E9639D4-E3E2-4D34-9284-5A2195B3D0D7}</a:tableStyleId>
              </a:tblPr>
              <a:tblGrid>
                <a:gridCol w="521072">
                  <a:extLst>
                    <a:ext uri="{9D8B030D-6E8A-4147-A177-3AD203B41FA5}">
                      <a16:colId xmlns:a16="http://schemas.microsoft.com/office/drawing/2014/main" val="4205414778"/>
                    </a:ext>
                  </a:extLst>
                </a:gridCol>
                <a:gridCol w="2462436">
                  <a:extLst>
                    <a:ext uri="{9D8B030D-6E8A-4147-A177-3AD203B41FA5}">
                      <a16:colId xmlns:a16="http://schemas.microsoft.com/office/drawing/2014/main" val="20000"/>
                    </a:ext>
                  </a:extLst>
                </a:gridCol>
                <a:gridCol w="667947">
                  <a:extLst>
                    <a:ext uri="{9D8B030D-6E8A-4147-A177-3AD203B41FA5}">
                      <a16:colId xmlns:a16="http://schemas.microsoft.com/office/drawing/2014/main" val="20001"/>
                    </a:ext>
                  </a:extLst>
                </a:gridCol>
                <a:gridCol w="667947">
                  <a:extLst>
                    <a:ext uri="{9D8B030D-6E8A-4147-A177-3AD203B41FA5}">
                      <a16:colId xmlns:a16="http://schemas.microsoft.com/office/drawing/2014/main" val="3492732595"/>
                    </a:ext>
                  </a:extLst>
                </a:gridCol>
                <a:gridCol w="325803">
                  <a:extLst>
                    <a:ext uri="{9D8B030D-6E8A-4147-A177-3AD203B41FA5}">
                      <a16:colId xmlns:a16="http://schemas.microsoft.com/office/drawing/2014/main" val="20004"/>
                    </a:ext>
                  </a:extLst>
                </a:gridCol>
                <a:gridCol w="194579">
                  <a:extLst>
                    <a:ext uri="{9D8B030D-6E8A-4147-A177-3AD203B41FA5}">
                      <a16:colId xmlns:a16="http://schemas.microsoft.com/office/drawing/2014/main" val="20005"/>
                    </a:ext>
                  </a:extLst>
                </a:gridCol>
                <a:gridCol w="1613647">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dirty="0">
                          <a:ln>
                            <a:noFill/>
                          </a:ln>
                          <a:effectLst/>
                        </a:rPr>
                        <a:t>E. KEY MILESTONES (DUE FOR THE CURRENT AND NEXT PERIOD + OVERDUE + AT RISK)</a:t>
                      </a:r>
                      <a:endParaRPr kumimoji="0" lang="en-GB" sz="800" b="0" i="0" u="none" strike="noStrike" kern="1200" cap="none" normalizeH="0" baseline="0" noProof="0" dirty="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ID</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Milestone Name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dirty="0">
                          <a:ln>
                            <a:noFill/>
                          </a:ln>
                          <a:solidFill>
                            <a:schemeClr val="bg2"/>
                          </a:solidFill>
                          <a:effectLst/>
                        </a:rPr>
                        <a:t>Plan Date</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dirty="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LP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dirty="0">
                          <a:ln>
                            <a:noFill/>
                          </a:ln>
                          <a:solidFill>
                            <a:schemeClr val="bg2"/>
                          </a:solidFill>
                          <a:effectLst/>
                        </a:rPr>
                        <a:t>CP</a:t>
                      </a:r>
                      <a:endParaRPr kumimoji="0" lang="en-GB" sz="800" b="1" i="0" u="none" strike="noStrike" cap="none" normalizeH="0" baseline="0" noProof="0" dirty="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dirty="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dirty="0">
                          <a:ln>
                            <a:noFill/>
                          </a:ln>
                          <a:solidFill>
                            <a:schemeClr val="tx1">
                              <a:lumMod val="65000"/>
                              <a:lumOff val="35000"/>
                            </a:schemeClr>
                          </a:solidFill>
                          <a:effectLst/>
                          <a:latin typeface="Century Gothic"/>
                          <a:ea typeface="+mn-ea"/>
                          <a:cs typeface="Calibri"/>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dirty="0">
                          <a:ln>
                            <a:noFill/>
                          </a:ln>
                          <a:solidFill>
                            <a:schemeClr val="tx1">
                              <a:lumMod val="65000"/>
                              <a:lumOff val="35000"/>
                            </a:schemeClr>
                          </a:solidFill>
                          <a:effectLst/>
                          <a:latin typeface="Century Gothic"/>
                          <a:ea typeface="+mn-ea"/>
                          <a:cs typeface="Calibri"/>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dirty="0">
                          <a:ln>
                            <a:noFill/>
                          </a:ln>
                          <a:solidFill>
                            <a:schemeClr val="tx1"/>
                          </a:solidFill>
                          <a:effectLst/>
                          <a:latin typeface="Century Gothic"/>
                          <a:ea typeface="+mn-ea"/>
                          <a:cs typeface="Calibri"/>
                        </a:rPr>
                        <a:t>G</a:t>
                      </a: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dirty="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47C07EFA-FCA6-8AA9-2780-1E6CF2EC53FE}"/>
              </a:ext>
            </a:extLst>
          </p:cNvPr>
          <p:cNvGraphicFramePr>
            <a:graphicFrameLocks noGrp="1"/>
          </p:cNvGraphicFramePr>
          <p:nvPr/>
        </p:nvGraphicFramePr>
        <p:xfrm>
          <a:off x="415777" y="1887415"/>
          <a:ext cx="5030950" cy="4851999"/>
        </p:xfrm>
        <a:graphic>
          <a:graphicData uri="http://schemas.openxmlformats.org/drawingml/2006/table">
            <a:tbl>
              <a:tblPr firstRow="1" bandRow="1" bandCol="1">
                <a:tableStyleId>{7E9639D4-E3E2-4D34-9284-5A2195B3D0D7}</a:tableStyleId>
              </a:tblPr>
              <a:tblGrid>
                <a:gridCol w="248433">
                  <a:extLst>
                    <a:ext uri="{9D8B030D-6E8A-4147-A177-3AD203B41FA5}">
                      <a16:colId xmlns:a16="http://schemas.microsoft.com/office/drawing/2014/main" val="2199885390"/>
                    </a:ext>
                  </a:extLst>
                </a:gridCol>
                <a:gridCol w="2468443">
                  <a:extLst>
                    <a:ext uri="{9D8B030D-6E8A-4147-A177-3AD203B41FA5}">
                      <a16:colId xmlns:a16="http://schemas.microsoft.com/office/drawing/2014/main" val="1148451240"/>
                    </a:ext>
                  </a:extLst>
                </a:gridCol>
                <a:gridCol w="1564204">
                  <a:extLst>
                    <a:ext uri="{9D8B030D-6E8A-4147-A177-3AD203B41FA5}">
                      <a16:colId xmlns:a16="http://schemas.microsoft.com/office/drawing/2014/main" val="20001"/>
                    </a:ext>
                  </a:extLst>
                </a:gridCol>
                <a:gridCol w="399931">
                  <a:extLst>
                    <a:ext uri="{9D8B030D-6E8A-4147-A177-3AD203B41FA5}">
                      <a16:colId xmlns:a16="http://schemas.microsoft.com/office/drawing/2014/main" val="1614259304"/>
                    </a:ext>
                  </a:extLst>
                </a:gridCol>
                <a:gridCol w="349939">
                  <a:extLst>
                    <a:ext uri="{9D8B030D-6E8A-4147-A177-3AD203B41FA5}">
                      <a16:colId xmlns:a16="http://schemas.microsoft.com/office/drawing/2014/main" val="1695019054"/>
                    </a:ext>
                  </a:extLst>
                </a:gridCol>
              </a:tblGrid>
              <a:tr h="190380">
                <a:tc gridSpan="4">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solidFill>
                      <a:prstDash val="solid"/>
                      <a:round/>
                      <a:headEnd type="none" w="med" len="med"/>
                      <a:tailEnd type="none" w="med" len="med"/>
                    </a:lnL>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90380">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161319">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UKHSA-AIR-RIS-19</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Risk: </a:t>
                      </a:r>
                      <a:r>
                        <a:rPr lang="en-GB" sz="800" b="0" i="0" dirty="0">
                          <a:solidFill>
                            <a:srgbClr val="000000"/>
                          </a:solidFill>
                          <a:effectLst/>
                          <a:latin typeface="Arial" panose="020B0604020202020204" pitchFamily="34" charset="0"/>
                        </a:rPr>
                        <a:t>The solution may not progress to Private Beta</a:t>
                      </a:r>
                      <a:r>
                        <a:rPr lang="en-GB" sz="800" b="1" i="0" dirty="0">
                          <a:solidFill>
                            <a:srgbClr val="000000"/>
                          </a:solidFill>
                          <a:effectLst/>
                          <a:latin typeface="Arial" panose="020B0604020202020204" pitchFamily="34" charset="0"/>
                        </a:rPr>
                        <a:t>.</a:t>
                      </a:r>
                    </a:p>
                    <a:p>
                      <a:pPr algn="l">
                        <a:buNone/>
                      </a:pPr>
                      <a:r>
                        <a:rPr lang="en-GB" sz="800" b="1" i="0" dirty="0">
                          <a:solidFill>
                            <a:srgbClr val="000000"/>
                          </a:solidFill>
                          <a:effectLst/>
                          <a:latin typeface="Arial" panose="020B0604020202020204" pitchFamily="34" charset="0"/>
                        </a:rPr>
                        <a:t>Cause: </a:t>
                      </a:r>
                      <a:r>
                        <a:rPr lang="en-GB" sz="800" b="0" i="0" dirty="0">
                          <a:solidFill>
                            <a:srgbClr val="000000"/>
                          </a:solidFill>
                          <a:effectLst/>
                          <a:latin typeface="Arial" panose="020B0604020202020204" pitchFamily="34" charset="0"/>
                        </a:rPr>
                        <a:t>The project may not receive access to the UKHSA Production AWS account in time.</a:t>
                      </a:r>
                    </a:p>
                    <a:p>
                      <a:pPr algn="l">
                        <a:buNone/>
                      </a:pPr>
                      <a:r>
                        <a:rPr lang="en-GB" sz="800" b="1" i="0" dirty="0">
                          <a:solidFill>
                            <a:srgbClr val="000000"/>
                          </a:solidFill>
                          <a:effectLst/>
                          <a:latin typeface="Arial" panose="020B0604020202020204" pitchFamily="34" charset="0"/>
                        </a:rPr>
                        <a:t>Impact: </a:t>
                      </a:r>
                      <a:r>
                        <a:rPr lang="en-GB" sz="800" b="0" i="0" dirty="0">
                          <a:solidFill>
                            <a:srgbClr val="000000"/>
                          </a:solidFill>
                          <a:effectLst/>
                          <a:latin typeface="Arial" panose="020B0604020202020204" pitchFamily="34" charset="0"/>
                        </a:rPr>
                        <a:t>UKHSA teams would need to complete the remaining deployment pipeline after the Informed Solutions team rolls off at the end of March.</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dirty="0"/>
                        <a:t>Submit a TRB request promptly to secure production‑level approval from key UKHSA stakeholders.</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R</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0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348846143"/>
                  </a:ext>
                </a:extLst>
              </a:tr>
              <a:tr h="95962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dirty="0">
                          <a:solidFill>
                            <a:srgbClr val="242424"/>
                          </a:solidFill>
                          <a:effectLst/>
                          <a:latin typeface="Aptos Narrow" panose="020B0004020202020204" pitchFamily="34" charset="0"/>
                        </a:rPr>
                        <a:t>UKHSA-AIR-RIS-05</a:t>
                      </a:r>
                      <a:endParaRPr kumimoji="0" lang="en-GB" sz="700" u="none" strike="noStrike" kern="1200" cap="none" normalizeH="0" baseline="0" noProof="0" dirty="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that the private beta use case may stall</a:t>
                      </a:r>
                    </a:p>
                    <a:p>
                      <a:pPr algn="l">
                        <a:buNone/>
                      </a:pPr>
                      <a:r>
                        <a:rPr lang="en-GB" sz="800" b="1" i="0">
                          <a:solidFill>
                            <a:srgbClr val="000000"/>
                          </a:solidFill>
                          <a:effectLst/>
                          <a:latin typeface="Arial"/>
                        </a:rPr>
                        <a:t>As a result of</a:t>
                      </a:r>
                      <a:r>
                        <a:rPr lang="en-GB" sz="800" b="0" i="0">
                          <a:solidFill>
                            <a:srgbClr val="000000"/>
                          </a:solidFill>
                          <a:effectLst/>
                          <a:latin typeface="Arial"/>
                        </a:rPr>
                        <a:t>: budget availability and lack of commercial vehicle to complete the work.</a:t>
                      </a:r>
                    </a:p>
                    <a:p>
                      <a:pPr algn="l">
                        <a:buNone/>
                      </a:pPr>
                      <a:r>
                        <a:rPr lang="en-GB" sz="800" b="1" i="0">
                          <a:solidFill>
                            <a:srgbClr val="000000"/>
                          </a:solidFill>
                          <a:effectLst/>
                          <a:latin typeface="Arial"/>
                        </a:rPr>
                        <a:t>Will lead to</a:t>
                      </a:r>
                      <a:r>
                        <a:rPr lang="en-GB" sz="800" b="0" i="0">
                          <a:solidFill>
                            <a:srgbClr val="000000"/>
                          </a:solidFill>
                          <a:effectLst/>
                          <a:latin typeface="Arial"/>
                        </a:rPr>
                        <a:t>: loss of momentum, missed benefits and additional work to deliver later.</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a:t>Begin joint planning for post-March activities as early as possible, including business case, resource requirements, timelines, and ownership. Establish a clear roadmap for private beta, public beta, and operationalisation.</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1039702">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dirty="0">
                          <a:solidFill>
                            <a:srgbClr val="000000"/>
                          </a:solidFill>
                          <a:effectLst/>
                          <a:latin typeface="Arial" panose="020B0604020202020204" pitchFamily="34" charset="0"/>
                        </a:rPr>
                        <a:t>There is a risk:</a:t>
                      </a:r>
                      <a:r>
                        <a:rPr lang="en-GB" sz="800" b="0" i="0" dirty="0">
                          <a:solidFill>
                            <a:srgbClr val="000000"/>
                          </a:solidFill>
                          <a:effectLst/>
                          <a:latin typeface="Arial" panose="020B0604020202020204" pitchFamily="34" charset="0"/>
                        </a:rPr>
                        <a:t> Additional budget may be required, requested and approved.</a:t>
                      </a:r>
                    </a:p>
                    <a:p>
                      <a:pPr algn="l">
                        <a:buNone/>
                      </a:pPr>
                      <a:r>
                        <a:rPr lang="en-GB" sz="800" b="1" i="0" dirty="0">
                          <a:solidFill>
                            <a:srgbClr val="000000"/>
                          </a:solidFill>
                          <a:effectLst/>
                          <a:latin typeface="Arial"/>
                        </a:rPr>
                        <a:t>As a result of:</a:t>
                      </a:r>
                      <a:r>
                        <a:rPr lang="en-GB" sz="800" b="0" i="0" dirty="0">
                          <a:solidFill>
                            <a:srgbClr val="000000"/>
                          </a:solidFill>
                          <a:effectLst/>
                          <a:latin typeface="Arial"/>
                        </a:rPr>
                        <a:t> incurred cloud hosting and computing costs for deployment of the Private Beta solution</a:t>
                      </a:r>
                    </a:p>
                    <a:p>
                      <a:pPr algn="l">
                        <a:buNone/>
                      </a:pPr>
                      <a:r>
                        <a:rPr lang="en-GB" sz="800" b="1" i="0" dirty="0">
                          <a:solidFill>
                            <a:srgbClr val="000000"/>
                          </a:solidFill>
                          <a:effectLst/>
                          <a:latin typeface="Arial"/>
                        </a:rPr>
                        <a:t>Will lead to:</a:t>
                      </a:r>
                      <a:r>
                        <a:rPr lang="en-GB" sz="800" b="0" i="0" dirty="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dirty="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dirty="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1232298">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There is a risk</a:t>
                      </a:r>
                      <a:r>
                        <a:rPr lang="en-GB" sz="800" b="0" i="0" u="none" strike="noStrike" kern="1200" cap="none" normalizeH="0" baseline="0" noProof="0" dirty="0">
                          <a:ln>
                            <a:noFill/>
                          </a:ln>
                          <a:solidFill>
                            <a:srgbClr val="000000"/>
                          </a:solidFill>
                          <a:effectLst/>
                          <a:highlight>
                            <a:srgbClr val="FFFFFF"/>
                          </a:highlight>
                          <a:latin typeface="Arial"/>
                        </a:rPr>
                        <a:t>: Use of any AI related technology breaches UKHSA licence agreement with the CLA on copyright</a:t>
                      </a:r>
                      <a:endParaRPr lang="en-US"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As a result of</a:t>
                      </a:r>
                      <a:r>
                        <a:rPr lang="en-GB" sz="800" b="0" i="0" u="none" strike="noStrike" kern="1200" cap="none" normalizeH="0" baseline="0" noProof="0" dirty="0">
                          <a:ln>
                            <a:noFill/>
                          </a:ln>
                          <a:solidFill>
                            <a:srgbClr val="000000"/>
                          </a:solidFill>
                          <a:effectLst/>
                          <a:highlight>
                            <a:srgbClr val="FFFFFF"/>
                          </a:highlight>
                          <a:latin typeface="Arial"/>
                        </a:rPr>
                        <a:t>: UHKSA being bound by NHS licence agreement.</a:t>
                      </a:r>
                      <a:endParaRPr lang="en-GB" sz="800" dirty="0"/>
                    </a:p>
                    <a:p>
                      <a:pPr lvl="0" algn="l">
                        <a:lnSpc>
                          <a:spcPct val="100000"/>
                        </a:lnSpc>
                        <a:spcBef>
                          <a:spcPts val="0"/>
                        </a:spcBef>
                        <a:spcAft>
                          <a:spcPts val="0"/>
                        </a:spcAft>
                        <a:buNone/>
                      </a:pPr>
                      <a:r>
                        <a:rPr lang="en-GB" sz="800" b="1" i="0" u="none" strike="noStrike" kern="1200" cap="none" normalizeH="0" baseline="0" noProof="0" dirty="0">
                          <a:ln>
                            <a:noFill/>
                          </a:ln>
                          <a:solidFill>
                            <a:srgbClr val="000000"/>
                          </a:solidFill>
                          <a:effectLst/>
                          <a:highlight>
                            <a:srgbClr val="FFFFFF"/>
                          </a:highlight>
                          <a:latin typeface="Arial"/>
                        </a:rPr>
                        <a:t>Will lead to</a:t>
                      </a:r>
                      <a:r>
                        <a:rPr lang="en-GB" sz="800" b="0" i="0" u="none" strike="noStrike" kern="1200" cap="none" normalizeH="0" baseline="0" noProof="0" dirty="0">
                          <a:ln>
                            <a:noFill/>
                          </a:ln>
                          <a:solidFill>
                            <a:srgbClr val="000000"/>
                          </a:solidFill>
                          <a:effectLst/>
                          <a:highlight>
                            <a:srgbClr val="FFFFFF"/>
                          </a:highlight>
                          <a:latin typeface="Arial"/>
                        </a:rPr>
                        <a:t>: Prohibition of use of AI technology for non generative non training applications</a:t>
                      </a:r>
                      <a:endParaRPr lang="en-GB" sz="800" dirty="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dirty="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00D6DBBB-924D-DA28-D987-34A94DEF8980}"/>
              </a:ext>
            </a:extLst>
          </p:cNvPr>
          <p:cNvSpPr txBox="1"/>
          <p:nvPr/>
        </p:nvSpPr>
        <p:spPr>
          <a:xfrm>
            <a:off x="5703431" y="6673624"/>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0298F774-68BB-64D2-3E63-5C4FA8CF06C1}"/>
              </a:ext>
            </a:extLst>
          </p:cNvPr>
          <p:cNvGraphicFramePr>
            <a:graphicFrameLocks noGrp="1"/>
          </p:cNvGraphicFramePr>
          <p:nvPr/>
        </p:nvGraphicFramePr>
        <p:xfrm>
          <a:off x="5531796" y="566007"/>
          <a:ext cx="6423387" cy="365760"/>
        </p:xfrm>
        <a:graphic>
          <a:graphicData uri="http://schemas.openxmlformats.org/drawingml/2006/table">
            <a:tbl>
              <a:tblPr firstRow="1" bandRow="1">
                <a:tableStyleId>{5C22544A-7EE6-4342-B048-85BDC9FD1C3A}</a:tableStyleId>
              </a:tblPr>
              <a:tblGrid>
                <a:gridCol w="431677">
                  <a:extLst>
                    <a:ext uri="{9D8B030D-6E8A-4147-A177-3AD203B41FA5}">
                      <a16:colId xmlns:a16="http://schemas.microsoft.com/office/drawing/2014/main" val="673553765"/>
                    </a:ext>
                  </a:extLst>
                </a:gridCol>
                <a:gridCol w="431677">
                  <a:extLst>
                    <a:ext uri="{9D8B030D-6E8A-4147-A177-3AD203B41FA5}">
                      <a16:colId xmlns:a16="http://schemas.microsoft.com/office/drawing/2014/main" val="4211759447"/>
                    </a:ext>
                  </a:extLst>
                </a:gridCol>
                <a:gridCol w="431677">
                  <a:extLst>
                    <a:ext uri="{9D8B030D-6E8A-4147-A177-3AD203B41FA5}">
                      <a16:colId xmlns:a16="http://schemas.microsoft.com/office/drawing/2014/main" val="3987128177"/>
                    </a:ext>
                  </a:extLst>
                </a:gridCol>
                <a:gridCol w="431677">
                  <a:extLst>
                    <a:ext uri="{9D8B030D-6E8A-4147-A177-3AD203B41FA5}">
                      <a16:colId xmlns:a16="http://schemas.microsoft.com/office/drawing/2014/main" val="703617760"/>
                    </a:ext>
                  </a:extLst>
                </a:gridCol>
                <a:gridCol w="431677">
                  <a:extLst>
                    <a:ext uri="{9D8B030D-6E8A-4147-A177-3AD203B41FA5}">
                      <a16:colId xmlns:a16="http://schemas.microsoft.com/office/drawing/2014/main" val="3424114508"/>
                    </a:ext>
                  </a:extLst>
                </a:gridCol>
                <a:gridCol w="437798">
                  <a:extLst>
                    <a:ext uri="{9D8B030D-6E8A-4147-A177-3AD203B41FA5}">
                      <a16:colId xmlns:a16="http://schemas.microsoft.com/office/drawing/2014/main" val="3100067570"/>
                    </a:ext>
                  </a:extLst>
                </a:gridCol>
                <a:gridCol w="437798">
                  <a:extLst>
                    <a:ext uri="{9D8B030D-6E8A-4147-A177-3AD203B41FA5}">
                      <a16:colId xmlns:a16="http://schemas.microsoft.com/office/drawing/2014/main" val="3430054372"/>
                    </a:ext>
                  </a:extLst>
                </a:gridCol>
                <a:gridCol w="543717">
                  <a:extLst>
                    <a:ext uri="{9D8B030D-6E8A-4147-A177-3AD203B41FA5}">
                      <a16:colId xmlns:a16="http://schemas.microsoft.com/office/drawing/2014/main" val="2599263965"/>
                    </a:ext>
                  </a:extLst>
                </a:gridCol>
                <a:gridCol w="543717">
                  <a:extLst>
                    <a:ext uri="{9D8B030D-6E8A-4147-A177-3AD203B41FA5}">
                      <a16:colId xmlns:a16="http://schemas.microsoft.com/office/drawing/2014/main" val="1936607128"/>
                    </a:ext>
                  </a:extLst>
                </a:gridCol>
                <a:gridCol w="543717">
                  <a:extLst>
                    <a:ext uri="{9D8B030D-6E8A-4147-A177-3AD203B41FA5}">
                      <a16:colId xmlns:a16="http://schemas.microsoft.com/office/drawing/2014/main" val="681041266"/>
                    </a:ext>
                  </a:extLst>
                </a:gridCol>
                <a:gridCol w="670821">
                  <a:extLst>
                    <a:ext uri="{9D8B030D-6E8A-4147-A177-3AD203B41FA5}">
                      <a16:colId xmlns:a16="http://schemas.microsoft.com/office/drawing/2014/main" val="3887832098"/>
                    </a:ext>
                  </a:extLst>
                </a:gridCol>
                <a:gridCol w="550778">
                  <a:extLst>
                    <a:ext uri="{9D8B030D-6E8A-4147-A177-3AD203B41FA5}">
                      <a16:colId xmlns:a16="http://schemas.microsoft.com/office/drawing/2014/main" val="4211782468"/>
                    </a:ext>
                  </a:extLst>
                </a:gridCol>
                <a:gridCol w="536656">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dirty="0">
                          <a:solidFill>
                            <a:schemeClr val="lt1"/>
                          </a:solidFill>
                          <a:latin typeface="Aptos"/>
                          <a:ea typeface="+mn-ea"/>
                          <a:cs typeface="+mn-cs"/>
                        </a:rPr>
                        <a:t>Time</a:t>
                      </a:r>
                      <a:r>
                        <a:rPr lang="en-GB" sz="900" dirty="0">
                          <a:latin typeface="Aptos"/>
                        </a:rPr>
                        <a:t> </a:t>
                      </a:r>
                    </a:p>
                  </a:txBody>
                  <a:tcPr anchor="ctr">
                    <a:solidFill>
                      <a:srgbClr val="92D050"/>
                    </a:solidFill>
                  </a:tcPr>
                </a:tc>
                <a:tc>
                  <a:txBody>
                    <a:bodyPr/>
                    <a:lstStyle/>
                    <a:p>
                      <a:pPr lvl="0" algn="ctr">
                        <a:buNone/>
                      </a:pPr>
                      <a:endParaRPr lang="en-GB" sz="900" dirty="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dirty="0">
                          <a:latin typeface="Aptos"/>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dirty="0">
                          <a:latin typeface="Aptos"/>
                        </a:rPr>
                        <a:t>Dependencies</a:t>
                      </a:r>
                      <a:r>
                        <a:rPr lang="en-GB" sz="900" dirty="0">
                          <a:latin typeface="Aptos"/>
                        </a:rPr>
                        <a:t> </a:t>
                      </a:r>
                    </a:p>
                  </a:txBody>
                  <a:tcPr anchor="ctr">
                    <a:solidFill>
                      <a:srgbClr val="92D050"/>
                    </a:solidFill>
                  </a:tcPr>
                </a:tc>
                <a:tc>
                  <a:txBody>
                    <a:bodyPr/>
                    <a:lstStyle/>
                    <a:p>
                      <a:pPr algn="ctr"/>
                      <a:r>
                        <a:rPr lang="en-GB" sz="900" dirty="0">
                          <a:latin typeface="Aptos"/>
                        </a:rPr>
                        <a:t>Benefits </a:t>
                      </a:r>
                    </a:p>
                  </a:txBody>
                  <a:tcPr anchor="ctr">
                    <a:solidFill>
                      <a:srgbClr val="92D050"/>
                    </a:solidFill>
                  </a:tcPr>
                </a:tc>
                <a:tc>
                  <a:txBody>
                    <a:bodyPr/>
                    <a:lstStyle/>
                    <a:p>
                      <a:pPr algn="ctr"/>
                      <a:r>
                        <a:rPr lang="en-GB" sz="900" dirty="0">
                          <a:latin typeface="Aptos"/>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3547398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2815-3CCD-0B32-E901-03611E28A227}"/>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DAA7A958-0D5B-92AB-03EC-9AFF23B48AB7}"/>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8EB99B05-EC9E-7886-FAE0-E457CF489030}"/>
              </a:ext>
            </a:extLst>
          </p:cNvPr>
          <p:cNvSpPr txBox="1">
            <a:spLocks/>
          </p:cNvSpPr>
          <p:nvPr/>
        </p:nvSpPr>
        <p:spPr>
          <a:xfrm>
            <a:off x="841952" y="60378"/>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dirty="0">
                <a:ln>
                  <a:noFill/>
                </a:ln>
                <a:solidFill>
                  <a:srgbClr val="007C91"/>
                </a:solidFill>
                <a:effectLst/>
                <a:uLnTx/>
                <a:uFillTx/>
                <a:latin typeface="Calibri" panose="020F0502020204030204"/>
                <a:ea typeface="+mj-ea"/>
                <a:cs typeface="Arial"/>
              </a:rPr>
              <a:t>Project Update |</a:t>
            </a:r>
            <a:r>
              <a:rPr lang="en-GB" sz="2400" dirty="0">
                <a:solidFill>
                  <a:srgbClr val="242424"/>
                </a:solidFill>
                <a:latin typeface="Aptos Narrow"/>
                <a:cs typeface="Arial"/>
              </a:rPr>
              <a:t>UKHSA-AIR-RIS- AI Readiness Use Case Development 06/02 </a:t>
            </a:r>
            <a:endParaRPr lang="en-US" sz="2400" b="1" u="none" strike="noStrike" kern="1200" cap="none" spc="0" normalizeH="0" baseline="0" noProof="0" dirty="0">
              <a:ln>
                <a:noFill/>
              </a:ln>
              <a:solidFill>
                <a:srgbClr val="007C91"/>
              </a:solidFill>
              <a:effectLst/>
              <a:uLnTx/>
              <a:uFillTx/>
              <a:latin typeface="Calibri" panose="020F0502020204030204"/>
              <a:ea typeface="Calibri"/>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dirty="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E3858437-4FC9-65A9-29B4-D09217F800DF}"/>
              </a:ext>
            </a:extLst>
          </p:cNvPr>
          <p:cNvGraphicFramePr>
            <a:graphicFrameLocks noGrp="1"/>
          </p:cNvGraphicFramePr>
          <p:nvPr/>
        </p:nvGraphicFramePr>
        <p:xfrm>
          <a:off x="490915" y="2509608"/>
          <a:ext cx="4898208" cy="4368086"/>
        </p:xfrm>
        <a:graphic>
          <a:graphicData uri="http://schemas.openxmlformats.org/drawingml/2006/table">
            <a:tbl>
              <a:tblPr firstRow="1">
                <a:tableStyleId>{7E9639D4-E3E2-4D34-9284-5A2195B3D0D7}</a:tableStyleId>
              </a:tblPr>
              <a:tblGrid>
                <a:gridCol w="2449104">
                  <a:extLst>
                    <a:ext uri="{9D8B030D-6E8A-4147-A177-3AD203B41FA5}">
                      <a16:colId xmlns:a16="http://schemas.microsoft.com/office/drawing/2014/main" val="20000"/>
                    </a:ext>
                  </a:extLst>
                </a:gridCol>
                <a:gridCol w="2449104">
                  <a:extLst>
                    <a:ext uri="{9D8B030D-6E8A-4147-A177-3AD203B41FA5}">
                      <a16:colId xmlns:a16="http://schemas.microsoft.com/office/drawing/2014/main" val="195155734"/>
                    </a:ext>
                  </a:extLst>
                </a:gridCol>
              </a:tblGrid>
              <a:tr h="161156">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dirty="0">
                          <a:ln>
                            <a:noFill/>
                          </a:ln>
                          <a:solidFill>
                            <a:schemeClr val="bg1"/>
                          </a:solidFill>
                          <a:effectLst/>
                        </a:rPr>
                        <a:t>B.  KEY ACCOMPLISHMENTS THIS PERIOD</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949991">
                <a:tc gridSpan="2">
                  <a:txBody>
                    <a:bodyPr/>
                    <a:lstStyle/>
                    <a:p>
                      <a:pPr marL="0" marR="0" lvl="0" indent="0" algn="l" rtl="0" eaLnBrk="0" fontAlgn="base" latinLnBrk="0" hangingPunct="0">
                        <a:lnSpc>
                          <a:spcPct val="100000"/>
                        </a:lnSpc>
                        <a:spcBef>
                          <a:spcPct val="0"/>
                        </a:spcBef>
                        <a:spcAft>
                          <a:spcPct val="10000"/>
                        </a:spcAft>
                        <a:buClrTx/>
                        <a:buSzTx/>
                        <a:buNone/>
                      </a:pPr>
                      <a:r>
                        <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rPr>
                        <a:t>General </a:t>
                      </a:r>
                      <a:endParaRPr kumimoji="0"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171450" marR="0" lvl="0" indent="-171450" algn="l">
                        <a:lnSpc>
                          <a:spcPct val="100000"/>
                        </a:lnSpc>
                        <a:spcBef>
                          <a:spcPct val="0"/>
                        </a:spcBef>
                        <a:spcAft>
                          <a:spcPct val="10000"/>
                        </a:spcAft>
                        <a:buFont typeface="Arial"/>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Issued D05 and D06 as per the agreed schedule</a:t>
                      </a:r>
                      <a:endParaRPr lang="en-GB"/>
                    </a:p>
                    <a:p>
                      <a:pPr marL="171450" marR="0" lvl="0" indent="-171450" algn="l">
                        <a:lnSpc>
                          <a:spcPct val="100000"/>
                        </a:lnSpc>
                        <a:spcBef>
                          <a:spcPct val="0"/>
                        </a:spcBef>
                        <a:spcAft>
                          <a:spcPct val="10000"/>
                        </a:spcAft>
                        <a:buFont typeface="Arial"/>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On boarded additional resources</a:t>
                      </a:r>
                    </a:p>
                    <a:p>
                      <a:pPr marL="0" marR="0" lvl="0" indent="0" algn="l">
                        <a:lnSpc>
                          <a:spcPct val="100000"/>
                        </a:lnSpc>
                        <a:spcBef>
                          <a:spcPct val="0"/>
                        </a:spcBef>
                        <a:spcAft>
                          <a:spcPct val="10000"/>
                        </a:spcAft>
                        <a:buClrTx/>
                        <a:buSzTx/>
                        <a:buNone/>
                      </a:pPr>
                      <a:endParaRPr lang="en-GB" sz="700" b="0" i="0" u="none" strike="noStrike" kern="1200" cap="none" spc="0" normalizeH="0" baseline="0" dirty="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
                          <a:srgbClr val="000000"/>
                        </a:buClr>
                        <a:buSzTx/>
                        <a:buNone/>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WS2</a:t>
                      </a:r>
                      <a:endParaRPr kumimoji="0" lang="en-US" sz="700" b="0" i="0" u="none" strike="noStrike" kern="1200" cap="none" spc="0" normalizeH="0" baseline="0" noProof="0" dirty="0">
                        <a:ln>
                          <a:noFill/>
                        </a:ln>
                        <a:solidFill>
                          <a:schemeClr val="tx1">
                            <a:lumMod val="65000"/>
                            <a:lumOff val="35000"/>
                          </a:schemeClr>
                        </a:solidFill>
                        <a:effectLst/>
                        <a:uLnTx/>
                        <a:uFillTx/>
                        <a:latin typeface="Century Gothic"/>
                      </a:endParaRP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Defined the general architecture, with a detailed plan for the ingestion and extraction stages.</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Made decisions with regards to core technology to be used.</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Ongoing research into implementation options for external services and deployment platform. </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Established the code structure.</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Early implementation in place, ongoing development.</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We have a first draft of our high-level journey map</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User feedback informed higher-fidelity mock-ups of both the search and search results pages</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Completion of logical architecture diagrams (System Context and Container/Application Diagrams)</a:t>
                      </a:r>
                    </a:p>
                    <a:p>
                      <a:pPr marL="171450" marR="0" lvl="0" indent="-171450" algn="l">
                        <a:lnSpc>
                          <a:spcPct val="100000"/>
                        </a:lnSpc>
                        <a:spcBef>
                          <a:spcPct val="0"/>
                        </a:spcBef>
                        <a:spcAft>
                          <a:spcPct val="10000"/>
                        </a:spcAft>
                        <a:buClr>
                          <a:srgbClr val="000000"/>
                        </a:buClr>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rPr>
                        <a:t>Detailed low-level design diagrams identifying specific cloud technologies also drafted</a:t>
                      </a:r>
                    </a:p>
                    <a:p>
                      <a:pPr marL="0" marR="0" lvl="0" indent="0" algn="l">
                        <a:lnSpc>
                          <a:spcPct val="100000"/>
                        </a:lnSpc>
                        <a:spcBef>
                          <a:spcPct val="0"/>
                        </a:spcBef>
                        <a:spcAft>
                          <a:spcPct val="10000"/>
                        </a:spcAft>
                        <a:buNone/>
                      </a:pPr>
                      <a:endParaRPr lang="en-GB" sz="700" b="0" i="0" u="none" strike="noStrike" cap="none" normalizeH="0" baseline="0" noProof="0" dirty="0">
                        <a:ln>
                          <a:noFill/>
                        </a:ln>
                        <a:solidFill>
                          <a:srgbClr val="000000"/>
                        </a:solidFill>
                        <a:effectLst/>
                        <a:latin typeface="Century Gothic"/>
                      </a:endParaRPr>
                    </a:p>
                    <a:p>
                      <a:pPr marL="0" marR="0" lvl="0" indent="0" algn="l">
                        <a:lnSpc>
                          <a:spcPct val="100000"/>
                        </a:lnSpc>
                        <a:spcBef>
                          <a:spcPct val="0"/>
                        </a:spcBef>
                        <a:spcAft>
                          <a:spcPct val="10000"/>
                        </a:spcAft>
                        <a:buNone/>
                      </a:pPr>
                      <a:r>
                        <a:rPr lang="en-US" sz="700" b="0" i="0" u="none" strike="noStrike" cap="none" normalizeH="0" baseline="0" noProof="0">
                          <a:ln>
                            <a:noFill/>
                          </a:ln>
                          <a:solidFill>
                            <a:schemeClr val="tx1">
                              <a:lumMod val="65000"/>
                              <a:lumOff val="35000"/>
                            </a:schemeClr>
                          </a:solidFill>
                          <a:effectLst/>
                          <a:latin typeface="Century Gothic"/>
                        </a:rPr>
                        <a:t>WS3 </a:t>
                      </a:r>
                      <a:endParaRPr lang="en-US" sz="700" b="0" i="0" u="none" strike="noStrike" cap="none" normalizeH="0" baseline="0" noProof="0">
                        <a:ln>
                          <a:noFill/>
                        </a:ln>
                        <a:solidFill>
                          <a:srgbClr val="000000"/>
                        </a:solidFill>
                        <a:effectLst/>
                        <a:latin typeface="Century Gothic"/>
                      </a:endParaRPr>
                    </a:p>
                    <a:p>
                      <a:pPr marL="171450" marR="0" lvl="0" indent="-171450" algn="l">
                        <a:lnSpc>
                          <a:spcPct val="100000"/>
                        </a:lnSpc>
                        <a:spcBef>
                          <a:spcPct val="0"/>
                        </a:spcBef>
                        <a:spcAft>
                          <a:spcPct val="10000"/>
                        </a:spcAft>
                        <a:buClr>
                          <a:srgbClr val="000000"/>
                        </a:buClr>
                        <a:buFont typeface="Arial"/>
                        <a:buChar char="•"/>
                      </a:pPr>
                      <a:r>
                        <a:rPr lang="en-US" sz="700" b="0" i="0" u="none" strike="noStrike" cap="none" normalizeH="0" baseline="0" noProof="0">
                          <a:ln>
                            <a:noFill/>
                          </a:ln>
                          <a:solidFill>
                            <a:schemeClr val="tx1">
                              <a:lumMod val="65000"/>
                              <a:lumOff val="35000"/>
                            </a:schemeClr>
                          </a:solidFill>
                          <a:effectLst/>
                          <a:latin typeface="Century Gothic"/>
                        </a:rPr>
                        <a:t>begin defining objectives, roles and responsibilities and risk matrix.</a:t>
                      </a:r>
                      <a:endParaRPr lang="pl-PL"/>
                    </a:p>
                    <a:p>
                      <a:pPr marL="0" marR="0" lvl="0" indent="0" algn="l">
                        <a:lnSpc>
                          <a:spcPct val="100000"/>
                        </a:lnSpc>
                        <a:spcBef>
                          <a:spcPct val="0"/>
                        </a:spcBef>
                        <a:spcAft>
                          <a:spcPct val="10000"/>
                        </a:spcAft>
                        <a:buClrTx/>
                        <a:buSzTx/>
                        <a:buFont typeface="Arial" panose="020B0604020202020204" pitchFamily="34" charset="0"/>
                        <a:buNone/>
                      </a:pPr>
                      <a:endParaRPr lang="pl-PL" sz="800" u="none" strike="noStrike" cap="none" normalizeH="0" baseline="0" dirty="0">
                        <a:ln>
                          <a:noFill/>
                        </a:ln>
                        <a:solidFill>
                          <a:schemeClr val="tx1">
                            <a:lumMod val="65000"/>
                            <a:lumOff val="35000"/>
                          </a:schemeClr>
                        </a:solidFill>
                        <a:effectLst/>
                        <a:latin typeface="Century Gothic"/>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dirty="0">
                          <a:ln>
                            <a:noFill/>
                          </a:ln>
                          <a:solidFill>
                            <a:schemeClr val="bg1"/>
                          </a:solidFill>
                          <a:effectLst/>
                          <a:latin typeface="EYInterstate"/>
                        </a:rPr>
                        <a:t>C. KEY ACTIVITIES PLANNED NEXT </a:t>
                      </a:r>
                      <a:r>
                        <a:rPr lang="en-CA" sz="800" b="1" i="0" u="none" strike="noStrike" cap="none" normalizeH="0" baseline="0" dirty="0">
                          <a:ln>
                            <a:noFill/>
                          </a:ln>
                          <a:solidFill>
                            <a:schemeClr val="bg1"/>
                          </a:solidFill>
                          <a:effectLst/>
                          <a:latin typeface="EYInterstate"/>
                        </a:rPr>
                        <a:t>SPRINT</a:t>
                      </a:r>
                      <a:endParaRPr kumimoji="0" lang="en-CA" sz="800" b="1" i="0" u="none" strike="noStrike" cap="none" normalizeH="0" baseline="0" dirty="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2"/>
                  </a:ext>
                </a:extLst>
              </a:tr>
              <a:tr h="757434">
                <a:tc gridSpan="2">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Issue D05 / D06 </a:t>
                      </a: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Ongoing UR interviews and analysis </a:t>
                      </a:r>
                      <a:endParaRPr kumimoji="0"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Continue Iterate</a:t>
                      </a:r>
                      <a:r>
                        <a:rPr kumimoji="0"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HL user journey map</a:t>
                      </a: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in line with UR findings</a:t>
                      </a:r>
                      <a:endParaRPr kumimoji="0"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Iterate LLD</a:t>
                      </a:r>
                      <a:r>
                        <a:rPr kumimoji="0"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 and use case diagrams</a:t>
                      </a: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Define chunking strategy</a:t>
                      </a: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Build ANTS code locally</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11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dirty="0">
                          <a:ln>
                            <a:noFill/>
                          </a:ln>
                          <a:solidFill>
                            <a:schemeClr val="bg1"/>
                          </a:solidFill>
                          <a:effectLst/>
                          <a:latin typeface="EYInterstate"/>
                        </a:rPr>
                        <a:t>D.  KEY ISSUES REQUIRING MANAGEMENT ATTENTION / AWARENESS</a:t>
                      </a:r>
                      <a:endParaRPr kumimoji="0" lang="en-US" sz="800" b="1" i="0" u="none" strike="noStrike" cap="none" normalizeH="0" baseline="0" dirty="0">
                        <a:ln>
                          <a:noFill/>
                        </a:ln>
                        <a:solidFill>
                          <a:schemeClr val="bg1"/>
                        </a:solidFill>
                        <a:effectLst/>
                        <a:latin typeface="EYInterstate"/>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6115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dirty="0">
                          <a:ln>
                            <a:noFill/>
                          </a:ln>
                          <a:solidFill>
                            <a:schemeClr val="bg2"/>
                          </a:solidFill>
                          <a:effectLst/>
                          <a:latin typeface="EYInterstate Light"/>
                          <a:ea typeface="+mn-ea"/>
                          <a:cs typeface="+mn-cs"/>
                        </a:rPr>
                        <a:t>ATTENTION (HELP NEEDED)</a:t>
                      </a:r>
                      <a:endParaRPr kumimoji="0" lang="en-US" sz="800" b="1" i="0" u="none" strike="noStrike" kern="1200" cap="none" normalizeH="0" baseline="0" dirty="0">
                        <a:ln>
                          <a:noFill/>
                        </a:ln>
                        <a:solidFill>
                          <a:schemeClr val="bg2"/>
                        </a:solidFill>
                        <a:effectLst/>
                        <a:latin typeface="EYInterstate Ligh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dirty="0">
                          <a:ln>
                            <a:noFill/>
                          </a:ln>
                          <a:solidFill>
                            <a:schemeClr val="bg2"/>
                          </a:solidFill>
                          <a:effectLst/>
                          <a:latin typeface="EYInterstate Light"/>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21896">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GB" sz="800" dirty="0">
                          <a:hlinkClick r:id="rId3" tooltip="https://ukhsa.atlassian.net/wiki/spaces/ddsh/pages/416287279/decision+-+vector+embedding+will+be+persisted+within+a+database."/>
                        </a:rPr>
                        <a:t>Decision - Vector Embedding will be persisted within a database. - DS&amp;G Data Science Hub - </a:t>
                      </a:r>
                      <a:r>
                        <a:rPr lang="en-GB" sz="800" dirty="0" err="1">
                          <a:hlinkClick r:id="rId3" tooltip="https://ukhsa.atlassian.net/wiki/spaces/ddsh/pages/416287279/decision+-+vector+embedding+will+be+persisted+within+a+database."/>
                        </a:rPr>
                        <a:t>Confluen</a:t>
                      </a:r>
                      <a:r>
                        <a:rPr lang="en-GB" sz="800">
                          <a:hlinkClick r:id="rId3" tooltip="https://ukhsa.atlassian.net/wiki/spaces/ddsh/pages/416287279/decision+-+vector+embedding+will+be+persisted+within+a+database."/>
                        </a:rPr>
                        <a:t>…</a:t>
                      </a:r>
                      <a:r>
                        <a:rPr lang="en-GB" sz="800"/>
                        <a:t> </a:t>
                      </a: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GB" sz="800">
                          <a:hlinkClick r:id="rId4" tooltip="https://ukhsa.atlassian.net/wiki/spaces/ddsh/pages/421298242/decision+-+aws+deployment+for+evidence+gap+mapping+use-case"/>
                        </a:rPr>
                        <a:t>Decision </a:t>
                      </a:r>
                      <a:r>
                        <a:rPr lang="en-GB" sz="800" dirty="0">
                          <a:hlinkClick r:id="rId4" tooltip="https://ukhsa.atlassian.net/wiki/spaces/ddsh/pages/421298242/decision+-+aws+deployment+for+evidence+gap+mapping+use-case"/>
                        </a:rPr>
                        <a:t>- AWS Deployment for Evidence Gap Mapping use-case - DS&amp;G Data Science Hub - Confluence</a:t>
                      </a: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07190C3C-D5A8-9F51-EFC9-6E1209BF638A}"/>
              </a:ext>
            </a:extLst>
          </p:cNvPr>
          <p:cNvGraphicFramePr>
            <a:graphicFrameLocks noGrp="1"/>
          </p:cNvGraphicFramePr>
          <p:nvPr/>
        </p:nvGraphicFramePr>
        <p:xfrm>
          <a:off x="490918" y="566008"/>
          <a:ext cx="4898205" cy="1943858"/>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9021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a:ln>
                            <a:noFill/>
                          </a:ln>
                          <a:effectLst/>
                        </a:rPr>
                        <a:t>A.  </a:t>
                      </a:r>
                      <a:r>
                        <a:rPr kumimoji="0" lang="en-GB" sz="800" u="none" strike="noStrike" cap="none" normalizeH="0" baseline="0">
                          <a:ln>
                            <a:noFill/>
                          </a:ln>
                          <a:effectLst/>
                        </a:rPr>
                        <a:t>EXECUTIVE SUMMARY</a:t>
                      </a:r>
                      <a:endParaRPr kumimoji="0" lang="en-US" sz="800" b="1" i="0" u="none" strike="noStrike" cap="none" normalizeH="0" baseline="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753641">
                <a:tc>
                  <a:txBody>
                    <a:bodyPr/>
                    <a:lstStyle/>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The programme has delivered strong momentum this period, issuing D05 and D06 to schedule and onboarding further resources to support delivery.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Significant technical progress has been achieved, including defining the overall architecture, establishing detailed ingestion and extraction plans, agreeing core technology decisions, and advancing early implementation with a structured code foundation.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Service design has moved forward with a first draft of the high‑level user journey map, user‑informed mock‑ups, and completion of both logical and low‑level architecture diagrams.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endParaRP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dirty="0">
                          <a:ln>
                            <a:noFill/>
                          </a:ln>
                          <a:solidFill>
                            <a:schemeClr val="tx1">
                              <a:lumMod val="65000"/>
                              <a:lumOff val="35000"/>
                            </a:schemeClr>
                          </a:solidFill>
                          <a:effectLst/>
                          <a:uLnTx/>
                          <a:uFillTx/>
                          <a:latin typeface="Century Gothic"/>
                          <a:ea typeface="+mn-ea"/>
                          <a:cs typeface="Calibri"/>
                        </a:rPr>
                        <a:t>WS3 has also begun shaping objectives, roles, responsibilities, and the project’s risk matrix, strengthening readiness for the next phase.</a:t>
                      </a:r>
                    </a:p>
                  </a:txBody>
                  <a:tcPr marL="33146" marR="33146" marT="14365" marB="14365"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BE322151-C304-636F-029B-80FE23252238}"/>
              </a:ext>
            </a:extLst>
          </p:cNvPr>
          <p:cNvGraphicFramePr>
            <a:graphicFrameLocks noGrp="1"/>
          </p:cNvGraphicFramePr>
          <p:nvPr/>
        </p:nvGraphicFramePr>
        <p:xfrm>
          <a:off x="5531796" y="946905"/>
          <a:ext cx="6341580" cy="3071440"/>
        </p:xfrm>
        <a:graphic>
          <a:graphicData uri="http://schemas.openxmlformats.org/drawingml/2006/table">
            <a:tbl>
              <a:tblPr firstRow="1">
                <a:tableStyleId>{7E9639D4-E3E2-4D34-9284-5A2195B3D0D7}</a:tableStyleId>
              </a:tblPr>
              <a:tblGrid>
                <a:gridCol w="423043">
                  <a:extLst>
                    <a:ext uri="{9D8B030D-6E8A-4147-A177-3AD203B41FA5}">
                      <a16:colId xmlns:a16="http://schemas.microsoft.com/office/drawing/2014/main" val="4205414778"/>
                    </a:ext>
                  </a:extLst>
                </a:gridCol>
                <a:gridCol w="2560467">
                  <a:extLst>
                    <a:ext uri="{9D8B030D-6E8A-4147-A177-3AD203B41FA5}">
                      <a16:colId xmlns:a16="http://schemas.microsoft.com/office/drawing/2014/main" val="20000"/>
                    </a:ext>
                  </a:extLst>
                </a:gridCol>
                <a:gridCol w="667948">
                  <a:extLst>
                    <a:ext uri="{9D8B030D-6E8A-4147-A177-3AD203B41FA5}">
                      <a16:colId xmlns:a16="http://schemas.microsoft.com/office/drawing/2014/main" val="20001"/>
                    </a:ext>
                  </a:extLst>
                </a:gridCol>
                <a:gridCol w="667948">
                  <a:extLst>
                    <a:ext uri="{9D8B030D-6E8A-4147-A177-3AD203B41FA5}">
                      <a16:colId xmlns:a16="http://schemas.microsoft.com/office/drawing/2014/main" val="3492732595"/>
                    </a:ext>
                  </a:extLst>
                </a:gridCol>
                <a:gridCol w="325804">
                  <a:extLst>
                    <a:ext uri="{9D8B030D-6E8A-4147-A177-3AD203B41FA5}">
                      <a16:colId xmlns:a16="http://schemas.microsoft.com/office/drawing/2014/main" val="20004"/>
                    </a:ext>
                  </a:extLst>
                </a:gridCol>
                <a:gridCol w="194580">
                  <a:extLst>
                    <a:ext uri="{9D8B030D-6E8A-4147-A177-3AD203B41FA5}">
                      <a16:colId xmlns:a16="http://schemas.microsoft.com/office/drawing/2014/main" val="20005"/>
                    </a:ext>
                  </a:extLst>
                </a:gridCol>
                <a:gridCol w="1501790">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a:ln>
                            <a:noFill/>
                          </a:ln>
                          <a:effectLst/>
                        </a:rPr>
                        <a:t>E. KEY MILESTONES (DUE FOR THE CURRENT AND NEXT PERIOD + OVERDUE + AT RISK)</a:t>
                      </a:r>
                      <a:endParaRPr kumimoji="0" lang="en-GB" sz="800" b="0" i="0" u="none" strike="noStrike" kern="1200" cap="none" normalizeH="0" baseline="0" noProof="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Milestone Name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Plan Date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LP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CP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Roadmap and business case development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O6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6335985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6354015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Readiness Assessment – Final review and handover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6357159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37417056"/>
                  </a:ext>
                </a:extLst>
              </a:tr>
              <a:tr h="139644">
                <a:tc>
                  <a:txBody>
                    <a:bodyPr/>
                    <a:lstStyle/>
                    <a:p>
                      <a:pPr marL="0" lvl="0" indent="0" algn="ctr" defTabSz="947738">
                        <a:lnSpc>
                          <a:spcPct val="100000"/>
                        </a:lnSpc>
                        <a:spcBef>
                          <a:spcPct val="0"/>
                        </a:spcBef>
                        <a:spcAft>
                          <a:spcPct val="10000"/>
                        </a:spcAft>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lvl="0" indent="0" algn="l" defTabSz="947738">
                        <a:lnSpc>
                          <a:spcPct val="100000"/>
                        </a:lnSpc>
                        <a:spcBef>
                          <a:spcPct val="0"/>
                        </a:spcBef>
                        <a:spcAft>
                          <a:spcPct val="10000"/>
                        </a:spcAft>
                        <a:buNone/>
                        <a:tabLst/>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lvl="0" indent="0" algn="ctr" defTabSz="947738">
                        <a:lnSpc>
                          <a:spcPct val="100000"/>
                        </a:lnSpc>
                        <a:spcBef>
                          <a:spcPct val="0"/>
                        </a:spcBef>
                        <a:spcAft>
                          <a:spcPct val="10000"/>
                        </a:spcAft>
                        <a:buNone/>
                        <a:tabLst/>
                      </a:pPr>
                      <a:endParaRPr kumimoji="0" lang="en-GB" sz="700" u="none" strike="noStrike" kern="1200" cap="none" normalizeH="0" baseline="0" dirty="0">
                        <a:ln>
                          <a:noFill/>
                        </a:ln>
                        <a:solidFill>
                          <a:schemeClr val="tx1">
                            <a:lumMod val="65000"/>
                            <a:lumOff val="35000"/>
                          </a:schemeClr>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lvl="0" indent="0" algn="ctr" defTabSz="947738">
                        <a:lnSpc>
                          <a:spcPct val="100000"/>
                        </a:lnSpc>
                        <a:spcBef>
                          <a:spcPct val="0"/>
                        </a:spcBef>
                        <a:spcAft>
                          <a:spcPct val="10000"/>
                        </a:spcAft>
                        <a:buNone/>
                        <a:tabLst/>
                      </a:pPr>
                      <a:endParaRPr kumimoji="0" lang="en-GB" sz="700" u="none" strike="noStrike" kern="1200" cap="none" normalizeH="0" baseline="0" dirty="0">
                        <a:ln>
                          <a:noFill/>
                        </a:ln>
                        <a:solidFill>
                          <a:schemeClr val="tx1">
                            <a:lumMod val="65000"/>
                            <a:lumOff val="35000"/>
                          </a:schemeClr>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tcPr>
                </a:tc>
                <a:tc>
                  <a:txBody>
                    <a:bodyPr/>
                    <a:lstStyle/>
                    <a:p>
                      <a:pPr marL="0" lvl="0" indent="0" algn="ctr" defTabSz="947738">
                        <a:lnSpc>
                          <a:spcPct val="100000"/>
                        </a:lnSpc>
                        <a:spcBef>
                          <a:spcPct val="0"/>
                        </a:spcBef>
                        <a:spcAft>
                          <a:spcPct val="10000"/>
                        </a:spcAft>
                        <a:buNone/>
                        <a:tabLst/>
                        <a:defRPr/>
                      </a:pP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solidFill>
                      <a:schemeClr val="tx1">
                        <a:lumMod val="20000"/>
                        <a:lumOff val="80000"/>
                      </a:schemeClr>
                    </a:solidFill>
                  </a:tcPr>
                </a:tc>
                <a:tc>
                  <a:txBody>
                    <a:bodyPr/>
                    <a:lstStyle/>
                    <a:p>
                      <a:pPr marL="0" lvl="0" indent="0" algn="ctr" defTabSz="947738">
                        <a:lnSpc>
                          <a:spcPct val="100000"/>
                        </a:lnSpc>
                        <a:spcBef>
                          <a:spcPct val="0"/>
                        </a:spcBef>
                        <a:spcAft>
                          <a:spcPct val="10000"/>
                        </a:spcAft>
                        <a:buNone/>
                        <a:tabLst/>
                        <a:defRPr/>
                      </a:pPr>
                      <a:endParaRPr kumimoji="0" lang="en-GB" sz="700" u="none" strike="noStrike" kern="1200" cap="none" normalizeH="0" baseline="0" noProof="0" dirty="0">
                        <a:ln>
                          <a:noFill/>
                        </a:ln>
                        <a:solidFill>
                          <a:schemeClr val="tx1"/>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solidFill>
                      <a:srgbClr val="92D050"/>
                    </a:solidFill>
                  </a:tcPr>
                </a:tc>
                <a:tc>
                  <a:txBody>
                    <a:bodyPr/>
                    <a:lstStyle/>
                    <a:p>
                      <a:pPr marL="0" lvl="0" indent="0" algn="l" defTabSz="947738">
                        <a:lnSpc>
                          <a:spcPct val="100000"/>
                        </a:lnSpc>
                        <a:spcBef>
                          <a:spcPct val="0"/>
                        </a:spcBef>
                        <a:spcAft>
                          <a:spcPct val="10000"/>
                        </a:spcAft>
                        <a:buNone/>
                        <a:tabLst/>
                        <a:defRPr/>
                      </a:pPr>
                      <a:endParaRPr kumimoji="0" lang="en-GB" sz="700" u="none" strike="noStrike" kern="1200" cap="none" normalizeH="0" baseline="0" noProof="0" dirty="0">
                        <a:ln>
                          <a:noFill/>
                        </a:ln>
                        <a:solidFill>
                          <a:schemeClr val="tx1">
                            <a:lumMod val="65000"/>
                            <a:lumOff val="35000"/>
                          </a:schemeClr>
                        </a:solidFill>
                        <a:effectLst/>
                        <a:latin typeface="Century Gothic"/>
                        <a:ea typeface="+mn-ea"/>
                        <a:cs typeface="Calibri"/>
                      </a:endParaRPr>
                    </a:p>
                  </a:txBody>
                  <a:tcPr marL="45696" marR="45696" marT="45696" marB="45696" anchor="ctr">
                    <a:lnL w="6350">
                      <a:solidFill>
                        <a:schemeClr val="bg1">
                          <a:lumMod val="65000"/>
                        </a:schemeClr>
                      </a:solidFill>
                    </a:lnL>
                    <a:lnR w="6350">
                      <a:solidFill>
                        <a:schemeClr val="bg1">
                          <a:lumMod val="65000"/>
                        </a:schemeClr>
                      </a:solidFill>
                    </a:lnR>
                    <a:lnT w="6350">
                      <a:solidFill>
                        <a:schemeClr val="bg1">
                          <a:lumMod val="65000"/>
                        </a:schemeClr>
                      </a:solidFill>
                    </a:lnT>
                    <a:lnB w="6350">
                      <a:solidFill>
                        <a:schemeClr val="bg1">
                          <a:lumMod val="65000"/>
                        </a:schemeClr>
                      </a:solidFill>
                    </a:lnB>
                    <a:noFill/>
                  </a:tcPr>
                </a:tc>
                <a:extLst>
                  <a:ext uri="{0D108BD9-81ED-4DB2-BD59-A6C34878D82A}">
                    <a16:rowId xmlns:a16="http://schemas.microsoft.com/office/drawing/2014/main" val="1544322524"/>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92643123"/>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96210375"/>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7895744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49242639"/>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8678984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D08AF989-FFB8-3FDA-C939-92F054E2FE40}"/>
              </a:ext>
            </a:extLst>
          </p:cNvPr>
          <p:cNvGraphicFramePr>
            <a:graphicFrameLocks noGrp="1"/>
          </p:cNvGraphicFramePr>
          <p:nvPr/>
        </p:nvGraphicFramePr>
        <p:xfrm>
          <a:off x="5531796" y="3950613"/>
          <a:ext cx="6423420" cy="2645248"/>
        </p:xfrm>
        <a:graphic>
          <a:graphicData uri="http://schemas.openxmlformats.org/drawingml/2006/table">
            <a:tbl>
              <a:tblPr firstRow="1" bandRow="1" bandCol="1">
                <a:tableStyleId>{7E9639D4-E3E2-4D34-9284-5A2195B3D0D7}</a:tableStyleId>
              </a:tblPr>
              <a:tblGrid>
                <a:gridCol w="402713">
                  <a:extLst>
                    <a:ext uri="{9D8B030D-6E8A-4147-A177-3AD203B41FA5}">
                      <a16:colId xmlns:a16="http://schemas.microsoft.com/office/drawing/2014/main" val="2199885390"/>
                    </a:ext>
                  </a:extLst>
                </a:gridCol>
                <a:gridCol w="2872265">
                  <a:extLst>
                    <a:ext uri="{9D8B030D-6E8A-4147-A177-3AD203B41FA5}">
                      <a16:colId xmlns:a16="http://schemas.microsoft.com/office/drawing/2014/main" val="1148451240"/>
                    </a:ext>
                  </a:extLst>
                </a:gridCol>
                <a:gridCol w="2230877">
                  <a:extLst>
                    <a:ext uri="{9D8B030D-6E8A-4147-A177-3AD203B41FA5}">
                      <a16:colId xmlns:a16="http://schemas.microsoft.com/office/drawing/2014/main" val="20001"/>
                    </a:ext>
                  </a:extLst>
                </a:gridCol>
                <a:gridCol w="278860">
                  <a:extLst>
                    <a:ext uri="{9D8B030D-6E8A-4147-A177-3AD203B41FA5}">
                      <a16:colId xmlns:a16="http://schemas.microsoft.com/office/drawing/2014/main" val="554533402"/>
                    </a:ext>
                  </a:extLst>
                </a:gridCol>
                <a:gridCol w="278860">
                  <a:extLst>
                    <a:ext uri="{9D8B030D-6E8A-4147-A177-3AD203B41FA5}">
                      <a16:colId xmlns:a16="http://schemas.microsoft.com/office/drawing/2014/main" val="1614259304"/>
                    </a:ext>
                  </a:extLst>
                </a:gridCol>
                <a:gridCol w="359845">
                  <a:extLst>
                    <a:ext uri="{9D8B030D-6E8A-4147-A177-3AD203B41FA5}">
                      <a16:colId xmlns:a16="http://schemas.microsoft.com/office/drawing/2014/main" val="1695019054"/>
                    </a:ext>
                  </a:extLst>
                </a:gridCol>
              </a:tblGrid>
              <a:tr h="123472">
                <a:tc gridSpan="5">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solidFill>
                      <a:prstDash val="solid"/>
                      <a:round/>
                      <a:headEnd type="none" w="med" len="med"/>
                      <a:tailEnd type="none" w="med" len="med"/>
                    </a:lnL>
                  </a:tcPr>
                </a:tc>
                <a:tc hMerge="1">
                  <a:txBody>
                    <a:bodyPr/>
                    <a:lstStyle/>
                    <a:p>
                      <a:endParaRPr lang="en-GB"/>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23472">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LS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255991">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UKHSA-AIR-RIS-05</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that the private beta use case may stall</a:t>
                      </a:r>
                    </a:p>
                    <a:p>
                      <a:pPr algn="l">
                        <a:buNone/>
                      </a:pPr>
                      <a:r>
                        <a:rPr lang="en-GB" sz="800" b="1" i="0">
                          <a:solidFill>
                            <a:srgbClr val="000000"/>
                          </a:solidFill>
                          <a:effectLst/>
                          <a:latin typeface="Arial"/>
                        </a:rPr>
                        <a:t>As a result of</a:t>
                      </a:r>
                      <a:r>
                        <a:rPr lang="en-GB" sz="800" b="0" i="0">
                          <a:solidFill>
                            <a:srgbClr val="000000"/>
                          </a:solidFill>
                          <a:effectLst/>
                          <a:latin typeface="Arial"/>
                        </a:rPr>
                        <a:t>: budget availability and lack of commercial vehicle to complete the work.</a:t>
                      </a:r>
                    </a:p>
                    <a:p>
                      <a:pPr algn="l">
                        <a:buNone/>
                      </a:pPr>
                      <a:r>
                        <a:rPr lang="en-GB" sz="800" b="1" i="0">
                          <a:solidFill>
                            <a:srgbClr val="000000"/>
                          </a:solidFill>
                          <a:effectLst/>
                          <a:latin typeface="Arial"/>
                        </a:rPr>
                        <a:t>Will lead to</a:t>
                      </a:r>
                      <a:r>
                        <a:rPr lang="en-GB" sz="800" b="0" i="0">
                          <a:solidFill>
                            <a:srgbClr val="000000"/>
                          </a:solidFill>
                          <a:effectLst/>
                          <a:latin typeface="Arial"/>
                        </a:rPr>
                        <a:t>: loss of momentum, missed benefits and additional work to deliver later.</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a:t>Begin joint planning for post-March activities as early as possible, including business case, resource requirements, timelines, and ownership. Establish a clear roadmap for private beta, public beta, and operationalisation.</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a:ea typeface="+mn-ea"/>
                          <a:cs typeface="Calibri"/>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51789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Additional budget may be required, requested and approved.</a:t>
                      </a:r>
                    </a:p>
                    <a:p>
                      <a:pPr algn="l">
                        <a:buNone/>
                      </a:pPr>
                      <a:r>
                        <a:rPr lang="en-GB" sz="800" b="1" i="0">
                          <a:solidFill>
                            <a:srgbClr val="000000"/>
                          </a:solidFill>
                          <a:effectLst/>
                          <a:latin typeface="Arial"/>
                        </a:rPr>
                        <a:t>As a result of:</a:t>
                      </a:r>
                      <a:r>
                        <a:rPr lang="en-GB" sz="800" b="0" i="0">
                          <a:solidFill>
                            <a:srgbClr val="000000"/>
                          </a:solidFill>
                          <a:effectLst/>
                          <a:latin typeface="Arial"/>
                        </a:rPr>
                        <a:t> incurred cloud hosting and computing costs for deployment of the Private Beta solution</a:t>
                      </a:r>
                    </a:p>
                    <a:p>
                      <a:pPr algn="l">
                        <a:buNone/>
                      </a:pPr>
                      <a:r>
                        <a:rPr lang="en-GB" sz="800" b="1" i="0">
                          <a:solidFill>
                            <a:srgbClr val="000000"/>
                          </a:solidFill>
                          <a:effectLst/>
                          <a:latin typeface="Arial"/>
                        </a:rPr>
                        <a:t>Will lead to:</a:t>
                      </a:r>
                      <a:r>
                        <a:rPr lang="en-GB" sz="800" b="0" i="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a:ea typeface="+mn-ea"/>
                          <a:cs typeface="Calibri"/>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517896">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There is a risk</a:t>
                      </a:r>
                      <a:r>
                        <a:rPr lang="en-GB" sz="800" b="0" i="0" u="none" strike="noStrike" kern="1200" cap="none" normalizeH="0" baseline="0" noProof="0">
                          <a:ln>
                            <a:noFill/>
                          </a:ln>
                          <a:solidFill>
                            <a:srgbClr val="000000"/>
                          </a:solidFill>
                          <a:effectLst/>
                          <a:highlight>
                            <a:srgbClr val="FFFFFF"/>
                          </a:highlight>
                          <a:latin typeface="Arial"/>
                        </a:rPr>
                        <a:t>: Use of any AI related technology breaches UKHSA licence agreement with the CLA on copyright</a:t>
                      </a:r>
                      <a:endParaRPr lang="en-US" sz="800"/>
                    </a:p>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As a result of</a:t>
                      </a:r>
                      <a:r>
                        <a:rPr lang="en-GB" sz="800" b="0" i="0" u="none" strike="noStrike" kern="1200" cap="none" normalizeH="0" baseline="0" noProof="0">
                          <a:ln>
                            <a:noFill/>
                          </a:ln>
                          <a:solidFill>
                            <a:srgbClr val="000000"/>
                          </a:solidFill>
                          <a:effectLst/>
                          <a:highlight>
                            <a:srgbClr val="FFFFFF"/>
                          </a:highlight>
                          <a:latin typeface="Arial"/>
                        </a:rPr>
                        <a:t>: UHKSA being bound by NHS licence agreement.</a:t>
                      </a:r>
                      <a:endParaRPr lang="en-GB" sz="800"/>
                    </a:p>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Will lead to</a:t>
                      </a:r>
                      <a:r>
                        <a:rPr lang="en-GB" sz="800" b="0" i="0" u="none" strike="noStrike" kern="1200" cap="none" normalizeH="0" baseline="0" noProof="0">
                          <a:ln>
                            <a:noFill/>
                          </a:ln>
                          <a:solidFill>
                            <a:srgbClr val="000000"/>
                          </a:solidFill>
                          <a:effectLst/>
                          <a:highlight>
                            <a:srgbClr val="FFFFFF"/>
                          </a:highlight>
                          <a:latin typeface="Arial"/>
                        </a:rPr>
                        <a:t>: Prohibition of use of AI technology for non generative non training applications</a:t>
                      </a:r>
                      <a:endParaRPr lang="en-GB" sz="80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D21FDE5B-896F-0511-9B5C-7ADFA2C2E18A}"/>
              </a:ext>
            </a:extLst>
          </p:cNvPr>
          <p:cNvSpPr txBox="1"/>
          <p:nvPr/>
        </p:nvSpPr>
        <p:spPr>
          <a:xfrm>
            <a:off x="5703431" y="6506936"/>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C4A5CC27-0C89-E79E-9F02-F52FC5144391}"/>
              </a:ext>
            </a:extLst>
          </p:cNvPr>
          <p:cNvGraphicFramePr>
            <a:graphicFrameLocks noGrp="1"/>
          </p:cNvGraphicFramePr>
          <p:nvPr/>
        </p:nvGraphicFramePr>
        <p:xfrm>
          <a:off x="5531796" y="566007"/>
          <a:ext cx="6423393" cy="365760"/>
        </p:xfrm>
        <a:graphic>
          <a:graphicData uri="http://schemas.openxmlformats.org/drawingml/2006/table">
            <a:tbl>
              <a:tblPr firstRow="1" bandRow="1">
                <a:tableStyleId>{5C22544A-7EE6-4342-B048-85BDC9FD1C3A}</a:tableStyleId>
              </a:tblPr>
              <a:tblGrid>
                <a:gridCol w="462778">
                  <a:extLst>
                    <a:ext uri="{9D8B030D-6E8A-4147-A177-3AD203B41FA5}">
                      <a16:colId xmlns:a16="http://schemas.microsoft.com/office/drawing/2014/main" val="673553765"/>
                    </a:ext>
                  </a:extLst>
                </a:gridCol>
                <a:gridCol w="462778">
                  <a:extLst>
                    <a:ext uri="{9D8B030D-6E8A-4147-A177-3AD203B41FA5}">
                      <a16:colId xmlns:a16="http://schemas.microsoft.com/office/drawing/2014/main" val="4211759447"/>
                    </a:ext>
                  </a:extLst>
                </a:gridCol>
                <a:gridCol w="462778">
                  <a:extLst>
                    <a:ext uri="{9D8B030D-6E8A-4147-A177-3AD203B41FA5}">
                      <a16:colId xmlns:a16="http://schemas.microsoft.com/office/drawing/2014/main" val="703617760"/>
                    </a:ext>
                  </a:extLst>
                </a:gridCol>
                <a:gridCol w="462778">
                  <a:extLst>
                    <a:ext uri="{9D8B030D-6E8A-4147-A177-3AD203B41FA5}">
                      <a16:colId xmlns:a16="http://schemas.microsoft.com/office/drawing/2014/main" val="3424114508"/>
                    </a:ext>
                  </a:extLst>
                </a:gridCol>
                <a:gridCol w="469340">
                  <a:extLst>
                    <a:ext uri="{9D8B030D-6E8A-4147-A177-3AD203B41FA5}">
                      <a16:colId xmlns:a16="http://schemas.microsoft.com/office/drawing/2014/main" val="3100067570"/>
                    </a:ext>
                  </a:extLst>
                </a:gridCol>
                <a:gridCol w="469340">
                  <a:extLst>
                    <a:ext uri="{9D8B030D-6E8A-4147-A177-3AD203B41FA5}">
                      <a16:colId xmlns:a16="http://schemas.microsoft.com/office/drawing/2014/main" val="3430054372"/>
                    </a:ext>
                  </a:extLst>
                </a:gridCol>
                <a:gridCol w="582890">
                  <a:extLst>
                    <a:ext uri="{9D8B030D-6E8A-4147-A177-3AD203B41FA5}">
                      <a16:colId xmlns:a16="http://schemas.microsoft.com/office/drawing/2014/main" val="2599263965"/>
                    </a:ext>
                  </a:extLst>
                </a:gridCol>
                <a:gridCol w="582890">
                  <a:extLst>
                    <a:ext uri="{9D8B030D-6E8A-4147-A177-3AD203B41FA5}">
                      <a16:colId xmlns:a16="http://schemas.microsoft.com/office/drawing/2014/main" val="1936607128"/>
                    </a:ext>
                  </a:extLst>
                </a:gridCol>
                <a:gridCol w="582890">
                  <a:extLst>
                    <a:ext uri="{9D8B030D-6E8A-4147-A177-3AD203B41FA5}">
                      <a16:colId xmlns:a16="http://schemas.microsoft.com/office/drawing/2014/main" val="681041266"/>
                    </a:ext>
                  </a:extLst>
                </a:gridCol>
                <a:gridCol w="719151">
                  <a:extLst>
                    <a:ext uri="{9D8B030D-6E8A-4147-A177-3AD203B41FA5}">
                      <a16:colId xmlns:a16="http://schemas.microsoft.com/office/drawing/2014/main" val="3887832098"/>
                    </a:ext>
                  </a:extLst>
                </a:gridCol>
                <a:gridCol w="590460">
                  <a:extLst>
                    <a:ext uri="{9D8B030D-6E8A-4147-A177-3AD203B41FA5}">
                      <a16:colId xmlns:a16="http://schemas.microsoft.com/office/drawing/2014/main" val="4211782468"/>
                    </a:ext>
                  </a:extLst>
                </a:gridCol>
                <a:gridCol w="575320">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a:solidFill>
                            <a:schemeClr val="lt1"/>
                          </a:solidFill>
                          <a:latin typeface="Aptos"/>
                          <a:ea typeface="+mn-ea"/>
                          <a:cs typeface="+mn-cs"/>
                        </a:rPr>
                        <a:t>Time</a:t>
                      </a:r>
                      <a:r>
                        <a:rPr lang="en-GB" sz="900">
                          <a:latin typeface="Aptos"/>
                        </a:rPr>
                        <a: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a:latin typeface="Aptos" panose="020B0004020202020204" pitchFamily="34" charset="0"/>
                        </a:rPr>
                        <a:t>Dependencies</a:t>
                      </a:r>
                      <a:r>
                        <a:rPr lang="en-GB" sz="900">
                          <a:latin typeface="Aptos" panose="020B0004020202020204" pitchFamily="34" charset="0"/>
                        </a:rPr>
                        <a:t> </a:t>
                      </a:r>
                    </a:p>
                  </a:txBody>
                  <a:tcPr anchor="ctr">
                    <a:solidFill>
                      <a:srgbClr val="92D050"/>
                    </a:solidFill>
                  </a:tcPr>
                </a:tc>
                <a:tc>
                  <a:txBody>
                    <a:bodyPr/>
                    <a:lstStyle/>
                    <a:p>
                      <a:pPr algn="ctr"/>
                      <a:r>
                        <a:rPr lang="en-GB" sz="900">
                          <a:latin typeface="Aptos" panose="020B0004020202020204" pitchFamily="34" charset="0"/>
                        </a:rPr>
                        <a:t>Benefits </a:t>
                      </a:r>
                    </a:p>
                  </a:txBody>
                  <a:tcPr anchor="ctr">
                    <a:solidFill>
                      <a:srgbClr val="92D050"/>
                    </a:solidFill>
                  </a:tcPr>
                </a:tc>
                <a:tc>
                  <a:txBody>
                    <a:bodyPr/>
                    <a:lstStyle/>
                    <a:p>
                      <a:pPr algn="ctr"/>
                      <a:r>
                        <a:rPr lang="en-GB" sz="900">
                          <a:latin typeface="Aptos" panose="020B0004020202020204" pitchFamily="34" charset="0"/>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3278123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3D00-012E-53F5-084B-BE214B1D77E7}"/>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C6210407-A261-6900-4434-42477A0E41F0}"/>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0F8E5001-5502-15FB-F6CB-62C5473A494E}"/>
              </a:ext>
            </a:extLst>
          </p:cNvPr>
          <p:cNvSpPr txBox="1">
            <a:spLocks/>
          </p:cNvSpPr>
          <p:nvPr/>
        </p:nvSpPr>
        <p:spPr>
          <a:xfrm>
            <a:off x="589281" y="124164"/>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a:ln>
                  <a:noFill/>
                </a:ln>
                <a:solidFill>
                  <a:srgbClr val="007C91"/>
                </a:solidFill>
                <a:effectLst/>
                <a:uLnTx/>
                <a:uFillTx/>
                <a:latin typeface="Calibri" panose="020F0502020204030204"/>
                <a:ea typeface="+mj-ea"/>
                <a:cs typeface="Arial"/>
              </a:rPr>
              <a:t>Project Update |</a:t>
            </a:r>
            <a:r>
              <a:rPr lang="en-GB" sz="2400">
                <a:solidFill>
                  <a:srgbClr val="242424"/>
                </a:solidFill>
                <a:latin typeface="Aptos Narrow"/>
                <a:cs typeface="Arial"/>
              </a:rPr>
              <a:t>UKHSA-AIR-RIS- AI Readiness Use Case Development 2/2</a:t>
            </a:r>
            <a:r>
              <a:rPr kumimoji="0" lang="en-US" sz="2400" b="1" i="0" u="none" strike="noStrike" kern="1200" cap="none" spc="0" normalizeH="0" baseline="0" noProof="0">
                <a:ln>
                  <a:noFill/>
                </a:ln>
                <a:solidFill>
                  <a:srgbClr val="007C91"/>
                </a:solidFill>
                <a:effectLst/>
                <a:uLnTx/>
                <a:uFillTx/>
                <a:latin typeface="Calibri" panose="020F0502020204030204"/>
                <a:ea typeface="+mj-ea"/>
                <a:cs typeface="Arial"/>
              </a:rPr>
              <a:t> </a:t>
            </a:r>
            <a:endParaRPr kumimoji="0" lang="en-GB" sz="2400" b="1" i="1" u="none" strike="noStrike" kern="1200" cap="none" spc="0" normalizeH="0" baseline="0" noProof="0">
              <a:ln>
                <a:noFill/>
              </a:ln>
              <a:solidFill>
                <a:srgbClr val="007C91"/>
              </a:solidFill>
              <a:effectLst/>
              <a:uLnTx/>
              <a:uFillTx/>
              <a:latin typeface="Calibri" panose="020F0502020204030204"/>
              <a:ea typeface="+mj-ea"/>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38A3E102-3D98-A679-D9FA-B47222C25F0B}"/>
              </a:ext>
            </a:extLst>
          </p:cNvPr>
          <p:cNvGraphicFramePr>
            <a:graphicFrameLocks noGrp="1"/>
          </p:cNvGraphicFramePr>
          <p:nvPr/>
        </p:nvGraphicFramePr>
        <p:xfrm>
          <a:off x="490915" y="2509608"/>
          <a:ext cx="4898208" cy="4328488"/>
        </p:xfrm>
        <a:graphic>
          <a:graphicData uri="http://schemas.openxmlformats.org/drawingml/2006/table">
            <a:tbl>
              <a:tblPr firstRow="1">
                <a:tableStyleId>{7E9639D4-E3E2-4D34-9284-5A2195B3D0D7}</a:tableStyleId>
              </a:tblPr>
              <a:tblGrid>
                <a:gridCol w="2449104">
                  <a:extLst>
                    <a:ext uri="{9D8B030D-6E8A-4147-A177-3AD203B41FA5}">
                      <a16:colId xmlns:a16="http://schemas.microsoft.com/office/drawing/2014/main" val="20000"/>
                    </a:ext>
                  </a:extLst>
                </a:gridCol>
                <a:gridCol w="2449104">
                  <a:extLst>
                    <a:ext uri="{9D8B030D-6E8A-4147-A177-3AD203B41FA5}">
                      <a16:colId xmlns:a16="http://schemas.microsoft.com/office/drawing/2014/main" val="195155734"/>
                    </a:ext>
                  </a:extLst>
                </a:gridCol>
              </a:tblGrid>
              <a:tr h="167256">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a:ln>
                            <a:noFill/>
                          </a:ln>
                          <a:solidFill>
                            <a:schemeClr val="bg1"/>
                          </a:solidFill>
                          <a:effectLst/>
                        </a:rPr>
                        <a:t>B.  KEY ACCOMPLISHMENTS THIS PERIOD</a:t>
                      </a:r>
                      <a:endParaRPr kumimoji="0" lang="en-CA" sz="800" b="1" i="0" u="none" strike="noStrike" cap="none" normalizeH="0" baseline="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552033">
                <a:tc gridSpan="2">
                  <a:txBody>
                    <a:bodyPr/>
                    <a:lstStyle/>
                    <a:p>
                      <a:pPr marL="0" marR="0" lvl="0" indent="0" algn="l" defTabSz="947738" rtl="0" eaLnBrk="0" fontAlgn="base" latinLnBrk="0" hangingPunct="0">
                        <a:lnSpc>
                          <a:spcPct val="100000"/>
                        </a:lnSpc>
                        <a:spcBef>
                          <a:spcPct val="0"/>
                        </a:spcBef>
                        <a:spcAft>
                          <a:spcPct val="10000"/>
                        </a:spcAft>
                        <a:buClrTx/>
                        <a:buSzTx/>
                        <a:buNone/>
                        <a:tabLst/>
                        <a:defRPr/>
                      </a:pPr>
                      <a:endParaRPr kumimoji="0" lang="en-GB" sz="700" b="0" i="0" u="none" strike="noStrike" kern="1200" cap="none" spc="0" normalizeH="0" baseline="0">
                        <a:ln>
                          <a:noFill/>
                        </a:ln>
                        <a:solidFill>
                          <a:schemeClr val="tx1">
                            <a:lumMod val="65000"/>
                            <a:lumOff val="35000"/>
                          </a:schemeClr>
                        </a:solidFill>
                        <a:effectLst/>
                        <a:uLnTx/>
                        <a:uFillTx/>
                        <a:latin typeface="Century Gothic"/>
                        <a:ea typeface="+mn-ea"/>
                        <a:cs typeface="Calibri"/>
                      </a:endParaRPr>
                    </a:p>
                    <a:p>
                      <a:pPr marL="171450" marR="0" lvl="0" indent="-171450" algn="l" rtl="0" eaLnBrk="0" fontAlgn="base" latinLnBrk="0" hangingPunct="0">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Ways of working adopted</a:t>
                      </a: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Sprint planning for S1</a:t>
                      </a: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Service design and UR - personas / user needs / users are progressing</a:t>
                      </a:r>
                      <a:endParaRPr lang="en-US" sz="700" b="0" i="0" u="none" strike="noStrike" kern="1200" cap="none" spc="0" normalizeH="0" baseline="0" noProof="0">
                        <a:ln>
                          <a:noFill/>
                        </a:ln>
                        <a:solidFill>
                          <a:srgbClr val="000000"/>
                        </a:solidFill>
                        <a:effectLst/>
                        <a:uLnTx/>
                        <a:uFillTx/>
                        <a:latin typeface="Century Gothic"/>
                      </a:endParaRP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UR interviews underway</a:t>
                      </a:r>
                      <a:endParaRPr lang="en-US" sz="700" b="0" i="0" u="none" strike="noStrike" kern="1200" cap="none" spc="0" normalizeH="0" baseline="0" noProof="0">
                        <a:ln>
                          <a:noFill/>
                        </a:ln>
                        <a:solidFill>
                          <a:srgbClr val="000000"/>
                        </a:solidFill>
                        <a:effectLst/>
                        <a:uLnTx/>
                        <a:uFillTx/>
                        <a:latin typeface="Century Gothic"/>
                      </a:endParaRP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Reviewed alpha UR outputs in preparation for Alpha phase</a:t>
                      </a:r>
                      <a:endParaRPr lang="en-US" sz="700" b="0" i="0" u="none" strike="noStrike" kern="1200" cap="none" spc="0" normalizeH="0" baseline="0" noProof="0">
                        <a:ln>
                          <a:noFill/>
                        </a:ln>
                        <a:solidFill>
                          <a:srgbClr val="000000"/>
                        </a:solidFill>
                        <a:effectLst/>
                        <a:uLnTx/>
                        <a:uFillTx/>
                        <a:latin typeface="Century Gothic"/>
                      </a:endParaRP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Business confirmation on direction of use case development </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ndParaRP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rPr>
                        <a:t>Drafting D05 /D06 ahead of submission 6th Feb</a:t>
                      </a: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kumimoji="0" lang="en-US" sz="700" b="0" i="0" u="none" strike="noStrike" kern="1200" cap="none" spc="0" normalizeH="0" baseline="0" noProof="0">
                          <a:ln>
                            <a:noFill/>
                          </a:ln>
                          <a:solidFill>
                            <a:schemeClr val="tx1">
                              <a:lumMod val="65000"/>
                              <a:lumOff val="35000"/>
                            </a:schemeClr>
                          </a:solidFill>
                          <a:effectLst/>
                          <a:uLnTx/>
                          <a:uFillTx/>
                          <a:latin typeface="Century Gothic"/>
                        </a:rPr>
                        <a:t>Engagement with DXC to discuss options for supporting the delivery</a:t>
                      </a: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kumimoji="0" lang="en-US" sz="700" b="0" i="0" u="none" strike="noStrike" kern="1200" cap="none" spc="0" normalizeH="0" baseline="0" noProof="0">
                          <a:ln>
                            <a:noFill/>
                          </a:ln>
                          <a:solidFill>
                            <a:schemeClr val="tx1">
                              <a:lumMod val="65000"/>
                              <a:lumOff val="35000"/>
                            </a:schemeClr>
                          </a:solidFill>
                          <a:effectLst/>
                          <a:uLnTx/>
                          <a:uFillTx/>
                          <a:latin typeface="Century Gothic"/>
                        </a:rPr>
                        <a:t>Note: 3 planned meetings with Accenture had to be cancelled due to Accenture’s delivery commitments.</a:t>
                      </a:r>
                    </a:p>
                    <a:p>
                      <a:pPr marL="171450" marR="0" lvl="0" indent="-171450" algn="l">
                        <a:lnSpc>
                          <a:spcPct val="100000"/>
                        </a:lnSpc>
                        <a:spcBef>
                          <a:spcPct val="0"/>
                        </a:spcBef>
                        <a:spcAft>
                          <a:spcPct val="10000"/>
                        </a:spcAft>
                        <a:buClr>
                          <a:srgbClr val="000000"/>
                        </a:buClr>
                        <a:buSzTx/>
                        <a:buFont typeface="Arial,Sans-Serif" panose="020B0604020202020204" pitchFamily="34" charset="0"/>
                        <a:buChar char="•"/>
                      </a:pPr>
                      <a:r>
                        <a:rPr kumimoji="0" lang="en-US" sz="700" b="0" i="0" u="none" strike="noStrike" kern="1200" cap="none" spc="0" normalizeH="0" baseline="0" noProof="0">
                          <a:ln>
                            <a:noFill/>
                          </a:ln>
                          <a:solidFill>
                            <a:schemeClr val="tx1">
                              <a:lumMod val="65000"/>
                              <a:lumOff val="35000"/>
                            </a:schemeClr>
                          </a:solidFill>
                          <a:effectLst/>
                          <a:uLnTx/>
                          <a:uFillTx/>
                          <a:latin typeface="Century Gothic"/>
                        </a:rPr>
                        <a:t>Roadmap for 26/27 AI investment and delivery issues to Raj/Nick for comment.</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endParaRPr lang="pl-PL" sz="800" u="none" strike="noStrike" cap="none" normalizeH="0" baseline="0">
                        <a:ln>
                          <a:noFill/>
                        </a:ln>
                        <a:solidFill>
                          <a:schemeClr val="tx1">
                            <a:lumMod val="65000"/>
                            <a:lumOff val="35000"/>
                          </a:schemeClr>
                        </a:solidFill>
                        <a:effectLst/>
                        <a:latin typeface="Century Gothic" panose="020B0502020202020204" pitchFamily="34" charset="0"/>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72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a:ln>
                            <a:noFill/>
                          </a:ln>
                          <a:solidFill>
                            <a:schemeClr val="bg1"/>
                          </a:solidFill>
                          <a:effectLst/>
                          <a:latin typeface="EYInterstate"/>
                        </a:rPr>
                        <a:t>C. KEY ACTIVITIES PLANNED NEXT </a:t>
                      </a:r>
                      <a:r>
                        <a:rPr lang="en-CA" sz="800" b="1" i="0" u="none" strike="noStrike" cap="none" normalizeH="0" baseline="0">
                          <a:ln>
                            <a:noFill/>
                          </a:ln>
                          <a:solidFill>
                            <a:schemeClr val="bg1"/>
                          </a:solidFill>
                          <a:effectLst/>
                          <a:latin typeface="EYInterstate"/>
                        </a:rPr>
                        <a:t>SPRINT</a:t>
                      </a:r>
                      <a:endParaRPr kumimoji="0" lang="en-CA" sz="800" b="1" i="0" u="none" strike="noStrike" cap="none" normalizeH="0" baseline="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2"/>
                  </a:ext>
                </a:extLst>
              </a:tr>
              <a:tr h="991720">
                <a:tc gridSpan="2">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Issue D05 / D06 </a:t>
                      </a: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Ongoing UR interviews and analysis </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Iterate</a:t>
                      </a:r>
                      <a:r>
                        <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 HL user journey map</a:t>
                      </a: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 in line with UR findings</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Request</a:t>
                      </a:r>
                      <a:r>
                        <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 for raw UR outputs</a:t>
                      </a: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 from CCHS alpha</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HLD and use case diagrams</a:t>
                      </a: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Define chunking strategy</a:t>
                      </a: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Define content extraction strategy</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Decide development language and framework</a:t>
                      </a:r>
                      <a:endParaRPr kumimoji="0"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171450" marR="0" lvl="0" indent="-171450" algn="l">
                        <a:lnSpc>
                          <a:spcPct val="100000"/>
                        </a:lnSpc>
                        <a:spcBef>
                          <a:spcPct val="0"/>
                        </a:spcBef>
                        <a:spcAft>
                          <a:spcPct val="10000"/>
                        </a:spcAft>
                        <a:buClrTx/>
                        <a:buSzTx/>
                        <a:buFont typeface="Arial" panose="020B0604020202020204" pitchFamily="34" charset="0"/>
                        <a:buChar char="•"/>
                      </a:pPr>
                      <a:r>
                        <a:rPr lang="en-US"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Build ANTS code locally</a:t>
                      </a: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endParaRPr lang="pl-PL" sz="8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72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a:ln>
                            <a:noFill/>
                          </a:ln>
                          <a:solidFill>
                            <a:schemeClr val="bg1"/>
                          </a:solidFill>
                          <a:effectLst/>
                          <a:latin typeface="EYInterstate"/>
                        </a:rPr>
                        <a:t>D.  KEY ISSUES REQUIRING MANAGEMENT ATTENTION / AWARENESS</a:t>
                      </a:r>
                      <a:endParaRPr kumimoji="0" lang="en-US" sz="800" b="1" i="0" u="none" strike="noStrike" cap="none" normalizeH="0" baseline="0">
                        <a:ln>
                          <a:noFill/>
                        </a:ln>
                        <a:solidFill>
                          <a:schemeClr val="bg1"/>
                        </a:solidFill>
                        <a:effectLst/>
                        <a:latin typeface="EYInterstate"/>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71680">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a:ln>
                            <a:noFill/>
                          </a:ln>
                          <a:solidFill>
                            <a:schemeClr val="bg2"/>
                          </a:solidFill>
                          <a:effectLst/>
                          <a:latin typeface="EYInterstate Light"/>
                          <a:ea typeface="+mn-ea"/>
                          <a:cs typeface="+mn-cs"/>
                        </a:rPr>
                        <a:t>ATTENTION (HELP NEEDED)</a:t>
                      </a:r>
                      <a:endParaRPr kumimoji="0" lang="en-US" sz="800" b="1" i="0" u="none" strike="noStrike" kern="1200" cap="none" normalizeH="0" baseline="0">
                        <a:ln>
                          <a:noFill/>
                        </a:ln>
                        <a:solidFill>
                          <a:schemeClr val="bg2"/>
                        </a:solidFill>
                        <a:effectLst/>
                        <a:latin typeface="EYInterstate Light"/>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a:ln>
                            <a:noFill/>
                          </a:ln>
                          <a:solidFill>
                            <a:schemeClr val="bg2"/>
                          </a:solidFill>
                          <a:effectLst/>
                          <a:latin typeface="EYInterstate Light" pitchFamily="2" charset="0"/>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97659">
                <a:tc>
                  <a:txBody>
                    <a:bodyPr/>
                    <a:lstStyle/>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RO access to the AWS account where the bedrock models for ANTS are running for Tom R</a:t>
                      </a:r>
                    </a:p>
                    <a:p>
                      <a:pPr marL="171450" marR="0" lvl="0" indent="-171450" algn="l" rtl="0" eaLnBrk="0" fontAlgn="base" latinLnBrk="0" hangingPunct="0">
                        <a:lnSpc>
                          <a:spcPct val="100000"/>
                        </a:lnSpc>
                        <a:spcBef>
                          <a:spcPct val="0"/>
                        </a:spcBef>
                        <a:spcAft>
                          <a:spcPct val="10000"/>
                        </a:spcAft>
                        <a:buClrTx/>
                        <a:buSzTx/>
                        <a:buFont typeface="Arial" panose="020B0604020202020204" pitchFamily="34" charset="0"/>
                        <a:buChar char="•"/>
                      </a:pPr>
                      <a:r>
                        <a:rPr kumimoji="0"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VDI desktops issued include no developer tools. Support would be appreciated in expediting access to the relevant developer and data science toolchain.</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-We may need our developers to be issued a UKHSA laptop to access ANTS – this is being investigated</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9CFD6319-17E2-20C4-51F0-4F1B80B2018C}"/>
              </a:ext>
            </a:extLst>
          </p:cNvPr>
          <p:cNvGraphicFramePr>
            <a:graphicFrameLocks noGrp="1"/>
          </p:cNvGraphicFramePr>
          <p:nvPr/>
        </p:nvGraphicFramePr>
        <p:xfrm>
          <a:off x="490918" y="566008"/>
          <a:ext cx="4898205" cy="1943858"/>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9021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a:ln>
                            <a:noFill/>
                          </a:ln>
                          <a:effectLst/>
                        </a:rPr>
                        <a:t>A.  </a:t>
                      </a:r>
                      <a:r>
                        <a:rPr kumimoji="0" lang="en-GB" sz="800" u="none" strike="noStrike" cap="none" normalizeH="0" baseline="0">
                          <a:ln>
                            <a:noFill/>
                          </a:ln>
                          <a:effectLst/>
                        </a:rPr>
                        <a:t>EXECUTIVE SUMMARY</a:t>
                      </a:r>
                      <a:endParaRPr kumimoji="0" lang="en-US" sz="800" b="1" i="0" u="none" strike="noStrike" cap="none" normalizeH="0" baseline="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753641">
                <a:tc>
                  <a:txBody>
                    <a:bodyPr/>
                    <a:lstStyle/>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A success in the project delivery has been securing agreement on the use case problem statement and conceptual solution, in response to the copyright issue that surfaced at the beginning of the week, presenting significant risk to the previously proposed Evidence Gap Mapping Use Case. </a:t>
                      </a:r>
                    </a:p>
                    <a:p>
                      <a:pPr marL="0" marR="0" lvl="0" indent="0" algn="l" rtl="0" eaLnBrk="0" fontAlgn="base" latinLnBrk="0" hangingPunct="0">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With the use case now fully agreed the team is on track to commence Alpha phase on Monday 02 February. User research is underway, to crystalise the user needs and Alpha hypotheses. UR activities will continue with business users and stakeholders through the coming Alpha phase.</a:t>
                      </a:r>
                    </a:p>
                    <a:p>
                      <a:pPr marL="0" marR="0" lvl="0" indent="0" algn="l">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The ways of working have been agreed by the team, including Zalaya and a full member of the multidisciplinary team. Informed will l be rescheduling our internal calls and bringing the CCHS business users closer into the team to provide support and maintain engagement and clarity through delivery.</a:t>
                      </a:r>
                    </a:p>
                    <a:p>
                      <a:pPr marL="0" marR="0" lvl="0" indent="0" algn="l">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p>
                      <a:pPr marL="0" marR="0" lvl="0" indent="0" algn="l">
                        <a:lnSpc>
                          <a:spcPct val="100000"/>
                        </a:lnSpc>
                        <a:spcBef>
                          <a:spcPct val="0"/>
                        </a:spcBef>
                        <a:spcAft>
                          <a:spcPct val="10000"/>
                        </a:spcAft>
                        <a:buClrTx/>
                        <a:buSzTx/>
                        <a:buFont typeface="Arial" panose="020B0604020202020204" pitchFamily="34" charset="0"/>
                        <a:buNone/>
                      </a:pPr>
                      <a:r>
                        <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rPr>
                        <a:t>DXC has expressed an interest in pursuing the Global News Bot Use case as a separate sub-squad in parallel with the above use case. DXC are currently proposing their approach and assembling a delivery team.</a:t>
                      </a:r>
                    </a:p>
                    <a:p>
                      <a:pPr marL="0" marR="0" lvl="0" indent="0" algn="l">
                        <a:lnSpc>
                          <a:spcPct val="100000"/>
                        </a:lnSpc>
                        <a:spcBef>
                          <a:spcPct val="0"/>
                        </a:spcBef>
                        <a:spcAft>
                          <a:spcPct val="10000"/>
                        </a:spcAft>
                        <a:buClrTx/>
                        <a:buSzTx/>
                        <a:buFont typeface="Arial" panose="020B0604020202020204" pitchFamily="34" charset="0"/>
                        <a:buNone/>
                      </a:pPr>
                      <a:endParaRPr lang="en-GB" sz="700" b="0" i="0" u="none" strike="noStrike" kern="1200" cap="none" spc="0" normalizeH="0" baseline="0" noProof="0">
                        <a:ln>
                          <a:noFill/>
                        </a:ln>
                        <a:solidFill>
                          <a:schemeClr val="tx1">
                            <a:lumMod val="65000"/>
                            <a:lumOff val="35000"/>
                          </a:schemeClr>
                        </a:solidFill>
                        <a:effectLst/>
                        <a:uLnTx/>
                        <a:uFillTx/>
                        <a:latin typeface="Century Gothic"/>
                        <a:ea typeface="+mn-ea"/>
                        <a:cs typeface="Calibri"/>
                      </a:endParaRPr>
                    </a:p>
                  </a:txBody>
                  <a:tcPr marL="33146" marR="33146" marT="14365" marB="14365"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CFF9D900-D6D0-ED6E-501E-93E92515E7B9}"/>
              </a:ext>
            </a:extLst>
          </p:cNvPr>
          <p:cNvGraphicFramePr>
            <a:graphicFrameLocks noGrp="1"/>
          </p:cNvGraphicFramePr>
          <p:nvPr/>
        </p:nvGraphicFramePr>
        <p:xfrm>
          <a:off x="5531796" y="946905"/>
          <a:ext cx="6341580" cy="2873368"/>
        </p:xfrm>
        <a:graphic>
          <a:graphicData uri="http://schemas.openxmlformats.org/drawingml/2006/table">
            <a:tbl>
              <a:tblPr firstRow="1">
                <a:tableStyleId>{7E9639D4-E3E2-4D34-9284-5A2195B3D0D7}</a:tableStyleId>
              </a:tblPr>
              <a:tblGrid>
                <a:gridCol w="423043">
                  <a:extLst>
                    <a:ext uri="{9D8B030D-6E8A-4147-A177-3AD203B41FA5}">
                      <a16:colId xmlns:a16="http://schemas.microsoft.com/office/drawing/2014/main" val="4205414778"/>
                    </a:ext>
                  </a:extLst>
                </a:gridCol>
                <a:gridCol w="2560467">
                  <a:extLst>
                    <a:ext uri="{9D8B030D-6E8A-4147-A177-3AD203B41FA5}">
                      <a16:colId xmlns:a16="http://schemas.microsoft.com/office/drawing/2014/main" val="20000"/>
                    </a:ext>
                  </a:extLst>
                </a:gridCol>
                <a:gridCol w="667948">
                  <a:extLst>
                    <a:ext uri="{9D8B030D-6E8A-4147-A177-3AD203B41FA5}">
                      <a16:colId xmlns:a16="http://schemas.microsoft.com/office/drawing/2014/main" val="20001"/>
                    </a:ext>
                  </a:extLst>
                </a:gridCol>
                <a:gridCol w="667948">
                  <a:extLst>
                    <a:ext uri="{9D8B030D-6E8A-4147-A177-3AD203B41FA5}">
                      <a16:colId xmlns:a16="http://schemas.microsoft.com/office/drawing/2014/main" val="3492732595"/>
                    </a:ext>
                  </a:extLst>
                </a:gridCol>
                <a:gridCol w="325804">
                  <a:extLst>
                    <a:ext uri="{9D8B030D-6E8A-4147-A177-3AD203B41FA5}">
                      <a16:colId xmlns:a16="http://schemas.microsoft.com/office/drawing/2014/main" val="20004"/>
                    </a:ext>
                  </a:extLst>
                </a:gridCol>
                <a:gridCol w="194580">
                  <a:extLst>
                    <a:ext uri="{9D8B030D-6E8A-4147-A177-3AD203B41FA5}">
                      <a16:colId xmlns:a16="http://schemas.microsoft.com/office/drawing/2014/main" val="20005"/>
                    </a:ext>
                  </a:extLst>
                </a:gridCol>
                <a:gridCol w="1501790">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a:ln>
                            <a:noFill/>
                          </a:ln>
                          <a:effectLst/>
                        </a:rPr>
                        <a:t>E. KEY MILESTONES (DUE FOR THE CURRENT AND NEXT PERIOD + OVERDUE + AT RISK)</a:t>
                      </a:r>
                      <a:endParaRPr kumimoji="0" lang="en-GB" sz="800" b="0" i="0" u="none" strike="noStrike" kern="1200" cap="none" normalizeH="0" baseline="0" noProof="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Milestone Name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Plan Date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a:ln>
                            <a:noFill/>
                          </a:ln>
                          <a:solidFill>
                            <a:schemeClr val="bg2"/>
                          </a:solidFill>
                          <a:effectLst/>
                          <a:latin typeface="EYInterstate Light"/>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LP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CP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Roadmap and business case development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O6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6335985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a:ea typeface="+mn-ea"/>
                          <a:cs typeface="Calibri"/>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6354015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Readiness Assessment – Final review and handover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6357159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37417056"/>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92643123"/>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96210375"/>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7895744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lang="en-GB" sz="700" u="none" strike="noStrike" kern="1200" cap="none" normalizeH="0" baseline="0" noProof="0">
                          <a:ln>
                            <a:noFill/>
                          </a:ln>
                          <a:solidFill>
                            <a:schemeClr val="tx1"/>
                          </a:solidFill>
                          <a:effectLst/>
                          <a:latin typeface="Century Gothic"/>
                          <a:ea typeface="+mn-ea"/>
                          <a:cs typeface="Calibri"/>
                        </a:rPr>
                        <a:t>G</a:t>
                      </a:r>
                      <a:endParaRPr kumimoji="0" lang="en-GB" sz="700" u="none" strike="noStrike" kern="1200" cap="none" normalizeH="0" baseline="0" noProof="0">
                        <a:ln>
                          <a:noFill/>
                        </a:ln>
                        <a:solidFill>
                          <a:schemeClr val="tx1"/>
                        </a:solidFill>
                        <a:effectLst/>
                        <a:latin typeface="Century Gothic"/>
                        <a:ea typeface="+mn-ea"/>
                        <a:cs typeface="Calibri"/>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49242639"/>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8678984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0B8590EF-CC4A-AE8E-5263-0B43A8F7D618}"/>
              </a:ext>
            </a:extLst>
          </p:cNvPr>
          <p:cNvGraphicFramePr>
            <a:graphicFrameLocks noGrp="1"/>
          </p:cNvGraphicFramePr>
          <p:nvPr/>
        </p:nvGraphicFramePr>
        <p:xfrm>
          <a:off x="5531796" y="3950613"/>
          <a:ext cx="6423420" cy="2645248"/>
        </p:xfrm>
        <a:graphic>
          <a:graphicData uri="http://schemas.openxmlformats.org/drawingml/2006/table">
            <a:tbl>
              <a:tblPr firstRow="1" bandRow="1" bandCol="1">
                <a:tableStyleId>{7E9639D4-E3E2-4D34-9284-5A2195B3D0D7}</a:tableStyleId>
              </a:tblPr>
              <a:tblGrid>
                <a:gridCol w="402713">
                  <a:extLst>
                    <a:ext uri="{9D8B030D-6E8A-4147-A177-3AD203B41FA5}">
                      <a16:colId xmlns:a16="http://schemas.microsoft.com/office/drawing/2014/main" val="2199885390"/>
                    </a:ext>
                  </a:extLst>
                </a:gridCol>
                <a:gridCol w="2872265">
                  <a:extLst>
                    <a:ext uri="{9D8B030D-6E8A-4147-A177-3AD203B41FA5}">
                      <a16:colId xmlns:a16="http://schemas.microsoft.com/office/drawing/2014/main" val="1148451240"/>
                    </a:ext>
                  </a:extLst>
                </a:gridCol>
                <a:gridCol w="2230877">
                  <a:extLst>
                    <a:ext uri="{9D8B030D-6E8A-4147-A177-3AD203B41FA5}">
                      <a16:colId xmlns:a16="http://schemas.microsoft.com/office/drawing/2014/main" val="20001"/>
                    </a:ext>
                  </a:extLst>
                </a:gridCol>
                <a:gridCol w="278860">
                  <a:extLst>
                    <a:ext uri="{9D8B030D-6E8A-4147-A177-3AD203B41FA5}">
                      <a16:colId xmlns:a16="http://schemas.microsoft.com/office/drawing/2014/main" val="554533402"/>
                    </a:ext>
                  </a:extLst>
                </a:gridCol>
                <a:gridCol w="278860">
                  <a:extLst>
                    <a:ext uri="{9D8B030D-6E8A-4147-A177-3AD203B41FA5}">
                      <a16:colId xmlns:a16="http://schemas.microsoft.com/office/drawing/2014/main" val="1614259304"/>
                    </a:ext>
                  </a:extLst>
                </a:gridCol>
                <a:gridCol w="359845">
                  <a:extLst>
                    <a:ext uri="{9D8B030D-6E8A-4147-A177-3AD203B41FA5}">
                      <a16:colId xmlns:a16="http://schemas.microsoft.com/office/drawing/2014/main" val="1695019054"/>
                    </a:ext>
                  </a:extLst>
                </a:gridCol>
              </a:tblGrid>
              <a:tr h="123472">
                <a:tc gridSpan="5">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solidFill>
                      <a:prstDash val="solid"/>
                      <a:round/>
                      <a:headEnd type="none" w="med" len="med"/>
                      <a:tailEnd type="none" w="med" len="med"/>
                    </a:lnL>
                  </a:tcPr>
                </a:tc>
                <a:tc hMerge="1">
                  <a:txBody>
                    <a:bodyPr/>
                    <a:lstStyle/>
                    <a:p>
                      <a:endParaRPr lang="en-GB"/>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23472">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LS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255991">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UKHSA-AIR-RIS-05</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that the private beta use case may stall</a:t>
                      </a:r>
                    </a:p>
                    <a:p>
                      <a:pPr algn="l">
                        <a:buNone/>
                      </a:pPr>
                      <a:r>
                        <a:rPr lang="en-GB" sz="800" b="1" i="0">
                          <a:solidFill>
                            <a:srgbClr val="000000"/>
                          </a:solidFill>
                          <a:effectLst/>
                          <a:latin typeface="Arial"/>
                        </a:rPr>
                        <a:t>As a result of</a:t>
                      </a:r>
                      <a:r>
                        <a:rPr lang="en-GB" sz="800" b="0" i="0">
                          <a:solidFill>
                            <a:srgbClr val="000000"/>
                          </a:solidFill>
                          <a:effectLst/>
                          <a:latin typeface="Arial"/>
                        </a:rPr>
                        <a:t>: budget availability and lack of commercial vehicle to complete the work.</a:t>
                      </a:r>
                    </a:p>
                    <a:p>
                      <a:pPr algn="l">
                        <a:buNone/>
                      </a:pPr>
                      <a:r>
                        <a:rPr lang="en-GB" sz="800" b="1" i="0">
                          <a:solidFill>
                            <a:srgbClr val="000000"/>
                          </a:solidFill>
                          <a:effectLst/>
                          <a:latin typeface="Arial"/>
                        </a:rPr>
                        <a:t>Will lead to</a:t>
                      </a:r>
                      <a:r>
                        <a:rPr lang="en-GB" sz="800" b="0" i="0">
                          <a:solidFill>
                            <a:srgbClr val="000000"/>
                          </a:solidFill>
                          <a:effectLst/>
                          <a:latin typeface="Arial"/>
                        </a:rPr>
                        <a:t>: loss of momentum, missed benefits and additional work to deliver later.</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a:t>Begin joint planning for post-March activities as early as possible, including business case, resource requirements, timelines, and ownership. Establish a clear roadmap for private beta, public beta, and operationalisation.</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a:ea typeface="+mn-ea"/>
                          <a:cs typeface="Calibri"/>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51789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Additional budget may be required, requested and approved.</a:t>
                      </a:r>
                    </a:p>
                    <a:p>
                      <a:pPr algn="l">
                        <a:buNone/>
                      </a:pPr>
                      <a:r>
                        <a:rPr lang="en-GB" sz="800" b="1" i="0">
                          <a:solidFill>
                            <a:srgbClr val="000000"/>
                          </a:solidFill>
                          <a:effectLst/>
                          <a:latin typeface="Arial"/>
                        </a:rPr>
                        <a:t>As a result of:</a:t>
                      </a:r>
                      <a:r>
                        <a:rPr lang="en-GB" sz="800" b="0" i="0">
                          <a:solidFill>
                            <a:srgbClr val="000000"/>
                          </a:solidFill>
                          <a:effectLst/>
                          <a:latin typeface="Arial"/>
                        </a:rPr>
                        <a:t> incurred cloud hosting and computing costs for deployment of the Private Beta solution</a:t>
                      </a:r>
                    </a:p>
                    <a:p>
                      <a:pPr algn="l">
                        <a:buNone/>
                      </a:pPr>
                      <a:r>
                        <a:rPr lang="en-GB" sz="800" b="1" i="0">
                          <a:solidFill>
                            <a:srgbClr val="000000"/>
                          </a:solidFill>
                          <a:effectLst/>
                          <a:latin typeface="Arial"/>
                        </a:rPr>
                        <a:t>Will lead to:</a:t>
                      </a:r>
                      <a:r>
                        <a:rPr lang="en-GB" sz="800" b="0" i="0">
                          <a:solidFill>
                            <a:srgbClr val="000000"/>
                          </a:solidFill>
                          <a:effectLst/>
                          <a:latin typeface="Arial"/>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a:solidFill>
                            <a:srgbClr val="000000"/>
                          </a:solidFill>
                          <a:effectLst/>
                          <a:latin typeface="Arial"/>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a:ln>
                          <a:noFill/>
                        </a:ln>
                        <a:solidFill>
                          <a:schemeClr val="tx1">
                            <a:lumMod val="65000"/>
                            <a:lumOff val="35000"/>
                          </a:schemeClr>
                        </a:solidFill>
                        <a:effectLst/>
                        <a:latin typeface="Arial"/>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a:ea typeface="+mn-ea"/>
                          <a:cs typeface="Calibri"/>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517896">
                <a:tc>
                  <a:txBody>
                    <a:bodyPr/>
                    <a:lstStyle/>
                    <a:p>
                      <a:pPr marL="0" marR="0" lvl="0" indent="0" algn="ctr" rtl="0">
                        <a:lnSpc>
                          <a:spcPct val="100000"/>
                        </a:lnSpc>
                        <a:spcBef>
                          <a:spcPct val="0"/>
                        </a:spcBef>
                        <a:spcAft>
                          <a:spcPct val="10000"/>
                        </a:spcAft>
                        <a:buClrTx/>
                        <a:buSzTx/>
                        <a:buFontTx/>
                        <a:buNone/>
                      </a:pPr>
                      <a:r>
                        <a:rPr lang="en-GB" sz="700" u="none" strike="noStrike" kern="1200" cap="none" normalizeH="0" baseline="0" noProof="0">
                          <a:ln>
                            <a:noFill/>
                          </a:ln>
                          <a:solidFill>
                            <a:schemeClr val="tx1"/>
                          </a:solidFill>
                          <a:effectLst/>
                          <a:latin typeface="Century Gothic"/>
                          <a:ea typeface="+mn-ea"/>
                          <a:cs typeface="Calibri"/>
                        </a:rPr>
                        <a:t>UKHSA-AIR-RIS-18</a:t>
                      </a:r>
                      <a:endParaRPr kumimoji="0" lang="en-GB" sz="700" u="none" strike="noStrike" kern="1200" cap="none" normalizeH="0" baseline="0" noProof="0">
                        <a:ln>
                          <a:noFill/>
                        </a:ln>
                        <a:solidFill>
                          <a:schemeClr val="tx1"/>
                        </a:solidFill>
                        <a:effectLst/>
                        <a:latin typeface="Century Gothic"/>
                        <a:ea typeface="+mn-ea"/>
                        <a:cs typeface="Calibri"/>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There is a risk</a:t>
                      </a:r>
                      <a:r>
                        <a:rPr lang="en-GB" sz="800" b="0" i="0" u="none" strike="noStrike" kern="1200" cap="none" normalizeH="0" baseline="0" noProof="0">
                          <a:ln>
                            <a:noFill/>
                          </a:ln>
                          <a:solidFill>
                            <a:srgbClr val="000000"/>
                          </a:solidFill>
                          <a:effectLst/>
                          <a:highlight>
                            <a:srgbClr val="FFFFFF"/>
                          </a:highlight>
                          <a:latin typeface="Arial"/>
                        </a:rPr>
                        <a:t>: Use of any AI related technology breaches UKHSA licence agreement with the CLA on copyright</a:t>
                      </a:r>
                      <a:endParaRPr lang="en-US" sz="800"/>
                    </a:p>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As a result of</a:t>
                      </a:r>
                      <a:r>
                        <a:rPr lang="en-GB" sz="800" b="0" i="0" u="none" strike="noStrike" kern="1200" cap="none" normalizeH="0" baseline="0" noProof="0">
                          <a:ln>
                            <a:noFill/>
                          </a:ln>
                          <a:solidFill>
                            <a:srgbClr val="000000"/>
                          </a:solidFill>
                          <a:effectLst/>
                          <a:highlight>
                            <a:srgbClr val="FFFFFF"/>
                          </a:highlight>
                          <a:latin typeface="Arial"/>
                        </a:rPr>
                        <a:t>: UHKSA being bound by NHS licence agreement.</a:t>
                      </a:r>
                      <a:endParaRPr lang="en-GB" sz="800"/>
                    </a:p>
                    <a:p>
                      <a:pPr lvl="0" algn="l">
                        <a:lnSpc>
                          <a:spcPct val="100000"/>
                        </a:lnSpc>
                        <a:spcBef>
                          <a:spcPts val="0"/>
                        </a:spcBef>
                        <a:spcAft>
                          <a:spcPts val="0"/>
                        </a:spcAft>
                        <a:buNone/>
                      </a:pPr>
                      <a:r>
                        <a:rPr lang="en-GB" sz="800" b="1" i="0" u="none" strike="noStrike" kern="1200" cap="none" normalizeH="0" baseline="0" noProof="0">
                          <a:ln>
                            <a:noFill/>
                          </a:ln>
                          <a:solidFill>
                            <a:srgbClr val="000000"/>
                          </a:solidFill>
                          <a:effectLst/>
                          <a:highlight>
                            <a:srgbClr val="FFFFFF"/>
                          </a:highlight>
                          <a:latin typeface="Arial"/>
                        </a:rPr>
                        <a:t>Will lead to</a:t>
                      </a:r>
                      <a:r>
                        <a:rPr lang="en-GB" sz="800" b="0" i="0" u="none" strike="noStrike" kern="1200" cap="none" normalizeH="0" baseline="0" noProof="0">
                          <a:ln>
                            <a:noFill/>
                          </a:ln>
                          <a:solidFill>
                            <a:srgbClr val="000000"/>
                          </a:solidFill>
                          <a:effectLst/>
                          <a:highlight>
                            <a:srgbClr val="FFFFFF"/>
                          </a:highlight>
                          <a:latin typeface="Arial"/>
                        </a:rPr>
                        <a:t>: Prohibition of use of AI technology for non generative non training applications</a:t>
                      </a:r>
                      <a:endParaRPr lang="en-GB" sz="800"/>
                    </a:p>
                    <a:p>
                      <a:pPr marL="0" marR="0" lvl="0" indent="0" algn="l" defTabSz="947738">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a:ea typeface="+mn-ea"/>
                        <a:cs typeface="Calibri"/>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a:lnSpc>
                          <a:spcPct val="100000"/>
                        </a:lnSpc>
                        <a:spcBef>
                          <a:spcPct val="0"/>
                        </a:spcBef>
                        <a:spcAft>
                          <a:spcPct val="10000"/>
                        </a:spcAft>
                        <a:buNone/>
                      </a:pPr>
                      <a:r>
                        <a:rPr lang="en-GB" sz="800" b="0" i="0" u="none" strike="noStrike" kern="1200" cap="none" normalizeH="0" baseline="0" noProof="0">
                          <a:ln>
                            <a:noFill/>
                          </a:ln>
                          <a:solidFill>
                            <a:srgbClr val="000000"/>
                          </a:solidFill>
                          <a:effectLst/>
                          <a:highlight>
                            <a:srgbClr val="FFFFFF"/>
                          </a:highlight>
                          <a:latin typeface="Arial"/>
                        </a:rPr>
                        <a:t>We have isolated a solution that we believe is compliant with the licence </a:t>
                      </a:r>
                      <a:r>
                        <a:rPr lang="en-GB" sz="800" b="0" i="0" u="none" strike="noStrike" kern="1200" cap="none" normalizeH="0" baseline="0" noProof="0">
                          <a:ln>
                            <a:noFill/>
                          </a:ln>
                          <a:solidFill>
                            <a:srgbClr val="000000"/>
                          </a:solidFill>
                          <a:effectLst/>
                          <a:latin typeface="Arial"/>
                        </a:rPr>
                        <a:t>agreement, and this will be played back to the business in the </a:t>
                      </a:r>
                      <a:r>
                        <a:rPr lang="en-GB" sz="800" b="0" i="0" u="none" strike="noStrike" kern="1200" cap="none" normalizeH="0" baseline="0" noProof="0">
                          <a:ln>
                            <a:noFill/>
                          </a:ln>
                          <a:solidFill>
                            <a:srgbClr val="000000"/>
                          </a:solidFill>
                          <a:effectLst/>
                          <a:highlight>
                            <a:srgbClr val="FFFFFF"/>
                          </a:highlight>
                          <a:latin typeface="Arial"/>
                        </a:rPr>
                        <a:t>steering group for acceptance. UKHSA to provide a legal interpretation of the licence terms to confirm compliance of the selected use case.</a:t>
                      </a:r>
                      <a:endParaRPr kumimoji="0" lang="en-US" sz="800"/>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6BE16D2D-AE09-A56D-C0F5-9D9F15A1BD58}"/>
              </a:ext>
            </a:extLst>
          </p:cNvPr>
          <p:cNvSpPr txBox="1"/>
          <p:nvPr/>
        </p:nvSpPr>
        <p:spPr>
          <a:xfrm>
            <a:off x="5703431" y="6506936"/>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31158623-32CF-1C13-C7E1-5AFCD4FE7293}"/>
              </a:ext>
            </a:extLst>
          </p:cNvPr>
          <p:cNvGraphicFramePr>
            <a:graphicFrameLocks noGrp="1"/>
          </p:cNvGraphicFramePr>
          <p:nvPr/>
        </p:nvGraphicFramePr>
        <p:xfrm>
          <a:off x="5531796" y="566007"/>
          <a:ext cx="6423393" cy="365760"/>
        </p:xfrm>
        <a:graphic>
          <a:graphicData uri="http://schemas.openxmlformats.org/drawingml/2006/table">
            <a:tbl>
              <a:tblPr firstRow="1" bandRow="1">
                <a:tableStyleId>{5C22544A-7EE6-4342-B048-85BDC9FD1C3A}</a:tableStyleId>
              </a:tblPr>
              <a:tblGrid>
                <a:gridCol w="462778">
                  <a:extLst>
                    <a:ext uri="{9D8B030D-6E8A-4147-A177-3AD203B41FA5}">
                      <a16:colId xmlns:a16="http://schemas.microsoft.com/office/drawing/2014/main" val="673553765"/>
                    </a:ext>
                  </a:extLst>
                </a:gridCol>
                <a:gridCol w="462778">
                  <a:extLst>
                    <a:ext uri="{9D8B030D-6E8A-4147-A177-3AD203B41FA5}">
                      <a16:colId xmlns:a16="http://schemas.microsoft.com/office/drawing/2014/main" val="4211759447"/>
                    </a:ext>
                  </a:extLst>
                </a:gridCol>
                <a:gridCol w="462778">
                  <a:extLst>
                    <a:ext uri="{9D8B030D-6E8A-4147-A177-3AD203B41FA5}">
                      <a16:colId xmlns:a16="http://schemas.microsoft.com/office/drawing/2014/main" val="703617760"/>
                    </a:ext>
                  </a:extLst>
                </a:gridCol>
                <a:gridCol w="462778">
                  <a:extLst>
                    <a:ext uri="{9D8B030D-6E8A-4147-A177-3AD203B41FA5}">
                      <a16:colId xmlns:a16="http://schemas.microsoft.com/office/drawing/2014/main" val="3424114508"/>
                    </a:ext>
                  </a:extLst>
                </a:gridCol>
                <a:gridCol w="469340">
                  <a:extLst>
                    <a:ext uri="{9D8B030D-6E8A-4147-A177-3AD203B41FA5}">
                      <a16:colId xmlns:a16="http://schemas.microsoft.com/office/drawing/2014/main" val="3100067570"/>
                    </a:ext>
                  </a:extLst>
                </a:gridCol>
                <a:gridCol w="469340">
                  <a:extLst>
                    <a:ext uri="{9D8B030D-6E8A-4147-A177-3AD203B41FA5}">
                      <a16:colId xmlns:a16="http://schemas.microsoft.com/office/drawing/2014/main" val="3430054372"/>
                    </a:ext>
                  </a:extLst>
                </a:gridCol>
                <a:gridCol w="582890">
                  <a:extLst>
                    <a:ext uri="{9D8B030D-6E8A-4147-A177-3AD203B41FA5}">
                      <a16:colId xmlns:a16="http://schemas.microsoft.com/office/drawing/2014/main" val="2599263965"/>
                    </a:ext>
                  </a:extLst>
                </a:gridCol>
                <a:gridCol w="582890">
                  <a:extLst>
                    <a:ext uri="{9D8B030D-6E8A-4147-A177-3AD203B41FA5}">
                      <a16:colId xmlns:a16="http://schemas.microsoft.com/office/drawing/2014/main" val="1936607128"/>
                    </a:ext>
                  </a:extLst>
                </a:gridCol>
                <a:gridCol w="582890">
                  <a:extLst>
                    <a:ext uri="{9D8B030D-6E8A-4147-A177-3AD203B41FA5}">
                      <a16:colId xmlns:a16="http://schemas.microsoft.com/office/drawing/2014/main" val="681041266"/>
                    </a:ext>
                  </a:extLst>
                </a:gridCol>
                <a:gridCol w="719151">
                  <a:extLst>
                    <a:ext uri="{9D8B030D-6E8A-4147-A177-3AD203B41FA5}">
                      <a16:colId xmlns:a16="http://schemas.microsoft.com/office/drawing/2014/main" val="3887832098"/>
                    </a:ext>
                  </a:extLst>
                </a:gridCol>
                <a:gridCol w="590460">
                  <a:extLst>
                    <a:ext uri="{9D8B030D-6E8A-4147-A177-3AD203B41FA5}">
                      <a16:colId xmlns:a16="http://schemas.microsoft.com/office/drawing/2014/main" val="4211782468"/>
                    </a:ext>
                  </a:extLst>
                </a:gridCol>
                <a:gridCol w="575320">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a:solidFill>
                            <a:schemeClr val="lt1"/>
                          </a:solidFill>
                          <a:latin typeface="Aptos"/>
                          <a:ea typeface="+mn-ea"/>
                          <a:cs typeface="+mn-cs"/>
                        </a:rPr>
                        <a:t>Time</a:t>
                      </a:r>
                      <a:r>
                        <a:rPr lang="en-GB" sz="900">
                          <a:latin typeface="Aptos"/>
                        </a:rPr>
                        <a: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a:latin typeface="Aptos" panose="020B0004020202020204" pitchFamily="34" charset="0"/>
                        </a:rPr>
                        <a:t>Dependencies</a:t>
                      </a:r>
                      <a:r>
                        <a:rPr lang="en-GB" sz="900">
                          <a:latin typeface="Aptos" panose="020B0004020202020204" pitchFamily="34" charset="0"/>
                        </a:rPr>
                        <a:t> </a:t>
                      </a:r>
                    </a:p>
                  </a:txBody>
                  <a:tcPr anchor="ctr">
                    <a:solidFill>
                      <a:srgbClr val="92D050"/>
                    </a:solidFill>
                  </a:tcPr>
                </a:tc>
                <a:tc>
                  <a:txBody>
                    <a:bodyPr/>
                    <a:lstStyle/>
                    <a:p>
                      <a:pPr algn="ctr"/>
                      <a:r>
                        <a:rPr lang="en-GB" sz="900">
                          <a:latin typeface="Aptos" panose="020B0004020202020204" pitchFamily="34" charset="0"/>
                        </a:rPr>
                        <a:t>Benefits </a:t>
                      </a:r>
                    </a:p>
                  </a:txBody>
                  <a:tcPr anchor="ctr">
                    <a:solidFill>
                      <a:srgbClr val="92D050"/>
                    </a:solidFill>
                  </a:tcPr>
                </a:tc>
                <a:tc>
                  <a:txBody>
                    <a:bodyPr/>
                    <a:lstStyle/>
                    <a:p>
                      <a:pPr algn="ctr"/>
                      <a:r>
                        <a:rPr lang="en-GB" sz="900">
                          <a:latin typeface="Aptos" panose="020B0004020202020204" pitchFamily="34" charset="0"/>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2714721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E96E-3B7E-506A-F6D1-80E41F49CA2B}"/>
            </a:ext>
          </a:extLst>
        </p:cNvPr>
        <p:cNvGrpSpPr/>
        <p:nvPr/>
      </p:nvGrpSpPr>
      <p:grpSpPr>
        <a:xfrm>
          <a:off x="0" y="0"/>
          <a:ext cx="0" cy="0"/>
          <a:chOff x="0" y="0"/>
          <a:chExt cx="0" cy="0"/>
        </a:xfrm>
      </p:grpSpPr>
      <p:sp>
        <p:nvSpPr>
          <p:cNvPr id="6" name="Footer Placeholder 3">
            <a:extLst>
              <a:ext uri="{FF2B5EF4-FFF2-40B4-BE49-F238E27FC236}">
                <a16:creationId xmlns:a16="http://schemas.microsoft.com/office/drawing/2014/main" id="{F7FEF5D3-16CA-9F5A-1150-DE9EC5A887CC}"/>
              </a:ext>
            </a:extLst>
          </p:cNvPr>
          <p:cNvSpPr txBox="1">
            <a:spLocks/>
          </p:cNvSpPr>
          <p:nvPr/>
        </p:nvSpPr>
        <p:spPr>
          <a:xfrm>
            <a:off x="-14677" y="6593810"/>
            <a:ext cx="968147" cy="29150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Calibri" panose="020F0502020204030204"/>
                <a:ea typeface="+mn-ea"/>
                <a:cs typeface="+mn-cs"/>
              </a:rPr>
              <a:t>OFFICIAL</a:t>
            </a:r>
          </a:p>
        </p:txBody>
      </p:sp>
      <p:sp>
        <p:nvSpPr>
          <p:cNvPr id="2" name="Title 1">
            <a:extLst>
              <a:ext uri="{FF2B5EF4-FFF2-40B4-BE49-F238E27FC236}">
                <a16:creationId xmlns:a16="http://schemas.microsoft.com/office/drawing/2014/main" id="{3B2FB546-7C40-A89C-0889-FC706CA10A8E}"/>
              </a:ext>
            </a:extLst>
          </p:cNvPr>
          <p:cNvSpPr txBox="1">
            <a:spLocks/>
          </p:cNvSpPr>
          <p:nvPr/>
        </p:nvSpPr>
        <p:spPr>
          <a:xfrm>
            <a:off x="565835" y="124164"/>
            <a:ext cx="11350048" cy="453347"/>
          </a:xfrm>
          <a:prstGeom prst="rect">
            <a:avLst/>
          </a:prstGeom>
          <a:noFill/>
          <a:ln>
            <a:noFill/>
          </a:ln>
        </p:spPr>
        <p:txBody>
          <a:bodyPr vert="horz" lIns="91440" tIns="45720" rIns="91440" bIns="45720" rtlCol="0" anchor="t">
            <a:normAutofit/>
          </a:bodyPr>
          <a:lstStyle>
            <a:lvl1pPr algn="l" defTabSz="914400" rtl="0" eaLnBrk="1" latinLnBrk="0" hangingPunct="1">
              <a:lnSpc>
                <a:spcPct val="90000"/>
              </a:lnSpc>
              <a:spcBef>
                <a:spcPct val="0"/>
              </a:spcBef>
              <a:buNone/>
              <a:defRPr sz="3800" kern="1200">
                <a:solidFill>
                  <a:srgbClr val="007C91"/>
                </a:solidFill>
                <a:latin typeface="Arial" panose="020B0604020202020204" pitchFamily="34" charset="0"/>
                <a:ea typeface="+mj-ea"/>
                <a:cs typeface="Arial" panose="020B0604020202020204" pitchFamily="34" charset="0"/>
              </a:defRPr>
            </a:lvl1pPr>
          </a:lstStyle>
          <a:p>
            <a:pPr>
              <a:defRPr/>
            </a:pPr>
            <a:r>
              <a:rPr kumimoji="0" lang="en-US" sz="2400" b="1" i="0" u="none" strike="noStrike" kern="1200" cap="none" spc="0" normalizeH="0" baseline="0" noProof="0">
                <a:ln>
                  <a:noFill/>
                </a:ln>
                <a:solidFill>
                  <a:srgbClr val="007C91"/>
                </a:solidFill>
                <a:effectLst/>
                <a:uLnTx/>
                <a:uFillTx/>
                <a:latin typeface="Calibri" panose="020F0502020204030204"/>
                <a:ea typeface="+mj-ea"/>
                <a:cs typeface="Arial"/>
              </a:rPr>
              <a:t>Project Update |</a:t>
            </a:r>
            <a:r>
              <a:rPr lang="en-GB" sz="2400">
                <a:solidFill>
                  <a:srgbClr val="242424"/>
                </a:solidFill>
                <a:latin typeface="Aptos Narrow"/>
                <a:cs typeface="Arial"/>
              </a:rPr>
              <a:t>UKHSA-AIR-RIS- AI Readiness Use Case Development 26/1</a:t>
            </a:r>
            <a:r>
              <a:rPr kumimoji="0" lang="en-US" sz="2400" b="1" i="0" u="none" strike="noStrike" kern="1200" cap="none" spc="0" normalizeH="0" baseline="0" noProof="0">
                <a:ln>
                  <a:noFill/>
                </a:ln>
                <a:solidFill>
                  <a:srgbClr val="007C91"/>
                </a:solidFill>
                <a:effectLst/>
                <a:uLnTx/>
                <a:uFillTx/>
                <a:latin typeface="Calibri" panose="020F0502020204030204"/>
                <a:ea typeface="+mj-ea"/>
                <a:cs typeface="Arial"/>
              </a:rPr>
              <a:t> </a:t>
            </a:r>
            <a:endParaRPr kumimoji="0" lang="en-GB" sz="2400" b="1" i="1" u="none" strike="noStrike" kern="1200" cap="none" spc="0" normalizeH="0" baseline="0" noProof="0">
              <a:ln>
                <a:noFill/>
              </a:ln>
              <a:solidFill>
                <a:srgbClr val="007C91"/>
              </a:solidFill>
              <a:effectLst/>
              <a:uLnTx/>
              <a:uFillTx/>
              <a:latin typeface="Calibri" panose="020F0502020204030204"/>
              <a:ea typeface="+mj-ea"/>
              <a:cs typeface="Arial"/>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2400" b="1" i="0" u="none" strike="noStrike" kern="1200" cap="none" spc="0" normalizeH="0" baseline="0" noProof="0">
              <a:ln>
                <a:noFill/>
              </a:ln>
              <a:solidFill>
                <a:srgbClr val="007C91"/>
              </a:solidFill>
              <a:effectLst/>
              <a:uLnTx/>
              <a:uFillTx/>
              <a:latin typeface="Calibri" panose="020F0502020204030204"/>
              <a:ea typeface="+mj-ea"/>
              <a:cs typeface="Arial" panose="020B0604020202020204" pitchFamily="34" charset="0"/>
            </a:endParaRPr>
          </a:p>
        </p:txBody>
      </p:sp>
      <p:graphicFrame>
        <p:nvGraphicFramePr>
          <p:cNvPr id="7" name="Group 272">
            <a:extLst>
              <a:ext uri="{FF2B5EF4-FFF2-40B4-BE49-F238E27FC236}">
                <a16:creationId xmlns:a16="http://schemas.microsoft.com/office/drawing/2014/main" id="{1943849A-27BE-AF19-F28C-F8F7944219D6}"/>
              </a:ext>
            </a:extLst>
          </p:cNvPr>
          <p:cNvGraphicFramePr>
            <a:graphicFrameLocks noGrp="1"/>
          </p:cNvGraphicFramePr>
          <p:nvPr>
            <p:extLst>
              <p:ext uri="{D42A27DB-BD31-4B8C-83A1-F6EECF244321}">
                <p14:modId xmlns:p14="http://schemas.microsoft.com/office/powerpoint/2010/main" val="931352566"/>
              </p:ext>
            </p:extLst>
          </p:nvPr>
        </p:nvGraphicFramePr>
        <p:xfrm>
          <a:off x="490915" y="2509608"/>
          <a:ext cx="4898208" cy="4073119"/>
        </p:xfrm>
        <a:graphic>
          <a:graphicData uri="http://schemas.openxmlformats.org/drawingml/2006/table">
            <a:tbl>
              <a:tblPr firstRow="1">
                <a:tableStyleId>{7E9639D4-E3E2-4D34-9284-5A2195B3D0D7}</a:tableStyleId>
              </a:tblPr>
              <a:tblGrid>
                <a:gridCol w="2449104">
                  <a:extLst>
                    <a:ext uri="{9D8B030D-6E8A-4147-A177-3AD203B41FA5}">
                      <a16:colId xmlns:a16="http://schemas.microsoft.com/office/drawing/2014/main" val="20000"/>
                    </a:ext>
                  </a:extLst>
                </a:gridCol>
                <a:gridCol w="2449104">
                  <a:extLst>
                    <a:ext uri="{9D8B030D-6E8A-4147-A177-3AD203B41FA5}">
                      <a16:colId xmlns:a16="http://schemas.microsoft.com/office/drawing/2014/main" val="195155734"/>
                    </a:ext>
                  </a:extLst>
                </a:gridCol>
              </a:tblGrid>
              <a:tr h="167256">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800" u="none" strike="noStrike" cap="none" normalizeH="0" baseline="0">
                          <a:ln>
                            <a:noFill/>
                          </a:ln>
                          <a:solidFill>
                            <a:schemeClr val="bg1"/>
                          </a:solidFill>
                          <a:effectLst/>
                        </a:rPr>
                        <a:t>B.  KEY ACCOMPLISHMENTS THIS PERIOD</a:t>
                      </a:r>
                      <a:endParaRPr kumimoji="0" lang="en-CA" sz="800" b="1" i="0" u="none" strike="noStrike" cap="none" normalizeH="0" baseline="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0"/>
                  </a:ext>
                </a:extLst>
              </a:tr>
              <a:tr h="1552033">
                <a:tc gridSpan="2">
                  <a:txBody>
                    <a:bodyPr/>
                    <a:lstStyle/>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Initial TRB session – Project presented for an FYI session and received no questions or further actions for TRB. Suggested next steps were architectural presentation at TACB and keep both forums updated</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Sessions held with Zalaya and other key business stakeholders</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WS2 is in Sprint 0 (discovery) </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WS03 has commenced and key stakeholder engagement planned for next week</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Initial conversations with Accenture and DXC around resourcing a blended team have been progressing. </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endParaRPr kumimoji="0" lang="en-GB" sz="700" b="0" i="0" u="none" strike="noStrike" kern="1200" cap="none" spc="0" normalizeH="0" baseline="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p>
                      <a:pPr marL="0" marR="0" lvl="0" indent="0" algn="l" defTabSz="947738" rtl="0" eaLnBrk="0" fontAlgn="base" latinLnBrk="0" hangingPunct="0">
                        <a:lnSpc>
                          <a:spcPct val="100000"/>
                        </a:lnSpc>
                        <a:spcBef>
                          <a:spcPct val="0"/>
                        </a:spcBef>
                        <a:spcAft>
                          <a:spcPct val="10000"/>
                        </a:spcAft>
                        <a:buClrTx/>
                        <a:buSzTx/>
                        <a:buFont typeface="Arial" panose="020B0604020202020204" pitchFamily="34" charset="0"/>
                        <a:buNone/>
                        <a:tabLst/>
                        <a:defRPr/>
                      </a:pPr>
                      <a:endParaRPr kumimoji="0" lang="pl-PL" sz="800" u="none" strike="noStrike" cap="none" normalizeH="0" baseline="0">
                        <a:ln>
                          <a:noFill/>
                        </a:ln>
                        <a:solidFill>
                          <a:schemeClr val="tx1">
                            <a:lumMod val="65000"/>
                            <a:lumOff val="35000"/>
                          </a:schemeClr>
                        </a:solidFill>
                        <a:effectLst/>
                        <a:latin typeface="Century Gothic" panose="020B0502020202020204" pitchFamily="34" charset="0"/>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672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800" b="1" i="0" u="none" strike="noStrike" cap="none" normalizeH="0" baseline="0">
                          <a:ln>
                            <a:noFill/>
                          </a:ln>
                          <a:solidFill>
                            <a:schemeClr val="bg1"/>
                          </a:solidFill>
                          <a:effectLst/>
                          <a:latin typeface="EYInterstate" pitchFamily="2" charset="0"/>
                        </a:rPr>
                        <a:t>C. KEY ACTIVITIES PLANNED NEXT PERIOD</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2"/>
                  </a:ext>
                </a:extLst>
              </a:tr>
              <a:tr h="949979">
                <a:tc gridSpan="2">
                  <a:txBody>
                    <a:bodyPr/>
                    <a:lstStyle/>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Continued service design and UR -  personas / user needs / users</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Create HL user journey map</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Book UR slots</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Review alpha UR outputs – request for raw UR outputs</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HLD and use case diagrams</a:t>
                      </a: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US"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Integrate business users into the core team and define WoW</a:t>
                      </a:r>
                      <a:endParaRPr kumimoji="0" lang="pl-PL"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endParaRPr kumimoji="0" lang="pl-PL" sz="8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3"/>
                  </a:ext>
                </a:extLst>
              </a:tr>
              <a:tr h="167256">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b="1" i="0" u="none" strike="noStrike" cap="none" normalizeH="0" baseline="0">
                          <a:ln>
                            <a:noFill/>
                          </a:ln>
                          <a:solidFill>
                            <a:schemeClr val="bg1"/>
                          </a:solidFill>
                          <a:effectLst/>
                          <a:latin typeface="EYInterstate" pitchFamily="2" charset="0"/>
                        </a:rPr>
                        <a:t>D.  KEY ISSUES REQUIRING MANAGEMENT ATTENTION / AWARENESS</a:t>
                      </a:r>
                      <a:endParaRPr kumimoji="0" lang="en-US" sz="800" b="1" i="0" u="none" strike="noStrike" cap="none" normalizeH="0" baseline="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extLst>
                  <a:ext uri="{0D108BD9-81ED-4DB2-BD59-A6C34878D82A}">
                    <a16:rowId xmlns:a16="http://schemas.microsoft.com/office/drawing/2014/main" val="10004"/>
                  </a:ext>
                </a:extLst>
              </a:tr>
              <a:tr h="171680">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800" b="1" i="0" u="none" strike="noStrike" kern="1200" cap="none" normalizeH="0" baseline="0">
                          <a:ln>
                            <a:noFill/>
                          </a:ln>
                          <a:solidFill>
                            <a:schemeClr val="bg2"/>
                          </a:solidFill>
                          <a:effectLst/>
                          <a:latin typeface="EYInterstate Light" pitchFamily="2" charset="0"/>
                          <a:ea typeface="+mn-ea"/>
                          <a:cs typeface="+mn-cs"/>
                        </a:rPr>
                        <a:t>ATTENTION (HELP NEEDED)</a:t>
                      </a:r>
                      <a:endParaRPr kumimoji="0" lang="en-US" sz="800" b="1" i="0" u="none" strike="noStrike" kern="1200" cap="none" normalizeH="0" baseline="0">
                        <a:ln>
                          <a:noFill/>
                        </a:ln>
                        <a:solidFill>
                          <a:schemeClr val="bg2"/>
                        </a:solidFill>
                        <a:effectLst/>
                        <a:latin typeface="EYInterstate Light" pitchFamily="2" charset="0"/>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US" sz="800" b="1" i="0" u="none" strike="noStrike" kern="1200" cap="none" normalizeH="0" baseline="0">
                          <a:ln>
                            <a:noFill/>
                          </a:ln>
                          <a:solidFill>
                            <a:schemeClr val="bg2"/>
                          </a:solidFill>
                          <a:effectLst/>
                          <a:latin typeface="EYInterstate Light" pitchFamily="2" charset="0"/>
                          <a:ea typeface="+mn-ea"/>
                          <a:cs typeface="+mn-cs"/>
                        </a:rPr>
                        <a:t>AWARENESS (REASONS)</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5"/>
                  </a:ext>
                </a:extLst>
              </a:tr>
              <a:tr h="897659">
                <a:tc>
                  <a:txBody>
                    <a:bodyPr/>
                    <a:lstStyle/>
                    <a:p>
                      <a:pPr marL="171450" marR="0" lvl="0" indent="-171450" algn="l" defTabSz="947738" rtl="0" eaLnBrk="0" fontAlgn="base" latinLnBrk="0" hangingPunct="0">
                        <a:lnSpc>
                          <a:spcPct val="100000"/>
                        </a:lnSpc>
                        <a:spcBef>
                          <a:spcPct val="0"/>
                        </a:spcBef>
                        <a:spcAft>
                          <a:spcPct val="10000"/>
                        </a:spcAft>
                        <a:buClrTx/>
                        <a:buSzTx/>
                        <a:buFont typeface="Arial" panose="020B0604020202020204" pitchFamily="34" charset="0"/>
                        <a:buChar char="•"/>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We need to determine that the approach we are following is permitted within the copyright clause of the current NHS licence </a:t>
                      </a:r>
                      <a:endParaRPr kumimoji="0" lang="pl-PL"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-We may need our developers to be issued a UKHSA laptop to access ANTS</a:t>
                      </a:r>
                    </a:p>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a:t>
                      </a:r>
                    </a:p>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pl-PL"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b="0" i="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mn-cs"/>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75197254"/>
                  </a:ext>
                </a:extLst>
              </a:tr>
            </a:tbl>
          </a:graphicData>
        </a:graphic>
      </p:graphicFrame>
      <p:graphicFrame>
        <p:nvGraphicFramePr>
          <p:cNvPr id="8" name="Group 245">
            <a:extLst>
              <a:ext uri="{FF2B5EF4-FFF2-40B4-BE49-F238E27FC236}">
                <a16:creationId xmlns:a16="http://schemas.microsoft.com/office/drawing/2014/main" id="{2679F0A9-024C-299C-539C-CBBBEBE76E5F}"/>
              </a:ext>
            </a:extLst>
          </p:cNvPr>
          <p:cNvGraphicFramePr>
            <a:graphicFrameLocks noGrp="1"/>
          </p:cNvGraphicFramePr>
          <p:nvPr>
            <p:extLst>
              <p:ext uri="{D42A27DB-BD31-4B8C-83A1-F6EECF244321}">
                <p14:modId xmlns:p14="http://schemas.microsoft.com/office/powerpoint/2010/main" val="1800991779"/>
              </p:ext>
            </p:extLst>
          </p:nvPr>
        </p:nvGraphicFramePr>
        <p:xfrm>
          <a:off x="490918" y="566008"/>
          <a:ext cx="4898205" cy="1943858"/>
        </p:xfrm>
        <a:graphic>
          <a:graphicData uri="http://schemas.openxmlformats.org/drawingml/2006/table">
            <a:tbl>
              <a:tblPr firstRow="1">
                <a:tableStyleId>{7E9639D4-E3E2-4D34-9284-5A2195B3D0D7}</a:tableStyleId>
              </a:tblPr>
              <a:tblGrid>
                <a:gridCol w="4898205">
                  <a:extLst>
                    <a:ext uri="{9D8B030D-6E8A-4147-A177-3AD203B41FA5}">
                      <a16:colId xmlns:a16="http://schemas.microsoft.com/office/drawing/2014/main" val="20000"/>
                    </a:ext>
                  </a:extLst>
                </a:gridCol>
              </a:tblGrid>
              <a:tr h="190217">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800" u="none" strike="noStrike" cap="none" normalizeH="0" baseline="0">
                          <a:ln>
                            <a:noFill/>
                          </a:ln>
                          <a:effectLst/>
                        </a:rPr>
                        <a:t>A.  </a:t>
                      </a:r>
                      <a:r>
                        <a:rPr kumimoji="0" lang="en-GB" sz="800" u="none" strike="noStrike" cap="none" normalizeH="0" baseline="0">
                          <a:ln>
                            <a:noFill/>
                          </a:ln>
                          <a:effectLst/>
                        </a:rPr>
                        <a:t>EXECUTIVE SUMMARY</a:t>
                      </a:r>
                      <a:endParaRPr kumimoji="0" lang="en-US" sz="800" b="1" i="0" u="none" strike="noStrike" cap="none" normalizeH="0" baseline="0">
                        <a:ln>
                          <a:noFill/>
                        </a:ln>
                        <a:solidFill>
                          <a:schemeClr val="tx1"/>
                        </a:solidFill>
                        <a:effectLst/>
                        <a:latin typeface="EYInterstate" pitchFamily="2" charset="0"/>
                      </a:endParaRPr>
                    </a:p>
                  </a:txBody>
                  <a:tcPr marL="33146" marR="33146" marT="14365" marB="14365"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753641">
                <a:tc>
                  <a:txBody>
                    <a:bodyPr/>
                    <a:lstStyle/>
                    <a:p>
                      <a:pPr marL="0" marR="0" lvl="0" indent="0" algn="l" defTabSz="947738" rtl="0" eaLnBrk="0" fontAlgn="base" latinLnBrk="0" hangingPunct="0">
                        <a:lnSpc>
                          <a:spcPct val="100000"/>
                        </a:lnSpc>
                        <a:spcBef>
                          <a:spcPct val="0"/>
                        </a:spcBef>
                        <a:spcAft>
                          <a:spcPct val="10000"/>
                        </a:spcAft>
                        <a:buClrTx/>
                        <a:buSzTx/>
                        <a:buFont typeface="Arial" panose="020B0604020202020204" pitchFamily="34" charset="0"/>
                        <a:buNone/>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The delivery is on track.  The analysis of the selected use case has identified complexity in the bus processes that are presenting challenges in defining a clear problem definition and product scope,</a:t>
                      </a:r>
                    </a:p>
                    <a:p>
                      <a:pPr marL="0" marR="0" lvl="0" indent="0" algn="l" defTabSz="947738" rtl="0" eaLnBrk="0" fontAlgn="base" latinLnBrk="0" hangingPunct="0">
                        <a:lnSpc>
                          <a:spcPct val="100000"/>
                        </a:lnSpc>
                        <a:spcBef>
                          <a:spcPct val="0"/>
                        </a:spcBef>
                        <a:spcAft>
                          <a:spcPct val="10000"/>
                        </a:spcAft>
                        <a:buClrTx/>
                        <a:buSzTx/>
                        <a:buFont typeface="Arial" panose="020B0604020202020204" pitchFamily="34" charset="0"/>
                        <a:buNone/>
                        <a:tabLst/>
                        <a:defRPr/>
                      </a:pPr>
                      <a:endPar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p>
                      <a:pPr marL="0" marR="0" lvl="0" indent="0" algn="l" defTabSz="947738" rtl="0" eaLnBrk="0" fontAlgn="base" latinLnBrk="0" hangingPunct="0">
                        <a:lnSpc>
                          <a:spcPct val="100000"/>
                        </a:lnSpc>
                        <a:spcBef>
                          <a:spcPct val="0"/>
                        </a:spcBef>
                        <a:spcAft>
                          <a:spcPct val="10000"/>
                        </a:spcAft>
                        <a:buClrTx/>
                        <a:buSzTx/>
                        <a:buFont typeface="Arial" panose="020B0604020202020204" pitchFamily="34" charset="0"/>
                        <a:buNone/>
                        <a:tabLst/>
                        <a:defRPr/>
                      </a:pP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Informed is currently pursuing a tool to support human reviewers in evidence evaluation workflow whilst avoiding challenges associated with the NHS licence agreement which bars the use of LLM’s against the source content.</a:t>
                      </a:r>
                      <a:b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br>
                      <a:r>
                        <a:rPr kumimoji="0" lang="en-GB"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rPr>
                        <a:t>There is a hard dependency on confirming the interpretation of the licence agreement such that semantic. database analysis of raw evidence content is a distinct process form the training an prompting of LLM’s  </a:t>
                      </a:r>
                      <a:endParaRPr kumimoji="0" lang="pl-PL" sz="700" b="0" i="0" u="none" strike="noStrike" kern="1200" cap="none" spc="0" normalizeH="0" baseline="0" noProof="0">
                        <a:ln>
                          <a:noFill/>
                        </a:ln>
                        <a:solidFill>
                          <a:schemeClr val="tx1">
                            <a:lumMod val="65000"/>
                            <a:lumOff val="35000"/>
                          </a:schemeClr>
                        </a:solidFill>
                        <a:effectLst/>
                        <a:uLnTx/>
                        <a:uFillTx/>
                        <a:latin typeface="Century Gothic" panose="020B0502020202020204" pitchFamily="34" charset="0"/>
                        <a:ea typeface="+mn-ea"/>
                        <a:cs typeface="Calibri" panose="020F0502020204030204" pitchFamily="34" charset="0"/>
                      </a:endParaRPr>
                    </a:p>
                  </a:txBody>
                  <a:tcPr marL="33146" marR="33146" marT="14365" marB="14365"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 name="Group 270">
            <a:extLst>
              <a:ext uri="{FF2B5EF4-FFF2-40B4-BE49-F238E27FC236}">
                <a16:creationId xmlns:a16="http://schemas.microsoft.com/office/drawing/2014/main" id="{F8D17A56-584C-7290-86E4-4F5B1AA30150}"/>
              </a:ext>
            </a:extLst>
          </p:cNvPr>
          <p:cNvGraphicFramePr>
            <a:graphicFrameLocks noGrp="1"/>
          </p:cNvGraphicFramePr>
          <p:nvPr>
            <p:extLst>
              <p:ext uri="{D42A27DB-BD31-4B8C-83A1-F6EECF244321}">
                <p14:modId xmlns:p14="http://schemas.microsoft.com/office/powerpoint/2010/main" val="3531088210"/>
              </p:ext>
            </p:extLst>
          </p:nvPr>
        </p:nvGraphicFramePr>
        <p:xfrm>
          <a:off x="5531796" y="970351"/>
          <a:ext cx="6341580" cy="2873368"/>
        </p:xfrm>
        <a:graphic>
          <a:graphicData uri="http://schemas.openxmlformats.org/drawingml/2006/table">
            <a:tbl>
              <a:tblPr firstRow="1">
                <a:tableStyleId>{7E9639D4-E3E2-4D34-9284-5A2195B3D0D7}</a:tableStyleId>
              </a:tblPr>
              <a:tblGrid>
                <a:gridCol w="423043">
                  <a:extLst>
                    <a:ext uri="{9D8B030D-6E8A-4147-A177-3AD203B41FA5}">
                      <a16:colId xmlns:a16="http://schemas.microsoft.com/office/drawing/2014/main" val="4205414778"/>
                    </a:ext>
                  </a:extLst>
                </a:gridCol>
                <a:gridCol w="2560467">
                  <a:extLst>
                    <a:ext uri="{9D8B030D-6E8A-4147-A177-3AD203B41FA5}">
                      <a16:colId xmlns:a16="http://schemas.microsoft.com/office/drawing/2014/main" val="20000"/>
                    </a:ext>
                  </a:extLst>
                </a:gridCol>
                <a:gridCol w="667948">
                  <a:extLst>
                    <a:ext uri="{9D8B030D-6E8A-4147-A177-3AD203B41FA5}">
                      <a16:colId xmlns:a16="http://schemas.microsoft.com/office/drawing/2014/main" val="20001"/>
                    </a:ext>
                  </a:extLst>
                </a:gridCol>
                <a:gridCol w="667948">
                  <a:extLst>
                    <a:ext uri="{9D8B030D-6E8A-4147-A177-3AD203B41FA5}">
                      <a16:colId xmlns:a16="http://schemas.microsoft.com/office/drawing/2014/main" val="3492732595"/>
                    </a:ext>
                  </a:extLst>
                </a:gridCol>
                <a:gridCol w="325804">
                  <a:extLst>
                    <a:ext uri="{9D8B030D-6E8A-4147-A177-3AD203B41FA5}">
                      <a16:colId xmlns:a16="http://schemas.microsoft.com/office/drawing/2014/main" val="20004"/>
                    </a:ext>
                  </a:extLst>
                </a:gridCol>
                <a:gridCol w="194580">
                  <a:extLst>
                    <a:ext uri="{9D8B030D-6E8A-4147-A177-3AD203B41FA5}">
                      <a16:colId xmlns:a16="http://schemas.microsoft.com/office/drawing/2014/main" val="20005"/>
                    </a:ext>
                  </a:extLst>
                </a:gridCol>
                <a:gridCol w="1501790">
                  <a:extLst>
                    <a:ext uri="{9D8B030D-6E8A-4147-A177-3AD203B41FA5}">
                      <a16:colId xmlns:a16="http://schemas.microsoft.com/office/drawing/2014/main" val="3260646612"/>
                    </a:ext>
                  </a:extLst>
                </a:gridCol>
              </a:tblGrid>
              <a:tr h="105200">
                <a:tc gridSpan="7">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u="none" strike="noStrike" kern="1200" cap="none" normalizeH="0" baseline="0" noProof="0">
                          <a:ln>
                            <a:noFill/>
                          </a:ln>
                          <a:effectLst/>
                        </a:rPr>
                        <a:t>E. KEY MILESTONES (DUE FOR THE CURRENT AND NEXT PERIOD + OVERDUE + AT RISK)</a:t>
                      </a:r>
                      <a:endParaRPr kumimoji="0" lang="en-GB" sz="800" b="0" i="0" u="none" strike="noStrike" kern="1200" cap="none" normalizeH="0" baseline="0" noProof="0">
                        <a:ln>
                          <a:noFill/>
                        </a:ln>
                        <a:solidFill>
                          <a:schemeClr val="bg1"/>
                        </a:solidFill>
                        <a:effectLst/>
                        <a:latin typeface="EYInterstate" pitchFamily="2" charset="0"/>
                        <a:ea typeface="+mn-ea"/>
                        <a:cs typeface="+mn-cs"/>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a:ln>
                          <a:noFill/>
                        </a:ln>
                        <a:solidFill>
                          <a:srgbClr val="000000"/>
                        </a:solidFill>
                        <a:effectLst/>
                        <a:latin typeface="EYInterstate" pitchFamily="2" charset="0"/>
                        <a:ea typeface="+mn-ea"/>
                        <a:cs typeface="+mn-cs"/>
                      </a:endParaRPr>
                    </a:p>
                  </a:txBody>
                  <a:tcPr marL="31577" marR="31577" marT="13683" marB="13683" anchor="ctr" horzOverflow="overflow">
                    <a:solidFill>
                      <a:schemeClr val="accent4">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endParaRPr lang="en-GB"/>
                    </a:p>
                  </a:txBody>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lnL w="6350" cap="flat" cmpd="sng" algn="ctr">
                      <a:solidFill>
                        <a:schemeClr val="bg1"/>
                      </a:solidFill>
                      <a:prstDash val="solid"/>
                      <a:round/>
                      <a:headEnd type="none" w="med" len="med"/>
                      <a:tailEnd type="none" w="med" len="med"/>
                    </a:lnL>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a:ln>
                          <a:noFill/>
                        </a:ln>
                        <a:solidFill>
                          <a:schemeClr val="bg2"/>
                        </a:solidFill>
                        <a:effectLst/>
                        <a:latin typeface="EYInterstate Light" pitchFamily="2" charset="0"/>
                      </a:endParaRPr>
                    </a:p>
                  </a:txBody>
                  <a:tcPr marL="31577" marR="31577" marT="13683" marB="13683" horzOverflow="overflow">
                    <a:solidFill>
                      <a:schemeClr val="tx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800" b="0" i="0" u="none" strike="noStrike" kern="1200" cap="none" normalizeH="0" baseline="0">
                        <a:ln>
                          <a:noFill/>
                        </a:ln>
                        <a:solidFill>
                          <a:schemeClr val="bg1"/>
                        </a:solidFill>
                        <a:effectLst/>
                        <a:latin typeface="EYInterstate" pitchFamily="2" charset="0"/>
                        <a:ea typeface="+mn-ea"/>
                        <a:cs typeface="+mn-cs"/>
                      </a:endParaRPr>
                    </a:p>
                  </a:txBody>
                  <a:tcPr marL="31561" marR="31561" marT="13676" marB="13676"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05200">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Milestone Name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Plan Date</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i="0" u="none" strike="noStrike" cap="none" normalizeH="0" baseline="0" noProof="0">
                          <a:ln>
                            <a:noFill/>
                          </a:ln>
                          <a:solidFill>
                            <a:schemeClr val="bg2"/>
                          </a:solidFill>
                          <a:effectLst/>
                          <a:latin typeface="EYInterstate Light" pitchFamily="2" charset="0"/>
                        </a:rPr>
                        <a:t>Forecast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LP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u="none" strike="noStrike" cap="none" normalizeH="0" baseline="0" noProof="0">
                          <a:ln>
                            <a:noFill/>
                          </a:ln>
                          <a:solidFill>
                            <a:schemeClr val="bg2"/>
                          </a:solidFill>
                          <a:effectLst/>
                        </a:rPr>
                        <a:t>CP</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Comment</a:t>
                      </a: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Roadmap and business case development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O6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D05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63359852"/>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6354015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Readiness Assessment – Final review and handover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06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6357159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D06 – Draft</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02 Feb</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37417056"/>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92643123"/>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D07 – AI Use case Exemplar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937469608"/>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96210375"/>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7895744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kumimoji="0" lang="en-GB" sz="700" b="1"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D08 – AI High level Operating Model </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Amr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rPr>
                        <a:t>31 Mar</a:t>
                      </a: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8886891"/>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49242639"/>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86789840"/>
                  </a:ext>
                </a:extLst>
              </a:tr>
              <a:tr h="139644">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11915885"/>
                  </a:ext>
                </a:extLst>
              </a:tr>
            </a:tbl>
          </a:graphicData>
        </a:graphic>
      </p:graphicFrame>
      <p:graphicFrame>
        <p:nvGraphicFramePr>
          <p:cNvPr id="10" name="Table 9">
            <a:extLst>
              <a:ext uri="{FF2B5EF4-FFF2-40B4-BE49-F238E27FC236}">
                <a16:creationId xmlns:a16="http://schemas.microsoft.com/office/drawing/2014/main" id="{A43E1568-D826-E439-7A25-8C0C38BCF66E}"/>
              </a:ext>
            </a:extLst>
          </p:cNvPr>
          <p:cNvGraphicFramePr>
            <a:graphicFrameLocks noGrp="1"/>
          </p:cNvGraphicFramePr>
          <p:nvPr>
            <p:extLst>
              <p:ext uri="{D42A27DB-BD31-4B8C-83A1-F6EECF244321}">
                <p14:modId xmlns:p14="http://schemas.microsoft.com/office/powerpoint/2010/main" val="3818913269"/>
              </p:ext>
            </p:extLst>
          </p:nvPr>
        </p:nvGraphicFramePr>
        <p:xfrm>
          <a:off x="5531796" y="3950613"/>
          <a:ext cx="6423420" cy="2218312"/>
        </p:xfrm>
        <a:graphic>
          <a:graphicData uri="http://schemas.openxmlformats.org/drawingml/2006/table">
            <a:tbl>
              <a:tblPr firstRow="1" bandRow="1" bandCol="1">
                <a:tableStyleId>{7E9639D4-E3E2-4D34-9284-5A2195B3D0D7}</a:tableStyleId>
              </a:tblPr>
              <a:tblGrid>
                <a:gridCol w="402713">
                  <a:extLst>
                    <a:ext uri="{9D8B030D-6E8A-4147-A177-3AD203B41FA5}">
                      <a16:colId xmlns:a16="http://schemas.microsoft.com/office/drawing/2014/main" val="2199885390"/>
                    </a:ext>
                  </a:extLst>
                </a:gridCol>
                <a:gridCol w="2872265">
                  <a:extLst>
                    <a:ext uri="{9D8B030D-6E8A-4147-A177-3AD203B41FA5}">
                      <a16:colId xmlns:a16="http://schemas.microsoft.com/office/drawing/2014/main" val="1148451240"/>
                    </a:ext>
                  </a:extLst>
                </a:gridCol>
                <a:gridCol w="2230877">
                  <a:extLst>
                    <a:ext uri="{9D8B030D-6E8A-4147-A177-3AD203B41FA5}">
                      <a16:colId xmlns:a16="http://schemas.microsoft.com/office/drawing/2014/main" val="20001"/>
                    </a:ext>
                  </a:extLst>
                </a:gridCol>
                <a:gridCol w="278860">
                  <a:extLst>
                    <a:ext uri="{9D8B030D-6E8A-4147-A177-3AD203B41FA5}">
                      <a16:colId xmlns:a16="http://schemas.microsoft.com/office/drawing/2014/main" val="554533402"/>
                    </a:ext>
                  </a:extLst>
                </a:gridCol>
                <a:gridCol w="278860">
                  <a:extLst>
                    <a:ext uri="{9D8B030D-6E8A-4147-A177-3AD203B41FA5}">
                      <a16:colId xmlns:a16="http://schemas.microsoft.com/office/drawing/2014/main" val="1614259304"/>
                    </a:ext>
                  </a:extLst>
                </a:gridCol>
                <a:gridCol w="359845">
                  <a:extLst>
                    <a:ext uri="{9D8B030D-6E8A-4147-A177-3AD203B41FA5}">
                      <a16:colId xmlns:a16="http://schemas.microsoft.com/office/drawing/2014/main" val="1695019054"/>
                    </a:ext>
                  </a:extLst>
                </a:gridCol>
              </a:tblGrid>
              <a:tr h="123472">
                <a:tc gridSpan="5">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GB" sz="800" u="none" strike="noStrike" cap="none" normalizeH="0" baseline="0" noProof="0">
                          <a:ln>
                            <a:noFill/>
                          </a:ln>
                          <a:solidFill>
                            <a:schemeClr val="bg1"/>
                          </a:solidFill>
                          <a:effectLst/>
                        </a:rPr>
                        <a:t>F.  KEY RISKS</a:t>
                      </a: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hMerge="1">
                  <a:txBody>
                    <a:bodyPr/>
                    <a:lstStyle/>
                    <a:p>
                      <a:endParaRPr lang="en-GB"/>
                    </a:p>
                  </a:txBody>
                  <a:tcPr/>
                </a:tc>
                <a:tc hMerge="1">
                  <a:txBody>
                    <a:bodyPr/>
                    <a:lstStyle/>
                    <a:p>
                      <a:endParaRPr lang="en-US"/>
                    </a:p>
                  </a:txBody>
                  <a:tcPr>
                    <a:lnL w="6350" cap="flat" cmpd="sng" algn="ctr">
                      <a:solidFill>
                        <a:schemeClr val="bg1"/>
                      </a:solidFill>
                      <a:prstDash val="solid"/>
                      <a:round/>
                      <a:headEnd type="none" w="med" len="med"/>
                      <a:tailEnd type="none" w="med" len="med"/>
                    </a:lnL>
                  </a:tcPr>
                </a:tc>
                <a:tc hMerge="1">
                  <a:txBody>
                    <a:bodyPr/>
                    <a:lstStyle/>
                    <a:p>
                      <a:endParaRPr lang="en-GB"/>
                    </a:p>
                  </a:txBody>
                  <a:tcPr/>
                </a:tc>
                <a:tc hMerge="1">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a:ln>
                          <a:noFill/>
                        </a:ln>
                        <a:solidFill>
                          <a:schemeClr val="bg1"/>
                        </a:solidFill>
                        <a:effectLst/>
                        <a:latin typeface="EYInterstate" pitchFamily="2" charset="0"/>
                      </a:endParaRPr>
                    </a:p>
                  </a:txBody>
                  <a:tcPr marL="31577" marR="31577" marT="13683" marB="13683"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endParaRPr kumimoji="0" lang="en-GB" sz="800" b="1" i="0" u="none" strike="noStrike" cap="none" normalizeH="0" baseline="0" noProof="0">
                        <a:ln>
                          <a:noFill/>
                        </a:ln>
                        <a:solidFill>
                          <a:schemeClr val="bg1"/>
                        </a:solidFill>
                        <a:effectLst/>
                        <a:latin typeface="EYInterstate"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00"/>
                  </a:ext>
                </a:extLst>
              </a:tr>
              <a:tr h="123472">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ID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cap="none" normalizeH="0" baseline="0" noProof="0">
                          <a:ln>
                            <a:noFill/>
                          </a:ln>
                          <a:solidFill>
                            <a:schemeClr val="bg2"/>
                          </a:solidFill>
                          <a:effectLst/>
                        </a:rPr>
                        <a:t>TOP 3 RISKS TO BE ADDRESSED</a:t>
                      </a:r>
                      <a:endParaRPr kumimoji="0" lang="en-GB" sz="800" b="1" i="0" u="none" strike="noStrike" cap="none" normalizeH="0" baseline="0" noProof="0">
                        <a:ln>
                          <a:noFill/>
                        </a:ln>
                        <a:solidFill>
                          <a:schemeClr val="bg2"/>
                        </a:solidFill>
                        <a:effectLst/>
                        <a:latin typeface="EYInterstate Light" pitchFamily="2"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85725" marR="0" lvl="0" indent="-85725"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GB" sz="800" b="1" u="none" strike="noStrike" kern="1200" cap="none" normalizeH="0" baseline="0" noProof="0">
                          <a:ln>
                            <a:noFill/>
                          </a:ln>
                          <a:solidFill>
                            <a:schemeClr val="bg2"/>
                          </a:solidFill>
                          <a:effectLst/>
                          <a:latin typeface="+mn-lt"/>
                          <a:ea typeface="+mn-ea"/>
                          <a:cs typeface="+mn-cs"/>
                        </a:rPr>
                        <a:t>MITIGATION</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LS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CS</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GB" sz="800" b="1" i="0" u="none" strike="noStrike" cap="none" normalizeH="0" baseline="0" noProof="0">
                          <a:ln>
                            <a:noFill/>
                          </a:ln>
                          <a:solidFill>
                            <a:schemeClr val="bg2"/>
                          </a:solidFill>
                          <a:effectLst/>
                          <a:latin typeface="EYInterstate Light" pitchFamily="2" charset="0"/>
                        </a:rPr>
                        <a:t>Conf</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10001"/>
                  </a:ext>
                </a:extLst>
              </a:tr>
              <a:tr h="255991">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UKHSA-AIR-RIS-05</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that the private beta use case may stall</a:t>
                      </a:r>
                    </a:p>
                    <a:p>
                      <a:pPr algn="l">
                        <a:buNone/>
                      </a:pPr>
                      <a:r>
                        <a:rPr lang="en-GB" sz="800" b="1" i="0">
                          <a:solidFill>
                            <a:srgbClr val="000000"/>
                          </a:solidFill>
                          <a:effectLst/>
                          <a:latin typeface="Arial" panose="020B0604020202020204" pitchFamily="34" charset="0"/>
                        </a:rPr>
                        <a:t>As a result of</a:t>
                      </a:r>
                      <a:r>
                        <a:rPr lang="en-GB" sz="800" b="0" i="0">
                          <a:solidFill>
                            <a:srgbClr val="000000"/>
                          </a:solidFill>
                          <a:effectLst/>
                          <a:latin typeface="Arial" panose="020B0604020202020204" pitchFamily="34" charset="0"/>
                        </a:rPr>
                        <a:t>: budget availability and lack of commercial vehicle to complete the work.</a:t>
                      </a:r>
                    </a:p>
                    <a:p>
                      <a:pPr algn="l">
                        <a:buNone/>
                      </a:pPr>
                      <a:r>
                        <a:rPr lang="en-GB" sz="800" b="1" i="0">
                          <a:solidFill>
                            <a:srgbClr val="000000"/>
                          </a:solidFill>
                          <a:effectLst/>
                          <a:latin typeface="Arial" panose="020B0604020202020204" pitchFamily="34" charset="0"/>
                        </a:rPr>
                        <a:t>Will lead to</a:t>
                      </a:r>
                      <a:r>
                        <a:rPr lang="en-GB" sz="800" b="0" i="0">
                          <a:solidFill>
                            <a:srgbClr val="000000"/>
                          </a:solidFill>
                          <a:effectLst/>
                          <a:latin typeface="Arial" panose="020B0604020202020204" pitchFamily="34" charset="0"/>
                        </a:rPr>
                        <a:t>: loss of momentum, missed benefits and additional work to deliver later.</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buNone/>
                      </a:pPr>
                      <a:r>
                        <a:rPr lang="en-GB" sz="800"/>
                        <a:t>Begin joint planning for post-March activities as early as possible, including business case, resource requirements, timelines, and ownership. Establish a clear roadmap for private beta, public beta, and operationalisation.</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M</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10002"/>
                  </a:ext>
                </a:extLst>
              </a:tr>
              <a:tr h="51789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lang="en-GB" sz="800" b="0" i="0">
                          <a:solidFill>
                            <a:srgbClr val="242424"/>
                          </a:solidFill>
                          <a:effectLst/>
                          <a:latin typeface="Aptos Narrow" panose="020B0004020202020204" pitchFamily="34" charset="0"/>
                        </a:rPr>
                        <a:t>UKHSA-AIR-RIS-03</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algn="l">
                        <a:buNone/>
                      </a:pPr>
                      <a:r>
                        <a:rPr lang="en-GB" sz="800" b="1" i="0">
                          <a:solidFill>
                            <a:srgbClr val="000000"/>
                          </a:solidFill>
                          <a:effectLst/>
                          <a:latin typeface="Arial" panose="020B0604020202020204" pitchFamily="34" charset="0"/>
                        </a:rPr>
                        <a:t>There is a risk:</a:t>
                      </a:r>
                      <a:r>
                        <a:rPr lang="en-GB" sz="800" b="0" i="0">
                          <a:solidFill>
                            <a:srgbClr val="000000"/>
                          </a:solidFill>
                          <a:effectLst/>
                          <a:latin typeface="Arial" panose="020B0604020202020204" pitchFamily="34" charset="0"/>
                        </a:rPr>
                        <a:t> Additional budget may be required, requested and approved.</a:t>
                      </a:r>
                    </a:p>
                    <a:p>
                      <a:pPr algn="l">
                        <a:buNone/>
                      </a:pPr>
                      <a:r>
                        <a:rPr lang="en-GB" sz="800" b="1" i="0">
                          <a:solidFill>
                            <a:srgbClr val="000000"/>
                          </a:solidFill>
                          <a:effectLst/>
                          <a:latin typeface="Arial" panose="020B0604020202020204" pitchFamily="34" charset="0"/>
                        </a:rPr>
                        <a:t>As a result of:</a:t>
                      </a:r>
                      <a:r>
                        <a:rPr lang="en-GB" sz="800" b="0" i="0">
                          <a:solidFill>
                            <a:srgbClr val="000000"/>
                          </a:solidFill>
                          <a:effectLst/>
                          <a:latin typeface="Arial" panose="020B0604020202020204" pitchFamily="34" charset="0"/>
                        </a:rPr>
                        <a:t> incurred cloud hosting and computing costs for deployment of the Private Beta solution</a:t>
                      </a:r>
                    </a:p>
                    <a:p>
                      <a:pPr algn="l">
                        <a:buNone/>
                      </a:pPr>
                      <a:r>
                        <a:rPr lang="en-GB" sz="800" b="1" i="0">
                          <a:solidFill>
                            <a:srgbClr val="000000"/>
                          </a:solidFill>
                          <a:effectLst/>
                          <a:latin typeface="Arial" panose="020B0604020202020204" pitchFamily="34" charset="0"/>
                        </a:rPr>
                        <a:t>Will lead to:</a:t>
                      </a:r>
                      <a:r>
                        <a:rPr lang="en-GB" sz="800" b="0" i="0">
                          <a:solidFill>
                            <a:srgbClr val="000000"/>
                          </a:solidFill>
                          <a:effectLst/>
                          <a:latin typeface="Arial" panose="020B0604020202020204" pitchFamily="34" charset="0"/>
                        </a:rPr>
                        <a:t> delays whilst the approval process is running.</a:t>
                      </a: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r>
                        <a:rPr lang="en-GB" sz="800" b="0" i="0">
                          <a:solidFill>
                            <a:srgbClr val="000000"/>
                          </a:solidFill>
                          <a:effectLst/>
                          <a:latin typeface="Arial" panose="020B0604020202020204" pitchFamily="34" charset="0"/>
                        </a:rPr>
                        <a:t>Estimate required cloud resources once the Proof of Concept environment is defined. Confirm expected usage with FinOps, understand the current cloud budget approval process, and secure funding early.</a:t>
                      </a: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FFC00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H</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10003"/>
                  </a:ext>
                </a:extLst>
              </a:tr>
              <a:tr h="517896">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31497" marR="31497" marT="13648" marB="13648"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l" defTabSz="947738" rtl="0" eaLnBrk="0" fontAlgn="base" latinLnBrk="0" hangingPunct="0">
                        <a:lnSpc>
                          <a:spcPct val="100000"/>
                        </a:lnSpc>
                        <a:spcBef>
                          <a:spcPct val="0"/>
                        </a:spcBef>
                        <a:spcAft>
                          <a:spcPct val="10000"/>
                        </a:spcAft>
                        <a:buClrTx/>
                        <a:buSzTx/>
                        <a:buFontTx/>
                        <a:buNone/>
                        <a:tabLst/>
                        <a:defRPr/>
                      </a:pPr>
                      <a:endParaRPr kumimoji="0" lang="en-GB" sz="700" u="none" strike="noStrike" kern="1200" cap="none" normalizeH="0" baseline="0" noProof="0">
                        <a:ln>
                          <a:noFill/>
                        </a:ln>
                        <a:solidFill>
                          <a:schemeClr val="tx1">
                            <a:lumMod val="65000"/>
                            <a:lumOff val="35000"/>
                          </a:schemeClr>
                        </a:solidFill>
                        <a:effectLst/>
                        <a:latin typeface="Century Gothic" panose="020B0502020202020204" pitchFamily="34" charset="0"/>
                        <a:ea typeface="+mn-ea"/>
                        <a:cs typeface="Calibri" panose="020F0502020204030204" pitchFamily="34" charset="0"/>
                      </a:endParaRPr>
                    </a:p>
                  </a:txBody>
                  <a:tcPr marL="45696" marR="45696" marT="45696" marB="45696"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N/A</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tx1">
                        <a:lumMod val="20000"/>
                        <a:lumOff val="80000"/>
                      </a:schemeClr>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r>
                        <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rPr>
                        <a:t>G</a:t>
                      </a: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tc>
                  <a:txBody>
                    <a:bodyPr/>
                    <a:lstStyle/>
                    <a:p>
                      <a:pPr marL="0" marR="0" lvl="0" indent="0" algn="ctr" defTabSz="947738" rtl="0" eaLnBrk="0" fontAlgn="base" latinLnBrk="0" hangingPunct="0">
                        <a:lnSpc>
                          <a:spcPct val="100000"/>
                        </a:lnSpc>
                        <a:spcBef>
                          <a:spcPct val="0"/>
                        </a:spcBef>
                        <a:spcAft>
                          <a:spcPct val="10000"/>
                        </a:spcAft>
                        <a:buClrTx/>
                        <a:buSzTx/>
                        <a:buFontTx/>
                        <a:buNone/>
                        <a:tabLst/>
                      </a:pPr>
                      <a:endParaRPr kumimoji="0" lang="en-GB" sz="700" u="none" strike="noStrike" kern="1200" cap="none" normalizeH="0" baseline="0" noProof="0">
                        <a:ln>
                          <a:noFill/>
                        </a:ln>
                        <a:solidFill>
                          <a:schemeClr val="tx1"/>
                        </a:solidFill>
                        <a:effectLst/>
                        <a:latin typeface="Century Gothic" panose="020B0502020202020204" pitchFamily="34" charset="0"/>
                        <a:ea typeface="+mn-ea"/>
                        <a:cs typeface="Calibri" panose="020F0502020204030204" pitchFamily="34" charset="0"/>
                      </a:endParaRPr>
                    </a:p>
                  </a:txBody>
                  <a:tcPr marL="31497" marR="31497" marT="13648" marB="13648"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92D050"/>
                    </a:solidFill>
                  </a:tcPr>
                </a:tc>
                <a:extLst>
                  <a:ext uri="{0D108BD9-81ED-4DB2-BD59-A6C34878D82A}">
                    <a16:rowId xmlns:a16="http://schemas.microsoft.com/office/drawing/2014/main" val="4053019601"/>
                  </a:ext>
                </a:extLst>
              </a:tr>
            </a:tbl>
          </a:graphicData>
        </a:graphic>
      </p:graphicFrame>
      <p:sp>
        <p:nvSpPr>
          <p:cNvPr id="11" name="TextBox 10">
            <a:extLst>
              <a:ext uri="{FF2B5EF4-FFF2-40B4-BE49-F238E27FC236}">
                <a16:creationId xmlns:a16="http://schemas.microsoft.com/office/drawing/2014/main" id="{51B0E781-0260-3963-25B1-4B3ABB4C6ADC}"/>
              </a:ext>
            </a:extLst>
          </p:cNvPr>
          <p:cNvSpPr txBox="1"/>
          <p:nvPr/>
        </p:nvSpPr>
        <p:spPr>
          <a:xfrm>
            <a:off x="5703431" y="6506936"/>
            <a:ext cx="6080150" cy="141207"/>
          </a:xfrm>
          <a:prstGeom prst="rect">
            <a:avLst/>
          </a:prstGeom>
          <a:noFill/>
        </p:spPr>
        <p:txBody>
          <a:bodyPr wrap="square" lIns="0" tIns="36481" rIns="0" bIns="0" rtlCol="0">
            <a:spAutoFit/>
          </a:bodyPr>
          <a:lstStyle/>
          <a:p>
            <a:pPr marL="355726" marR="0" lvl="0" indent="-355726" algn="ctr" defTabSz="912116" rtl="0" eaLnBrk="1" fontAlgn="auto" latinLnBrk="0" hangingPunct="1">
              <a:lnSpc>
                <a:spcPct val="85000"/>
              </a:lnSpc>
              <a:spcBef>
                <a:spcPts val="0"/>
              </a:spcBef>
              <a:spcAft>
                <a:spcPts val="600"/>
              </a:spcAft>
              <a:buClr>
                <a:srgbClr val="27ACAA"/>
              </a:buClr>
              <a:buSzPct val="70000"/>
              <a:buFont typeface="Wingdings" panose="05000000000000000000" pitchFamily="2" charset="2"/>
              <a:buChar char="v"/>
              <a:tabLst/>
              <a:defRPr/>
            </a:pP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LP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Last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CP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Current Period</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LS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LP</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CS –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Score for CP        </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Conf –</a:t>
            </a:r>
            <a:r>
              <a:rPr kumimoji="0" lang="en-GB" sz="800" b="0" i="1" u="none" strike="noStrike" kern="1200" cap="none" spc="0" normalizeH="0" baseline="0" noProof="0">
                <a:ln>
                  <a:noFill/>
                </a:ln>
                <a:solidFill>
                  <a:schemeClr val="tx1">
                    <a:lumMod val="65000"/>
                    <a:lumOff val="35000"/>
                  </a:schemeClr>
                </a:solidFill>
                <a:effectLst/>
                <a:uLnTx/>
                <a:uFillTx/>
                <a:latin typeface="EYInterstate Light"/>
                <a:ea typeface="+mn-ea"/>
                <a:cs typeface="+mn-cs"/>
              </a:rPr>
              <a:t> Confidence Level</a:t>
            </a:r>
            <a:r>
              <a:rPr kumimoji="0" lang="en-GB" sz="800" b="0" i="0" u="none" strike="noStrike" kern="1200" cap="none" spc="0" normalizeH="0" baseline="0" noProof="0">
                <a:ln>
                  <a:noFill/>
                </a:ln>
                <a:solidFill>
                  <a:schemeClr val="tx1">
                    <a:lumMod val="65000"/>
                    <a:lumOff val="35000"/>
                  </a:schemeClr>
                </a:solidFill>
                <a:effectLst/>
                <a:uLnTx/>
                <a:uFillTx/>
                <a:latin typeface="EYInterstate Light"/>
                <a:ea typeface="+mn-ea"/>
                <a:cs typeface="+mn-cs"/>
              </a:rPr>
              <a:t>   </a:t>
            </a:r>
          </a:p>
        </p:txBody>
      </p:sp>
      <p:graphicFrame>
        <p:nvGraphicFramePr>
          <p:cNvPr id="13" name="Table 12">
            <a:extLst>
              <a:ext uri="{FF2B5EF4-FFF2-40B4-BE49-F238E27FC236}">
                <a16:creationId xmlns:a16="http://schemas.microsoft.com/office/drawing/2014/main" id="{9ABD793B-C56A-E09D-AD80-9E1ECC40A8D0}"/>
              </a:ext>
            </a:extLst>
          </p:cNvPr>
          <p:cNvGraphicFramePr>
            <a:graphicFrameLocks noGrp="1"/>
          </p:cNvGraphicFramePr>
          <p:nvPr>
            <p:extLst>
              <p:ext uri="{D42A27DB-BD31-4B8C-83A1-F6EECF244321}">
                <p14:modId xmlns:p14="http://schemas.microsoft.com/office/powerpoint/2010/main" val="1453170561"/>
              </p:ext>
            </p:extLst>
          </p:nvPr>
        </p:nvGraphicFramePr>
        <p:xfrm>
          <a:off x="5531796" y="566007"/>
          <a:ext cx="6423397" cy="365760"/>
        </p:xfrm>
        <a:graphic>
          <a:graphicData uri="http://schemas.openxmlformats.org/drawingml/2006/table">
            <a:tbl>
              <a:tblPr firstRow="1" bandRow="1">
                <a:tableStyleId>{5C22544A-7EE6-4342-B048-85BDC9FD1C3A}</a:tableStyleId>
              </a:tblPr>
              <a:tblGrid>
                <a:gridCol w="508964">
                  <a:extLst>
                    <a:ext uri="{9D8B030D-6E8A-4147-A177-3AD203B41FA5}">
                      <a16:colId xmlns:a16="http://schemas.microsoft.com/office/drawing/2014/main" val="673553765"/>
                    </a:ext>
                  </a:extLst>
                </a:gridCol>
                <a:gridCol w="508964">
                  <a:extLst>
                    <a:ext uri="{9D8B030D-6E8A-4147-A177-3AD203B41FA5}">
                      <a16:colId xmlns:a16="http://schemas.microsoft.com/office/drawing/2014/main" val="4211759447"/>
                    </a:ext>
                  </a:extLst>
                </a:gridCol>
                <a:gridCol w="508964">
                  <a:extLst>
                    <a:ext uri="{9D8B030D-6E8A-4147-A177-3AD203B41FA5}">
                      <a16:colId xmlns:a16="http://schemas.microsoft.com/office/drawing/2014/main" val="703617760"/>
                    </a:ext>
                  </a:extLst>
                </a:gridCol>
                <a:gridCol w="508964">
                  <a:extLst>
                    <a:ext uri="{9D8B030D-6E8A-4147-A177-3AD203B41FA5}">
                      <a16:colId xmlns:a16="http://schemas.microsoft.com/office/drawing/2014/main" val="3424114508"/>
                    </a:ext>
                  </a:extLst>
                </a:gridCol>
                <a:gridCol w="516181">
                  <a:extLst>
                    <a:ext uri="{9D8B030D-6E8A-4147-A177-3AD203B41FA5}">
                      <a16:colId xmlns:a16="http://schemas.microsoft.com/office/drawing/2014/main" val="3100067570"/>
                    </a:ext>
                  </a:extLst>
                </a:gridCol>
                <a:gridCol w="516181">
                  <a:extLst>
                    <a:ext uri="{9D8B030D-6E8A-4147-A177-3AD203B41FA5}">
                      <a16:colId xmlns:a16="http://schemas.microsoft.com/office/drawing/2014/main" val="3430054372"/>
                    </a:ext>
                  </a:extLst>
                </a:gridCol>
                <a:gridCol w="641064">
                  <a:extLst>
                    <a:ext uri="{9D8B030D-6E8A-4147-A177-3AD203B41FA5}">
                      <a16:colId xmlns:a16="http://schemas.microsoft.com/office/drawing/2014/main" val="2599263965"/>
                    </a:ext>
                  </a:extLst>
                </a:gridCol>
                <a:gridCol w="641064">
                  <a:extLst>
                    <a:ext uri="{9D8B030D-6E8A-4147-A177-3AD203B41FA5}">
                      <a16:colId xmlns:a16="http://schemas.microsoft.com/office/drawing/2014/main" val="681041266"/>
                    </a:ext>
                  </a:extLst>
                </a:gridCol>
                <a:gridCol w="790924">
                  <a:extLst>
                    <a:ext uri="{9D8B030D-6E8A-4147-A177-3AD203B41FA5}">
                      <a16:colId xmlns:a16="http://schemas.microsoft.com/office/drawing/2014/main" val="3887832098"/>
                    </a:ext>
                  </a:extLst>
                </a:gridCol>
                <a:gridCol w="649389">
                  <a:extLst>
                    <a:ext uri="{9D8B030D-6E8A-4147-A177-3AD203B41FA5}">
                      <a16:colId xmlns:a16="http://schemas.microsoft.com/office/drawing/2014/main" val="4211782468"/>
                    </a:ext>
                  </a:extLst>
                </a:gridCol>
                <a:gridCol w="632738">
                  <a:extLst>
                    <a:ext uri="{9D8B030D-6E8A-4147-A177-3AD203B41FA5}">
                      <a16:colId xmlns:a16="http://schemas.microsoft.com/office/drawing/2014/main" val="4245725824"/>
                    </a:ext>
                  </a:extLst>
                </a:gridCol>
              </a:tblGrid>
              <a:tr h="297450">
                <a:tc>
                  <a:txBody>
                    <a:bodyPr/>
                    <a:lstStyle/>
                    <a:p>
                      <a:pPr lvl="0" algn="ctr">
                        <a:buNone/>
                      </a:pPr>
                      <a:endParaRPr lang="en-GB" sz="900">
                        <a:latin typeface="Aptos"/>
                      </a:endParaRPr>
                    </a:p>
                  </a:txBody>
                  <a:tcPr anchor="ctr">
                    <a:solidFill>
                      <a:srgbClr val="92D050"/>
                    </a:solidFill>
                  </a:tcPr>
                </a:tc>
                <a:tc>
                  <a:txBody>
                    <a:bodyPr/>
                    <a:lstStyle/>
                    <a:p>
                      <a:pPr algn="ctr"/>
                      <a:r>
                        <a:rPr lang="en-GB" sz="900" b="1" kern="1200">
                          <a:solidFill>
                            <a:schemeClr val="lt1"/>
                          </a:solidFill>
                          <a:latin typeface="Aptos"/>
                          <a:ea typeface="+mn-ea"/>
                          <a:cs typeface="+mn-cs"/>
                        </a:rPr>
                        <a:t>Time</a:t>
                      </a:r>
                      <a:r>
                        <a:rPr lang="en-GB" sz="900">
                          <a:latin typeface="Aptos"/>
                        </a:rPr>
                        <a: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Cost </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a:latin typeface="Aptos" panose="020B0004020202020204" pitchFamily="34" charset="0"/>
                        </a:rPr>
                        <a:t>Personnel</a:t>
                      </a:r>
                    </a:p>
                  </a:txBody>
                  <a:tcPr anchor="ctr">
                    <a:solidFill>
                      <a:srgbClr val="92D050"/>
                    </a:solidFill>
                  </a:tcPr>
                </a:tc>
                <a:tc>
                  <a:txBody>
                    <a:bodyPr/>
                    <a:lstStyle/>
                    <a:p>
                      <a:pPr lvl="0" algn="ctr">
                        <a:buNone/>
                      </a:pPr>
                      <a:endParaRPr lang="en-GB" sz="900">
                        <a:latin typeface="Aptos"/>
                      </a:endParaRPr>
                    </a:p>
                  </a:txBody>
                  <a:tcPr anchor="ctr">
                    <a:solidFill>
                      <a:srgbClr val="92D050"/>
                    </a:solidFill>
                  </a:tcPr>
                </a:tc>
                <a:tc>
                  <a:txBody>
                    <a:bodyPr/>
                    <a:lstStyle/>
                    <a:p>
                      <a:pPr algn="ctr"/>
                      <a:r>
                        <a:rPr lang="en-GB" sz="900" b="1">
                          <a:latin typeface="Aptos" panose="020B0004020202020204" pitchFamily="34" charset="0"/>
                        </a:rPr>
                        <a:t>Dependencies</a:t>
                      </a:r>
                      <a:r>
                        <a:rPr lang="en-GB" sz="900">
                          <a:latin typeface="Aptos" panose="020B0004020202020204" pitchFamily="34" charset="0"/>
                        </a:rPr>
                        <a:t> </a:t>
                      </a:r>
                    </a:p>
                  </a:txBody>
                  <a:tcPr anchor="ctr">
                    <a:solidFill>
                      <a:srgbClr val="92D050"/>
                    </a:solidFill>
                  </a:tcPr>
                </a:tc>
                <a:tc>
                  <a:txBody>
                    <a:bodyPr/>
                    <a:lstStyle/>
                    <a:p>
                      <a:pPr algn="ctr"/>
                      <a:r>
                        <a:rPr lang="en-GB" sz="900">
                          <a:latin typeface="Aptos" panose="020B0004020202020204" pitchFamily="34" charset="0"/>
                        </a:rPr>
                        <a:t>Benefits </a:t>
                      </a:r>
                    </a:p>
                  </a:txBody>
                  <a:tcPr anchor="ctr">
                    <a:solidFill>
                      <a:srgbClr val="92D050"/>
                    </a:solidFill>
                  </a:tcPr>
                </a:tc>
                <a:tc>
                  <a:txBody>
                    <a:bodyPr/>
                    <a:lstStyle/>
                    <a:p>
                      <a:pPr algn="ctr"/>
                      <a:r>
                        <a:rPr lang="en-GB" sz="900">
                          <a:latin typeface="Aptos" panose="020B0004020202020204" pitchFamily="34" charset="0"/>
                        </a:rPr>
                        <a:t>Overall </a:t>
                      </a:r>
                    </a:p>
                  </a:txBody>
                  <a:tcPr anchor="ctr">
                    <a:solidFill>
                      <a:srgbClr val="92D050"/>
                    </a:solidFill>
                  </a:tcPr>
                </a:tc>
                <a:extLst>
                  <a:ext uri="{0D108BD9-81ED-4DB2-BD59-A6C34878D82A}">
                    <a16:rowId xmlns:a16="http://schemas.microsoft.com/office/drawing/2014/main" val="3210199629"/>
                  </a:ext>
                </a:extLst>
              </a:tr>
            </a:tbl>
          </a:graphicData>
        </a:graphic>
      </p:graphicFrame>
    </p:spTree>
    <p:extLst>
      <p:ext uri="{BB962C8B-B14F-4D97-AF65-F5344CB8AC3E}">
        <p14:creationId xmlns:p14="http://schemas.microsoft.com/office/powerpoint/2010/main" val="2654004772"/>
      </p:ext>
    </p:extLst>
  </p:cSld>
  <p:clrMapOvr>
    <a:masterClrMapping/>
  </p:clrMapOvr>
</p:sld>
</file>

<file path=ppt/theme/theme1.xml><?xml version="1.0" encoding="utf-8"?>
<a:theme xmlns:a="http://schemas.openxmlformats.org/drawingml/2006/main" name="5_EY dark background">
  <a:themeElements>
    <a:clrScheme name="EY Color">
      <a:dk1>
        <a:srgbClr val="2E2E38"/>
      </a:dk1>
      <a:lt1>
        <a:sysClr val="window" lastClr="FFFFFF"/>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2.xml><?xml version="1.0" encoding="utf-8"?>
<a:theme xmlns:a="http://schemas.openxmlformats.org/drawingml/2006/main" name="1_Office Theme">
  <a:themeElements>
    <a:clrScheme name="UKHSA">
      <a:dk1>
        <a:srgbClr val="000000"/>
      </a:dk1>
      <a:lt1>
        <a:srgbClr val="FFFFFF"/>
      </a:lt1>
      <a:dk2>
        <a:srgbClr val="007C91"/>
      </a:dk2>
      <a:lt2>
        <a:srgbClr val="003B5C"/>
      </a:lt2>
      <a:accent1>
        <a:srgbClr val="582C83"/>
      </a:accent1>
      <a:accent2>
        <a:srgbClr val="1D57A5"/>
      </a:accent2>
      <a:accent3>
        <a:srgbClr val="8A1B61"/>
      </a:accent3>
      <a:accent4>
        <a:srgbClr val="E40046"/>
      </a:accent4>
      <a:accent5>
        <a:srgbClr val="00AB8E"/>
      </a:accent5>
      <a:accent6>
        <a:srgbClr val="00A5DF"/>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8B24A47E-C008-43B7-846C-CE0BAB87878D}" vid="{3B2EAB09-8CE1-4A69-8CCD-8F3642A2FCB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50B279DB7AD643ABE425C9837A419E" ma:contentTypeVersion="8" ma:contentTypeDescription="Create a new document." ma:contentTypeScope="" ma:versionID="62a141833bedb01137be0d08ff8b7ee4">
  <xsd:schema xmlns:xsd="http://www.w3.org/2001/XMLSchema" xmlns:xs="http://www.w3.org/2001/XMLSchema" xmlns:p="http://schemas.microsoft.com/office/2006/metadata/properties" xmlns:ns2="50a3fb4f-5ee4-4148-99a0-86a79dff9734" targetNamespace="http://schemas.microsoft.com/office/2006/metadata/properties" ma:root="true" ma:fieldsID="65bfb97e3df32842fcb39e71f38995a0" ns2:_="">
    <xsd:import namespace="50a3fb4f-5ee4-4148-99a0-86a79dff973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a3fb4f-5ee4-4148-99a0-86a79dff97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6F47C6-38A6-44E6-9FF4-A23206972ACC}">
  <ds:schemaRefs>
    <ds:schemaRef ds:uri="http://purl.org/dc/terms/"/>
    <ds:schemaRef ds:uri="50a3fb4f-5ee4-4148-99a0-86a79dff9734"/>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141F393-4812-4E1C-8B5A-9D21DB30F4FA}">
  <ds:schemaRefs>
    <ds:schemaRef ds:uri="50a3fb4f-5ee4-4148-99a0-86a79dff973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F951B9B-305A-4A1C-9979-B37FC1D34145}">
  <ds:schemaRefs>
    <ds:schemaRef ds:uri="http://schemas.microsoft.com/sharepoint/v3/contenttype/forms"/>
  </ds:schemaRefs>
</ds:datastoreItem>
</file>

<file path=docMetadata/LabelInfo.xml><?xml version="1.0" encoding="utf-8"?>
<clbl:labelList xmlns:clbl="http://schemas.microsoft.com/office/2020/mipLabelMetadata">
  <clbl:label id="{9fa4f726-4652-4aae-81d8-4cfaa37af3a5}" enabled="1" method="Standard" siteId="{dfccdfff-08b5-4745-b095-0638244805d9}" removed="0"/>
</clbl:labelList>
</file>

<file path=docProps/app.xml><?xml version="1.0" encoding="utf-8"?>
<Properties xmlns="http://schemas.openxmlformats.org/officeDocument/2006/extended-properties" xmlns:vt="http://schemas.openxmlformats.org/officeDocument/2006/docPropsVTypes">
  <TotalTime>955</TotalTime>
  <Words>5560</Words>
  <Application>Microsoft Office PowerPoint</Application>
  <PresentationFormat>Widescreen</PresentationFormat>
  <Paragraphs>699</Paragraphs>
  <Slides>9</Slides>
  <Notes>7</Notes>
  <HiddenSlides>0</HiddenSlides>
  <MMClips>0</MMClips>
  <ScaleCrop>false</ScaleCrop>
  <HeadingPairs>
    <vt:vector size="4" baseType="variant">
      <vt:variant>
        <vt:lpstr>Theme</vt:lpstr>
      </vt:variant>
      <vt:variant>
        <vt:i4>2</vt:i4>
      </vt:variant>
      <vt:variant>
        <vt:lpstr>Slide Titles</vt:lpstr>
      </vt:variant>
      <vt:variant>
        <vt:i4>9</vt:i4>
      </vt:variant>
    </vt:vector>
  </HeadingPairs>
  <TitlesOfParts>
    <vt:vector size="11" baseType="lpstr">
      <vt:lpstr>5_EY dark background</vt:lpstr>
      <vt:lpstr>1_Office Theme</vt:lpstr>
      <vt:lpstr>UKHSA-AIR-RIS- Use Case development  Weekly reports</vt:lpstr>
      <vt:lpstr>PowerPoint Presentation</vt:lpstr>
      <vt:lpstr>Previous reports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Day</dc:creator>
  <cp:lastModifiedBy>Atwal, Lali</cp:lastModifiedBy>
  <cp:revision>232</cp:revision>
  <dcterms:created xsi:type="dcterms:W3CDTF">2025-04-23T08:22:33Z</dcterms:created>
  <dcterms:modified xsi:type="dcterms:W3CDTF">2026-03-09T10:34:27Z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0x010100CF50B279DB7AD643ABE425C9837A419E</vt:lpwstr>
  </property>
  <property fmtid="{D5CDD505-2E9C-101B-9397-08002B2CF9AE}" pid="3" name="MediaServiceImageTags">
    <vt:lpwstr/>
  </property>
  <property fmtid="{D5CDD505-2E9C-101B-9397-08002B2CF9AE}" pid="4" name="ClassificationContentMarkingHeaderLocations">
    <vt:lpwstr>5_EY dark background:5\1_Office Theme:7</vt:lpwstr>
  </property>
  <property fmtid="{D5CDD505-2E9C-101B-9397-08002B2CF9AE}" pid="5" name="ClassificationContentMarkingHeaderText">
    <vt:lpwstr>OFFICIAL</vt:lpwstr>
  </property>
</Properties>
</file>